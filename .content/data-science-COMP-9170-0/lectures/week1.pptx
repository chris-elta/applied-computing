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65"/>
  </p:notesMasterIdLst>
  <p:sldIdLst>
    <p:sldId id="256" r:id="rId2"/>
    <p:sldId id="257" r:id="rId3"/>
    <p:sldId id="314" r:id="rId4"/>
    <p:sldId id="261" r:id="rId5"/>
    <p:sldId id="262" r:id="rId6"/>
    <p:sldId id="263" r:id="rId7"/>
    <p:sldId id="264" r:id="rId8"/>
    <p:sldId id="265" r:id="rId9"/>
    <p:sldId id="267" r:id="rId10"/>
    <p:sldId id="268" r:id="rId11"/>
    <p:sldId id="334" r:id="rId12"/>
    <p:sldId id="269" r:id="rId13"/>
    <p:sldId id="270" r:id="rId14"/>
    <p:sldId id="294" r:id="rId15"/>
    <p:sldId id="296" r:id="rId16"/>
    <p:sldId id="333" r:id="rId17"/>
    <p:sldId id="302" r:id="rId18"/>
    <p:sldId id="292" r:id="rId19"/>
    <p:sldId id="303" r:id="rId20"/>
    <p:sldId id="273" r:id="rId21"/>
    <p:sldId id="274" r:id="rId22"/>
    <p:sldId id="275" r:id="rId23"/>
    <p:sldId id="276" r:id="rId24"/>
    <p:sldId id="277" r:id="rId25"/>
    <p:sldId id="278" r:id="rId26"/>
    <p:sldId id="279" r:id="rId27"/>
    <p:sldId id="280" r:id="rId28"/>
    <p:sldId id="283" r:id="rId29"/>
    <p:sldId id="284" r:id="rId30"/>
    <p:sldId id="285" r:id="rId31"/>
    <p:sldId id="286" r:id="rId32"/>
    <p:sldId id="287" r:id="rId33"/>
    <p:sldId id="307" r:id="rId34"/>
    <p:sldId id="308" r:id="rId35"/>
    <p:sldId id="309" r:id="rId36"/>
    <p:sldId id="310" r:id="rId37"/>
    <p:sldId id="312" r:id="rId38"/>
    <p:sldId id="313" r:id="rId39"/>
    <p:sldId id="260" r:id="rId40"/>
    <p:sldId id="289" r:id="rId41"/>
    <p:sldId id="290" r:id="rId42"/>
    <p:sldId id="291" r:id="rId43"/>
    <p:sldId id="316" r:id="rId44"/>
    <p:sldId id="317" r:id="rId45"/>
    <p:sldId id="318" r:id="rId46"/>
    <p:sldId id="319" r:id="rId47"/>
    <p:sldId id="320" r:id="rId48"/>
    <p:sldId id="266" r:id="rId49"/>
    <p:sldId id="321" r:id="rId50"/>
    <p:sldId id="322" r:id="rId51"/>
    <p:sldId id="323" r:id="rId52"/>
    <p:sldId id="324" r:id="rId53"/>
    <p:sldId id="271" r:id="rId54"/>
    <p:sldId id="272" r:id="rId55"/>
    <p:sldId id="325" r:id="rId56"/>
    <p:sldId id="326" r:id="rId57"/>
    <p:sldId id="327" r:id="rId58"/>
    <p:sldId id="328" r:id="rId59"/>
    <p:sldId id="329" r:id="rId60"/>
    <p:sldId id="330" r:id="rId61"/>
    <p:sldId id="331" r:id="rId62"/>
    <p:sldId id="332" r:id="rId63"/>
    <p:sldId id="315" r:id="rId6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C6E392-A7A0-4D0E-A170-76B8205674B4}" v="11" dt="2026-09-10T17:11:02.3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69153" autoAdjust="0"/>
  </p:normalViewPr>
  <p:slideViewPr>
    <p:cSldViewPr snapToGrid="0">
      <p:cViewPr>
        <p:scale>
          <a:sx n="65" d="100"/>
          <a:sy n="65" d="100"/>
        </p:scale>
        <p:origin x="716"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83F6FC-951F-446D-9C3E-BB918A43EEA3}" type="datetimeFigureOut">
              <a:rPr lang="en-CA" smtClean="0"/>
              <a:t>2026-09-09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081E2D-1D4E-4CCB-8724-FE18D73A5F31}" type="slidenum">
              <a:rPr lang="en-CA" smtClean="0"/>
              <a:t>‹#›</a:t>
            </a:fld>
            <a:endParaRPr lang="en-CA"/>
          </a:p>
        </p:txBody>
      </p:sp>
    </p:spTree>
    <p:extLst>
      <p:ext uri="{BB962C8B-B14F-4D97-AF65-F5344CB8AC3E}">
        <p14:creationId xmlns:p14="http://schemas.microsoft.com/office/powerpoint/2010/main" val="1172983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9852A2FD-E38B-4AF9-BB9A-93FCADAE90B4}" type="slidenum">
              <a:rPr lang="en-CA" smtClean="0"/>
              <a:t>2</a:t>
            </a:fld>
            <a:endParaRPr lang="en-CA"/>
          </a:p>
        </p:txBody>
      </p:sp>
    </p:spTree>
    <p:extLst>
      <p:ext uri="{BB962C8B-B14F-4D97-AF65-F5344CB8AC3E}">
        <p14:creationId xmlns:p14="http://schemas.microsoft.com/office/powerpoint/2010/main" val="34969612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2462ae5c23_1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32462ae5c23_1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84844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At the intersection of</a:t>
            </a:r>
          </a:p>
        </p:txBody>
      </p:sp>
      <p:sp>
        <p:nvSpPr>
          <p:cNvPr id="4" name="Slide Number Placeholder 3"/>
          <p:cNvSpPr>
            <a:spLocks noGrp="1"/>
          </p:cNvSpPr>
          <p:nvPr>
            <p:ph type="sldNum" sz="quarter" idx="5"/>
          </p:nvPr>
        </p:nvSpPr>
        <p:spPr/>
        <p:txBody>
          <a:bodyPr/>
          <a:lstStyle/>
          <a:p>
            <a:fld id="{6C081E2D-1D4E-4CCB-8724-FE18D73A5F31}" type="slidenum">
              <a:rPr lang="en-CA" smtClean="0"/>
              <a:t>4</a:t>
            </a:fld>
            <a:endParaRPr lang="en-CA"/>
          </a:p>
        </p:txBody>
      </p:sp>
    </p:spTree>
    <p:extLst>
      <p:ext uri="{BB962C8B-B14F-4D97-AF65-F5344CB8AC3E}">
        <p14:creationId xmlns:p14="http://schemas.microsoft.com/office/powerpoint/2010/main" val="2526073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The buzzword is generative AI but 6-7 years ago it was data science</a:t>
            </a:r>
          </a:p>
          <a:p>
            <a:r>
              <a:rPr lang="en-CA" dirty="0"/>
              <a:t>Hedge fund managers use data analysis to analyze the movement of stocks data </a:t>
            </a:r>
          </a:p>
        </p:txBody>
      </p:sp>
      <p:sp>
        <p:nvSpPr>
          <p:cNvPr id="4" name="Slide Number Placeholder 3"/>
          <p:cNvSpPr>
            <a:spLocks noGrp="1"/>
          </p:cNvSpPr>
          <p:nvPr>
            <p:ph type="sldNum" sz="quarter" idx="5"/>
          </p:nvPr>
        </p:nvSpPr>
        <p:spPr/>
        <p:txBody>
          <a:bodyPr/>
          <a:lstStyle/>
          <a:p>
            <a:fld id="{6C081E2D-1D4E-4CCB-8724-FE18D73A5F31}" type="slidenum">
              <a:rPr lang="en-CA" smtClean="0"/>
              <a:t>5</a:t>
            </a:fld>
            <a:endParaRPr lang="en-CA"/>
          </a:p>
        </p:txBody>
      </p:sp>
    </p:spTree>
    <p:extLst>
      <p:ext uri="{BB962C8B-B14F-4D97-AF65-F5344CB8AC3E}">
        <p14:creationId xmlns:p14="http://schemas.microsoft.com/office/powerpoint/2010/main" val="31033834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i="1" dirty="0"/>
              <a:t>“This slide is reminding us that data is not something brand new in computing—it has been there since the beginning.”</a:t>
            </a:r>
            <a:endParaRPr lang="en-CA" dirty="0"/>
          </a:p>
          <a:p>
            <a:r>
              <a:rPr lang="en-CA" dirty="0"/>
              <a:t>: </a:t>
            </a:r>
            <a:r>
              <a:rPr lang="en-CA" i="1" dirty="0"/>
              <a:t>“Every computing system, from punch cards to cloud platforms, has always been about processing and storing data.”</a:t>
            </a:r>
            <a:endParaRPr lang="en-CA" dirty="0"/>
          </a:p>
          <a:p>
            <a:r>
              <a:rPr lang="en-CA" b="1" dirty="0"/>
              <a:t>x-axis (1900–2000s)</a:t>
            </a:r>
            <a:r>
              <a:rPr lang="en-CA" dirty="0"/>
              <a:t>: </a:t>
            </a:r>
            <a:r>
              <a:rPr lang="en-CA" i="1" dirty="0"/>
              <a:t>“This is the timeline. We’re looking at how different terms or fields have been used over the years.”</a:t>
            </a:r>
            <a:endParaRPr lang="en-CA" dirty="0"/>
          </a:p>
          <a:p>
            <a:r>
              <a:rPr lang="en-CA" b="1" dirty="0"/>
              <a:t>y-axis (percentages)</a:t>
            </a:r>
            <a:r>
              <a:rPr lang="en-CA" dirty="0"/>
              <a:t>: </a:t>
            </a:r>
            <a:r>
              <a:rPr lang="en-CA" i="1" dirty="0"/>
              <a:t>“This shows the frequency of these terms in published materials—basically, how often people talked about them.”</a:t>
            </a:r>
            <a:endParaRPr lang="en-CA" dirty="0"/>
          </a:p>
          <a:p>
            <a:r>
              <a:rPr lang="en-CA" b="1" dirty="0"/>
              <a:t>Blue (Data Processing)</a:t>
            </a:r>
            <a:r>
              <a:rPr lang="en-CA" dirty="0"/>
              <a:t>: </a:t>
            </a:r>
            <a:r>
              <a:rPr lang="en-CA" i="1" dirty="0"/>
              <a:t>“Before the term ‘Computer Science’ was popular, people used the term ‘Data Processing.’ This was common in the 1950s–70s, when businesses were automating payroll, inventory, and accounting.”</a:t>
            </a:r>
            <a:endParaRPr lang="en-CA" dirty="0"/>
          </a:p>
          <a:p>
            <a:r>
              <a:rPr lang="en-CA" b="1" dirty="0"/>
              <a:t>Red (Computer Science)</a:t>
            </a:r>
            <a:r>
              <a:rPr lang="en-CA" dirty="0"/>
              <a:t>: </a:t>
            </a:r>
            <a:r>
              <a:rPr lang="en-CA" i="1" dirty="0"/>
              <a:t>“As the field matured, around the 1970s and 80s, ‘Computer Science’ took off as the academic discipline.”</a:t>
            </a:r>
            <a:endParaRPr lang="en-CA" dirty="0"/>
          </a:p>
          <a:p>
            <a:r>
              <a:rPr lang="en-CA" b="1" dirty="0"/>
              <a:t>Green (Information Technology)</a:t>
            </a:r>
            <a:r>
              <a:rPr lang="en-CA" dirty="0"/>
              <a:t>: </a:t>
            </a:r>
            <a:r>
              <a:rPr lang="en-CA" i="1" dirty="0"/>
              <a:t>“In the 1980s and 90s, as computers spread into offices and organizations, the term ‘Information Technology’ became more common.”</a:t>
            </a:r>
            <a:endParaRPr lang="en-CA" dirty="0"/>
          </a:p>
          <a:p>
            <a:r>
              <a:rPr lang="en-CA" b="1" dirty="0"/>
              <a:t>Orange (Data Science)</a:t>
            </a:r>
            <a:r>
              <a:rPr lang="en-CA" dirty="0"/>
              <a:t>: </a:t>
            </a:r>
            <a:r>
              <a:rPr lang="en-CA" i="1" dirty="0"/>
              <a:t>“And more recently, in the 2000s, we see the rise of ‘Data Science’ as a distinct area—though the core idea, working with data, is not new.”</a:t>
            </a:r>
            <a:endParaRPr lang="en-CA" dirty="0"/>
          </a:p>
          <a:p>
            <a:r>
              <a:rPr lang="en-CA" i="1" dirty="0"/>
              <a:t>“So, when we say ‘Data Science,’ it sounds modern, but it’s really the continuation of a long tradition—data processing, IT, computer science—just with new tools and scale.”</a:t>
            </a:r>
            <a:endParaRPr lang="en-CA" dirty="0"/>
          </a:p>
          <a:p>
            <a:endParaRPr lang="en-CA" i="1" dirty="0"/>
          </a:p>
          <a:p>
            <a:r>
              <a:rPr lang="en-CA" i="1" dirty="0"/>
              <a:t>“Why do you think ‘Data Processing’ declined while ‘Data Science’ rose?”</a:t>
            </a:r>
            <a:endParaRPr lang="en-CA" dirty="0"/>
          </a:p>
          <a:p>
            <a:r>
              <a:rPr lang="en-CA" i="1" dirty="0"/>
              <a:t>“Can you think of examples of ‘data processing’ today that haven’t changed much since the 1960s?”</a:t>
            </a:r>
            <a:r>
              <a:rPr lang="en-CA" dirty="0"/>
              <a:t> (e.g., payroll systems, banking transactions).</a:t>
            </a:r>
          </a:p>
          <a:p>
            <a:r>
              <a:rPr lang="en-CA" i="1" dirty="0"/>
              <a:t>“What’s the difference between IT and Data Science?”</a:t>
            </a:r>
            <a:endParaRPr lang="en-CA" dirty="0"/>
          </a:p>
          <a:p>
            <a:endParaRPr lang="en-CA" dirty="0"/>
          </a:p>
          <a:p>
            <a:r>
              <a:rPr lang="en-CA" b="1" dirty="0"/>
              <a:t>Q1: Why do you think “Data Processing” declined while “Data Science” rose?</a:t>
            </a:r>
          </a:p>
          <a:p>
            <a:r>
              <a:rPr lang="en-CA" b="1" dirty="0"/>
              <a:t>Answer:</a:t>
            </a:r>
            <a:endParaRPr lang="en-CA" dirty="0"/>
          </a:p>
          <a:p>
            <a:pPr lvl="1"/>
            <a:r>
              <a:rPr lang="en-CA" dirty="0"/>
              <a:t>The term </a:t>
            </a:r>
            <a:r>
              <a:rPr lang="en-CA" i="1" dirty="0"/>
              <a:t>data processing</a:t>
            </a:r>
            <a:r>
              <a:rPr lang="en-CA" dirty="0"/>
              <a:t> was mainly about routine, structured tasks (e.g., payroll, billing, census data).</a:t>
            </a:r>
          </a:p>
          <a:p>
            <a:pPr lvl="1"/>
            <a:r>
              <a:rPr lang="en-CA" dirty="0"/>
              <a:t>Over time, computers became more powerful and businesses demanded more than just processing—they wanted insights, predictions, and decisions.</a:t>
            </a:r>
          </a:p>
          <a:p>
            <a:pPr lvl="1"/>
            <a:r>
              <a:rPr lang="en-CA" dirty="0"/>
              <a:t>That shift from </a:t>
            </a:r>
            <a:r>
              <a:rPr lang="en-CA" i="1" dirty="0"/>
              <a:t>processing data</a:t>
            </a:r>
            <a:r>
              <a:rPr lang="en-CA" dirty="0"/>
              <a:t> → </a:t>
            </a:r>
            <a:r>
              <a:rPr lang="en-CA" i="1" dirty="0"/>
              <a:t>analyzing and learning from data</a:t>
            </a:r>
            <a:r>
              <a:rPr lang="en-CA" dirty="0"/>
              <a:t> led to the rise of </a:t>
            </a:r>
            <a:r>
              <a:rPr lang="en-CA" i="1" dirty="0"/>
              <a:t>Data Science</a:t>
            </a:r>
            <a:r>
              <a:rPr lang="en-CA" dirty="0"/>
              <a:t>.</a:t>
            </a:r>
          </a:p>
          <a:p>
            <a:pPr lvl="1"/>
            <a:r>
              <a:rPr lang="en-CA" dirty="0"/>
              <a:t>So the decline isn’t because data stopped being important, but because the scope expanded.</a:t>
            </a:r>
          </a:p>
          <a:p>
            <a:r>
              <a:rPr lang="en-CA" b="1" dirty="0"/>
              <a:t>Q2: Can you think of examples of “data processing” today that haven’t changed much since the 1960s?</a:t>
            </a:r>
          </a:p>
          <a:p>
            <a:r>
              <a:rPr lang="en-CA" b="1" dirty="0"/>
              <a:t>Answer:</a:t>
            </a:r>
            <a:endParaRPr lang="en-CA" dirty="0"/>
          </a:p>
          <a:p>
            <a:pPr lvl="1"/>
            <a:r>
              <a:rPr lang="en-CA" b="1" dirty="0"/>
              <a:t>Payroll systems</a:t>
            </a:r>
            <a:r>
              <a:rPr lang="en-CA" dirty="0"/>
              <a:t> – calculating salaries, deductions, and taxes every month.</a:t>
            </a:r>
          </a:p>
          <a:p>
            <a:pPr lvl="1"/>
            <a:r>
              <a:rPr lang="en-CA" b="1" dirty="0"/>
              <a:t>Banking transactions</a:t>
            </a:r>
            <a:r>
              <a:rPr lang="en-CA" dirty="0"/>
              <a:t> – debit/credit updates, balance checks, and account statements.</a:t>
            </a:r>
          </a:p>
          <a:p>
            <a:pPr lvl="1"/>
            <a:r>
              <a:rPr lang="en-CA" b="1" dirty="0"/>
              <a:t>Inventory management</a:t>
            </a:r>
            <a:r>
              <a:rPr lang="en-CA" dirty="0"/>
              <a:t> – tracking stock levels in warehouses.</a:t>
            </a:r>
          </a:p>
          <a:p>
            <a:pPr lvl="1"/>
            <a:r>
              <a:rPr lang="en-CA" dirty="0"/>
              <a:t>These systems have modern technology now, but the underlying idea—input, process, output—remains the same.</a:t>
            </a:r>
          </a:p>
          <a:p>
            <a:r>
              <a:rPr lang="en-CA" b="1" dirty="0"/>
              <a:t>Q3: What’s the difference between IT and Data Science?</a:t>
            </a:r>
          </a:p>
          <a:p>
            <a:r>
              <a:rPr lang="en-CA" b="1" dirty="0"/>
              <a:t>Answer:</a:t>
            </a:r>
            <a:endParaRPr lang="en-CA" dirty="0"/>
          </a:p>
          <a:p>
            <a:pPr lvl="1"/>
            <a:r>
              <a:rPr lang="en-CA" b="1" dirty="0"/>
              <a:t>IT (Information Technology):</a:t>
            </a:r>
            <a:r>
              <a:rPr lang="en-CA" dirty="0"/>
              <a:t> Focuses on managing and maintaining computing infrastructure—networks, databases, servers, security, software deployment. It’s about making sure systems </a:t>
            </a:r>
            <a:r>
              <a:rPr lang="en-CA" i="1" dirty="0"/>
              <a:t>work</a:t>
            </a:r>
            <a:r>
              <a:rPr lang="en-CA" dirty="0"/>
              <a:t> reliably.</a:t>
            </a:r>
          </a:p>
          <a:p>
            <a:pPr lvl="1"/>
            <a:r>
              <a:rPr lang="en-CA" b="1" dirty="0"/>
              <a:t>Data Science:</a:t>
            </a:r>
            <a:r>
              <a:rPr lang="en-CA" dirty="0"/>
              <a:t> Focuses on extracting </a:t>
            </a:r>
            <a:r>
              <a:rPr lang="en-CA" i="1" dirty="0"/>
              <a:t>knowledge and insights</a:t>
            </a:r>
            <a:r>
              <a:rPr lang="en-CA" dirty="0"/>
              <a:t> from data. This includes statistics, machine learning, predictive modeling, and visualization.</a:t>
            </a:r>
          </a:p>
          <a:p>
            <a:pPr lvl="1"/>
            <a:r>
              <a:rPr lang="en-CA" dirty="0"/>
              <a:t>In short:</a:t>
            </a:r>
          </a:p>
          <a:p>
            <a:pPr lvl="2"/>
            <a:r>
              <a:rPr lang="en-CA" dirty="0"/>
              <a:t>IT = </a:t>
            </a:r>
            <a:r>
              <a:rPr lang="en-CA" i="1" dirty="0"/>
              <a:t>keeping the data and systems running.</a:t>
            </a:r>
            <a:endParaRPr lang="en-CA" dirty="0"/>
          </a:p>
          <a:p>
            <a:pPr lvl="2"/>
            <a:r>
              <a:rPr lang="en-CA" dirty="0"/>
              <a:t>Data Science = </a:t>
            </a:r>
            <a:r>
              <a:rPr lang="en-CA" i="1" dirty="0"/>
              <a:t>using the data to answer questions and make predictions.</a:t>
            </a:r>
            <a:endParaRPr lang="en-CA" dirty="0"/>
          </a:p>
          <a:p>
            <a:endParaRPr lang="en-CA" dirty="0"/>
          </a:p>
        </p:txBody>
      </p:sp>
      <p:sp>
        <p:nvSpPr>
          <p:cNvPr id="4" name="Slide Number Placeholder 3"/>
          <p:cNvSpPr>
            <a:spLocks noGrp="1"/>
          </p:cNvSpPr>
          <p:nvPr>
            <p:ph type="sldNum" sz="quarter" idx="5"/>
          </p:nvPr>
        </p:nvSpPr>
        <p:spPr/>
        <p:txBody>
          <a:bodyPr/>
          <a:lstStyle/>
          <a:p>
            <a:fld id="{6C081E2D-1D4E-4CCB-8724-FE18D73A5F31}" type="slidenum">
              <a:rPr lang="en-CA" smtClean="0"/>
              <a:t>6</a:t>
            </a:fld>
            <a:endParaRPr lang="en-CA"/>
          </a:p>
        </p:txBody>
      </p:sp>
    </p:spTree>
    <p:extLst>
      <p:ext uri="{BB962C8B-B14F-4D97-AF65-F5344CB8AC3E}">
        <p14:creationId xmlns:p14="http://schemas.microsoft.com/office/powerpoint/2010/main" val="1849116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2462ae5c23_0_3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32462ae5c23_0_3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392156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2462ae5c23_0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32462ae5c23_0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1436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6C081E2D-1D4E-4CCB-8724-FE18D73A5F31}" type="slidenum">
              <a:rPr lang="en-CA" smtClean="0"/>
              <a:t>16</a:t>
            </a:fld>
            <a:endParaRPr lang="en-CA"/>
          </a:p>
        </p:txBody>
      </p:sp>
    </p:spTree>
    <p:extLst>
      <p:ext uri="{BB962C8B-B14F-4D97-AF65-F5344CB8AC3E}">
        <p14:creationId xmlns:p14="http://schemas.microsoft.com/office/powerpoint/2010/main" val="3225791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32462ae5c23_0_4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g32462ae5c23_0_4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55875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2462ae5c23_0_2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32462ae5c23_0_2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75353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32462ae5c23_0_4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32462ae5c23_0_4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15007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2462ae5c23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2462ae5c23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2462ae5c23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2462ae5c23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2462ae5c2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2462ae5c2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2462ae5c23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2462ae5c23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2462ae5c23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2462ae5c23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1. Machine-learning challenges</a:t>
            </a:r>
          </a:p>
          <a:p>
            <a:r>
              <a:rPr lang="en-CA" b="1" dirty="0"/>
              <a:t>Generalization</a:t>
            </a:r>
            <a:r>
              <a:rPr lang="en-CA" dirty="0"/>
              <a:t>: Model trained on benchmark prompts might not perform well on real-world, diverse user prompts.</a:t>
            </a:r>
          </a:p>
          <a:p>
            <a:r>
              <a:rPr lang="en-CA" b="1" dirty="0"/>
              <a:t>Evaluation</a:t>
            </a:r>
            <a:r>
              <a:rPr lang="en-CA" dirty="0"/>
              <a:t>: Hard to measure “good music” objectively; accuracy metrics may not reflect user satisfaction.</a:t>
            </a:r>
          </a:p>
          <a:p>
            <a:r>
              <a:rPr lang="en-CA" b="1" dirty="0"/>
              <a:t>Bias in training data</a:t>
            </a:r>
            <a:r>
              <a:rPr lang="en-CA" dirty="0"/>
              <a:t>: Over-representation of some genres or cultures could make outputs feel repetitive or unfair.</a:t>
            </a:r>
          </a:p>
          <a:p>
            <a:r>
              <a:rPr lang="en-CA" b="1" dirty="0"/>
              <a:t>Scalability</a:t>
            </a:r>
            <a:r>
              <a:rPr lang="en-CA" dirty="0"/>
              <a:t>: Handling longer music pieces (minutes vs. 10–30 seconds) without losing coherence.</a:t>
            </a:r>
          </a:p>
          <a:p>
            <a:r>
              <a:rPr lang="en-CA" b="1" dirty="0"/>
              <a:t>2. Engineering challenges in building the product</a:t>
            </a:r>
          </a:p>
          <a:p>
            <a:r>
              <a:rPr lang="en-CA" b="1" dirty="0"/>
              <a:t>Latency</a:t>
            </a:r>
            <a:r>
              <a:rPr lang="en-CA" dirty="0"/>
              <a:t>: Users expect near real-time generation; slow models will frustrate them.</a:t>
            </a:r>
          </a:p>
          <a:p>
            <a:r>
              <a:rPr lang="en-CA" b="1" dirty="0"/>
              <a:t>Infrastructure cost</a:t>
            </a:r>
            <a:r>
              <a:rPr lang="en-CA" dirty="0"/>
              <a:t>: GPU/TPU costs are high, and scaling to thousands of users is expensive.</a:t>
            </a:r>
          </a:p>
          <a:p>
            <a:r>
              <a:rPr lang="en-CA" b="1" dirty="0"/>
              <a:t>Integration</a:t>
            </a:r>
            <a:r>
              <a:rPr lang="en-CA" dirty="0"/>
              <a:t>: Making ML models work smoothly with front-end apps (web, mobile).</a:t>
            </a:r>
          </a:p>
          <a:p>
            <a:r>
              <a:rPr lang="en-CA" b="1" dirty="0"/>
              <a:t>Reliability</a:t>
            </a:r>
            <a:r>
              <a:rPr lang="en-CA" dirty="0"/>
              <a:t>: Avoiding crashes or silent failures during generation.</a:t>
            </a:r>
          </a:p>
          <a:p>
            <a:r>
              <a:rPr lang="en-CA" b="1" dirty="0"/>
              <a:t>3. Challenges from operating and updating the product</a:t>
            </a:r>
          </a:p>
          <a:p>
            <a:r>
              <a:rPr lang="en-CA" b="1" dirty="0"/>
              <a:t>Continuous updates</a:t>
            </a:r>
            <a:r>
              <a:rPr lang="en-CA" dirty="0"/>
              <a:t>: New model versions may break compatibility or lower quality unexpectedly.</a:t>
            </a:r>
          </a:p>
          <a:p>
            <a:r>
              <a:rPr lang="en-CA" b="1" dirty="0"/>
              <a:t>Monitoring</a:t>
            </a:r>
            <a:r>
              <a:rPr lang="en-CA" dirty="0"/>
              <a:t>: Detecting when generation quality drops in production.</a:t>
            </a:r>
          </a:p>
          <a:p>
            <a:r>
              <a:rPr lang="en-CA" b="1" dirty="0"/>
              <a:t>User feedback loop</a:t>
            </a:r>
            <a:r>
              <a:rPr lang="en-CA" dirty="0"/>
              <a:t>: Collecting enough useful feedback without overwhelming users.</a:t>
            </a:r>
          </a:p>
          <a:p>
            <a:r>
              <a:rPr lang="en-CA" b="1" dirty="0"/>
              <a:t>High availability</a:t>
            </a:r>
            <a:r>
              <a:rPr lang="en-CA" dirty="0"/>
              <a:t>: System must stay online 24/7; downtime means lost users.</a:t>
            </a:r>
          </a:p>
          <a:p>
            <a:r>
              <a:rPr lang="en-CA" b="1" dirty="0"/>
              <a:t>4. Team or management challenges</a:t>
            </a:r>
          </a:p>
          <a:p>
            <a:r>
              <a:rPr lang="en-CA" b="1" dirty="0"/>
              <a:t>Interdisciplinary collaboration</a:t>
            </a:r>
            <a:r>
              <a:rPr lang="en-CA" dirty="0"/>
              <a:t>: Need ML researchers, software engineers, product designers, and business people to work together.</a:t>
            </a:r>
          </a:p>
          <a:p>
            <a:r>
              <a:rPr lang="en-CA" b="1" dirty="0"/>
              <a:t>Prioritization</a:t>
            </a:r>
            <a:r>
              <a:rPr lang="en-CA" dirty="0"/>
              <a:t>: Balancing research improvements vs. customer-facing features.</a:t>
            </a:r>
          </a:p>
          <a:p>
            <a:r>
              <a:rPr lang="en-CA" b="1" dirty="0"/>
              <a:t>Scaling team</a:t>
            </a:r>
            <a:r>
              <a:rPr lang="en-CA" dirty="0"/>
              <a:t>: Growing from 3 people to 20+ requires new structures, roles, and leadership.</a:t>
            </a:r>
          </a:p>
          <a:p>
            <a:r>
              <a:rPr lang="en-CA" b="1" dirty="0"/>
              <a:t>Burnout risk</a:t>
            </a:r>
            <a:r>
              <a:rPr lang="en-CA" dirty="0"/>
              <a:t>: Startups often move fast; without good management, team morale can collapse.</a:t>
            </a:r>
          </a:p>
          <a:p>
            <a:r>
              <a:rPr lang="en-CA" b="1" dirty="0"/>
              <a:t>5. Business challenges</a:t>
            </a:r>
          </a:p>
          <a:p>
            <a:r>
              <a:rPr lang="en-CA" b="1" dirty="0"/>
              <a:t>Monetization</a:t>
            </a:r>
            <a:r>
              <a:rPr lang="en-CA" dirty="0"/>
              <a:t>: How do you make money—subscriptions, per-song pricing, licensing to artists?</a:t>
            </a:r>
          </a:p>
          <a:p>
            <a:r>
              <a:rPr lang="en-CA" b="1" dirty="0"/>
              <a:t>Competition</a:t>
            </a:r>
            <a:r>
              <a:rPr lang="en-CA" dirty="0"/>
              <a:t>: Products like Suno or OpenAI’s Jukebox are already in the market.</a:t>
            </a:r>
          </a:p>
          <a:p>
            <a:r>
              <a:rPr lang="en-CA" b="1" dirty="0"/>
              <a:t>Legal risks</a:t>
            </a:r>
            <a:r>
              <a:rPr lang="en-CA" dirty="0"/>
              <a:t>: Music copyrights and intellectual property concerns—generated outputs could resemble real songs.</a:t>
            </a:r>
          </a:p>
          <a:p>
            <a:r>
              <a:rPr lang="en-CA" b="1" dirty="0"/>
              <a:t>Market adoption</a:t>
            </a:r>
            <a:r>
              <a:rPr lang="en-CA" dirty="0"/>
              <a:t>: Convincing users to trust AI-generated music vs. human-created.</a:t>
            </a:r>
          </a:p>
          <a:p>
            <a:r>
              <a:rPr lang="en-CA" b="1" dirty="0"/>
              <a:t>6. Safety or ethics challenges</a:t>
            </a:r>
          </a:p>
          <a:p>
            <a:r>
              <a:rPr lang="en-CA" b="1" dirty="0"/>
              <a:t>Copyright infringement</a:t>
            </a:r>
            <a:r>
              <a:rPr lang="en-CA" dirty="0"/>
              <a:t>: Generated songs might copy melodies or lyrics too closely.</a:t>
            </a:r>
          </a:p>
          <a:p>
            <a:r>
              <a:rPr lang="en-CA" b="1" dirty="0"/>
              <a:t>Offensive content</a:t>
            </a:r>
            <a:r>
              <a:rPr lang="en-CA" dirty="0"/>
              <a:t>: Users may try to generate inappropriate or harmful lyrics/music.</a:t>
            </a:r>
          </a:p>
          <a:p>
            <a:r>
              <a:rPr lang="en-CA" b="1" dirty="0"/>
              <a:t>Misuse</a:t>
            </a:r>
            <a:r>
              <a:rPr lang="en-CA" dirty="0"/>
              <a:t>: Fake songs mimicking real artists could be used for scams or misinformation.</a:t>
            </a:r>
          </a:p>
          <a:p>
            <a:r>
              <a:rPr lang="en-CA" b="1" dirty="0"/>
              <a:t>Fairness &amp; cultural respect</a:t>
            </a:r>
            <a:r>
              <a:rPr lang="en-CA" dirty="0"/>
              <a:t>: Avoid over-representing Western genres at the expense of others; respect cultural diversity.</a:t>
            </a:r>
          </a:p>
          <a:p>
            <a:r>
              <a:rPr lang="en-CA" b="1" dirty="0"/>
              <a:t>Data privacy</a:t>
            </a:r>
            <a:r>
              <a:rPr lang="en-CA" dirty="0"/>
              <a:t>: If user prompts or uploaded examples are stored, they must be protected.</a:t>
            </a:r>
          </a:p>
          <a:p>
            <a:pPr marL="0" lvl="0" indent="0" algn="l" rtl="0">
              <a:spcBef>
                <a:spcPts val="0"/>
              </a:spcBef>
              <a:spcAft>
                <a:spcPts val="0"/>
              </a:spcAft>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2462ae5c23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2462ae5c23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dirty="0"/>
              <a:t>Customer Facing issues. </a:t>
            </a:r>
            <a:r>
              <a:rPr lang="en-CA" b="1" dirty="0"/>
              <a:t>.</a:t>
            </a:r>
          </a:p>
          <a:p>
            <a:r>
              <a:rPr lang="en-CA" b="1" dirty="0"/>
              <a:t> What does correctness or accuracy really mean? What accuracy do customers care about?</a:t>
            </a:r>
          </a:p>
          <a:p>
            <a:r>
              <a:rPr lang="en-CA" dirty="0"/>
              <a:t>Correctness in ML-generated music isn’t about “true/false,” it’s about </a:t>
            </a:r>
            <a:r>
              <a:rPr lang="en-CA" b="1" dirty="0"/>
              <a:t>meeting user expectations</a:t>
            </a:r>
            <a:r>
              <a:rPr lang="en-CA" dirty="0"/>
              <a:t> (does the music sound good, fit the prompt, or feel coherent?).</a:t>
            </a:r>
          </a:p>
          <a:p>
            <a:r>
              <a:rPr lang="en-CA" dirty="0"/>
              <a:t>Customers care more about </a:t>
            </a:r>
            <a:r>
              <a:rPr lang="en-CA" b="1" dirty="0"/>
              <a:t>perceived quality</a:t>
            </a:r>
            <a:r>
              <a:rPr lang="en-CA" dirty="0"/>
              <a:t> (pleasantness, creativity, fit for purpose) than technical accuracy.</a:t>
            </a:r>
          </a:p>
          <a:p>
            <a:r>
              <a:rPr lang="en-CA" b="1" dirty="0"/>
              <a:t>2. How can we see how well we are doing in practice? How much feedback are customers going to give us before they leave?</a:t>
            </a:r>
          </a:p>
          <a:p>
            <a:r>
              <a:rPr lang="en-CA" dirty="0"/>
              <a:t>Track metrics: listening duration, number of downloads/shares, repeat usage.</a:t>
            </a:r>
          </a:p>
          <a:p>
            <a:r>
              <a:rPr lang="en-CA" dirty="0"/>
              <a:t>Collect explicit ratings (stars, thumbs up/down), but assume feedback will be </a:t>
            </a:r>
            <a:r>
              <a:rPr lang="en-CA" b="1" dirty="0"/>
              <a:t>sparse</a:t>
            </a:r>
            <a:r>
              <a:rPr lang="en-CA" dirty="0"/>
              <a:t>—most customers won’t report issues, they’ll just leave.</a:t>
            </a:r>
          </a:p>
          <a:p>
            <a:r>
              <a:rPr lang="en-CA" dirty="0"/>
              <a:t>So combine </a:t>
            </a:r>
            <a:r>
              <a:rPr lang="en-CA" b="1" dirty="0"/>
              <a:t>implicit signals (engagement)</a:t>
            </a:r>
            <a:r>
              <a:rPr lang="en-CA" dirty="0"/>
              <a:t> with </a:t>
            </a:r>
            <a:r>
              <a:rPr lang="en-CA" b="1" dirty="0"/>
              <a:t>explicit ratings</a:t>
            </a:r>
            <a:r>
              <a:rPr lang="en-CA" dirty="0"/>
              <a:t>.</a:t>
            </a:r>
          </a:p>
          <a:p>
            <a:r>
              <a:rPr lang="en-CA" b="1" dirty="0"/>
              <a:t>3. Can we estimate how good our generated music is? How are we doing for different customers or different genres?</a:t>
            </a:r>
          </a:p>
          <a:p>
            <a:r>
              <a:rPr lang="en-CA" dirty="0"/>
              <a:t>Use </a:t>
            </a:r>
            <a:r>
              <a:rPr lang="en-CA" b="1" dirty="0"/>
              <a:t>automatic metrics</a:t>
            </a:r>
            <a:r>
              <a:rPr lang="en-CA" dirty="0"/>
              <a:t> (audio similarity, diversity scores, etc.).</a:t>
            </a:r>
          </a:p>
          <a:p>
            <a:r>
              <a:rPr lang="en-CA" dirty="0"/>
              <a:t>Complement with </a:t>
            </a:r>
            <a:r>
              <a:rPr lang="en-CA" b="1" dirty="0"/>
              <a:t>user studies or crowd-sourced evaluations</a:t>
            </a:r>
            <a:r>
              <a:rPr lang="en-CA" dirty="0"/>
              <a:t>.</a:t>
            </a:r>
          </a:p>
          <a:p>
            <a:r>
              <a:rPr lang="en-CA" dirty="0"/>
              <a:t>Break results down by </a:t>
            </a:r>
            <a:r>
              <a:rPr lang="en-CA" b="1" dirty="0"/>
              <a:t>genre, user segment, and use case</a:t>
            </a:r>
            <a:r>
              <a:rPr lang="en-CA" dirty="0"/>
              <a:t> to see if performance varies (e.g., great for classical but weak for jazz).</a:t>
            </a:r>
          </a:p>
          <a:p>
            <a:r>
              <a:rPr lang="en-CA" b="1" dirty="0"/>
              <a:t>4. How to present results to the customers?</a:t>
            </a:r>
          </a:p>
          <a:p>
            <a:r>
              <a:rPr lang="en-CA" dirty="0"/>
              <a:t>Provide </a:t>
            </a:r>
            <a:r>
              <a:rPr lang="en-CA" b="1" dirty="0"/>
              <a:t>multiple options</a:t>
            </a:r>
            <a:r>
              <a:rPr lang="en-CA" dirty="0"/>
              <a:t> (not just one track). Let customers pick their favorite.</a:t>
            </a:r>
          </a:p>
          <a:p>
            <a:r>
              <a:rPr lang="en-CA" dirty="0"/>
              <a:t>Use </a:t>
            </a:r>
            <a:r>
              <a:rPr lang="en-CA" b="1" dirty="0"/>
              <a:t>clear labels</a:t>
            </a:r>
            <a:r>
              <a:rPr lang="en-CA" dirty="0"/>
              <a:t> (e.g., “fast tempo,” “calm mood”) to give customers control.</a:t>
            </a:r>
          </a:p>
          <a:p>
            <a:r>
              <a:rPr lang="en-CA" dirty="0"/>
              <a:t>Keep the interface simple—avoid technical jargon.</a:t>
            </a:r>
          </a:p>
          <a:p>
            <a:r>
              <a:rPr lang="en-CA" b="1" dirty="0"/>
              <a:t>5. When customers complain about poor output, how to prioritize and what to do?</a:t>
            </a:r>
          </a:p>
          <a:p>
            <a:r>
              <a:rPr lang="en-CA" dirty="0"/>
              <a:t>Prioritize complaints that are </a:t>
            </a:r>
            <a:r>
              <a:rPr lang="en-CA" b="1" dirty="0"/>
              <a:t>severe</a:t>
            </a:r>
            <a:r>
              <a:rPr lang="en-CA" dirty="0"/>
              <a:t> (offensive, broken audio) or </a:t>
            </a:r>
            <a:r>
              <a:rPr lang="en-CA" b="1" dirty="0"/>
              <a:t>common</a:t>
            </a:r>
            <a:r>
              <a:rPr lang="en-CA" dirty="0"/>
              <a:t> (recurring issues across many users).</a:t>
            </a:r>
          </a:p>
          <a:p>
            <a:r>
              <a:rPr lang="en-CA" dirty="0"/>
              <a:t>Respond quickly with </a:t>
            </a:r>
            <a:r>
              <a:rPr lang="en-CA" b="1" dirty="0"/>
              <a:t>workarounds</a:t>
            </a:r>
            <a:r>
              <a:rPr lang="en-CA" dirty="0"/>
              <a:t> (e.g., let them regenerate).</a:t>
            </a:r>
          </a:p>
          <a:p>
            <a:r>
              <a:rPr lang="en-CA" dirty="0"/>
              <a:t>Feed complaints back into the </a:t>
            </a:r>
            <a:r>
              <a:rPr lang="en-CA" b="1" dirty="0"/>
              <a:t>training/evaluation loop</a:t>
            </a:r>
            <a:r>
              <a:rPr lang="en-CA" dirty="0"/>
              <a:t>.</a:t>
            </a:r>
          </a:p>
          <a:p>
            <a:r>
              <a:rPr lang="en-CA" b="1" dirty="0"/>
              <a:t>6. What are unacceptable mistakes and how can they be avoided? Is there a safety risk?</a:t>
            </a:r>
          </a:p>
          <a:p>
            <a:r>
              <a:rPr lang="en-CA" dirty="0"/>
              <a:t>Unacceptable mistakes: offensive lyrics, copyright violations, extremely poor quality output.</a:t>
            </a:r>
          </a:p>
          <a:p>
            <a:r>
              <a:rPr lang="en-CA" dirty="0"/>
              <a:t>Safety risks: if music is used commercially, copyright/legal liability is critical.</a:t>
            </a:r>
          </a:p>
          <a:p>
            <a:r>
              <a:rPr lang="en-CA" dirty="0"/>
              <a:t>Mitigation: </a:t>
            </a:r>
            <a:r>
              <a:rPr lang="en-CA" b="1" dirty="0"/>
              <a:t>filter training data</a:t>
            </a:r>
            <a:r>
              <a:rPr lang="en-CA" dirty="0"/>
              <a:t>, </a:t>
            </a:r>
            <a:r>
              <a:rPr lang="en-CA" b="1" dirty="0"/>
              <a:t>moderate outputs</a:t>
            </a:r>
            <a:r>
              <a:rPr lang="en-CA" dirty="0"/>
              <a:t>, and enforce quality control before release.</a:t>
            </a:r>
          </a:p>
          <a:p>
            <a:r>
              <a:rPr lang="en-CA" b="1" dirty="0"/>
              <a:t>7. Can we cope with an influx of customers?</a:t>
            </a:r>
          </a:p>
          <a:p>
            <a:r>
              <a:rPr lang="en-CA" dirty="0"/>
              <a:t>Requires </a:t>
            </a:r>
            <a:r>
              <a:rPr lang="en-CA" b="1" dirty="0"/>
              <a:t>scalable infrastructure</a:t>
            </a:r>
            <a:r>
              <a:rPr lang="en-CA" dirty="0"/>
              <a:t> (cloud services, autoscaling servers, caching).</a:t>
            </a:r>
          </a:p>
          <a:p>
            <a:r>
              <a:rPr lang="en-CA" dirty="0"/>
              <a:t>If not planned, latency and quality may drop.</a:t>
            </a:r>
          </a:p>
          <a:p>
            <a:r>
              <a:rPr lang="en-CA" dirty="0"/>
              <a:t>Use </a:t>
            </a:r>
            <a:r>
              <a:rPr lang="en-CA" b="1" dirty="0"/>
              <a:t>load testing</a:t>
            </a:r>
            <a:r>
              <a:rPr lang="en-CA" dirty="0"/>
              <a:t> and </a:t>
            </a:r>
            <a:r>
              <a:rPr lang="en-CA" b="1" dirty="0"/>
              <a:t>resource monitoring</a:t>
            </a:r>
            <a:r>
              <a:rPr lang="en-CA" dirty="0"/>
              <a:t> to ensure stability.</a:t>
            </a:r>
          </a:p>
          <a:p>
            <a:r>
              <a:rPr lang="en-CA" b="1" dirty="0"/>
              <a:t>8. Will responding to the same prompt twice produce the same result? Does it matter?</a:t>
            </a:r>
          </a:p>
          <a:p>
            <a:r>
              <a:rPr lang="en-CA" dirty="0"/>
              <a:t>Likely not (due to randomness in generation).</a:t>
            </a:r>
          </a:p>
          <a:p>
            <a:r>
              <a:rPr lang="en-CA" dirty="0"/>
              <a:t>Sometimes variation is </a:t>
            </a:r>
            <a:r>
              <a:rPr lang="en-CA" b="1" dirty="0"/>
              <a:t>a feature</a:t>
            </a:r>
            <a:r>
              <a:rPr lang="en-CA" dirty="0"/>
              <a:t> (fresh creativity).</a:t>
            </a:r>
          </a:p>
          <a:p>
            <a:r>
              <a:rPr lang="en-CA" dirty="0"/>
              <a:t>But for professional users, consistency may matter → provide an option to </a:t>
            </a:r>
            <a:r>
              <a:rPr lang="en-CA" b="1" dirty="0"/>
              <a:t>fix random seeds</a:t>
            </a:r>
            <a:r>
              <a:rPr lang="en-CA" dirty="0"/>
              <a:t> for reproducibility.</a:t>
            </a:r>
          </a:p>
          <a:p>
            <a:r>
              <a:rPr lang="en-CA" b="1" dirty="0"/>
              <a:t>9. How can we debug and fix problems? How quickly?</a:t>
            </a:r>
          </a:p>
          <a:p>
            <a:r>
              <a:rPr lang="en-CA" dirty="0"/>
              <a:t>Use </a:t>
            </a:r>
            <a:r>
              <a:rPr lang="en-CA" b="1" dirty="0"/>
              <a:t>logging and monitoring</a:t>
            </a:r>
            <a:r>
              <a:rPr lang="en-CA" dirty="0"/>
              <a:t> to capture failures.</a:t>
            </a:r>
          </a:p>
          <a:p>
            <a:r>
              <a:rPr lang="en-CA" dirty="0"/>
              <a:t>Build </a:t>
            </a:r>
            <a:r>
              <a:rPr lang="en-CA" b="1" dirty="0"/>
              <a:t>debug tools</a:t>
            </a:r>
            <a:r>
              <a:rPr lang="en-CA" dirty="0"/>
              <a:t> to replay inputs and outputs.</a:t>
            </a:r>
          </a:p>
          <a:p>
            <a:r>
              <a:rPr lang="en-CA" dirty="0"/>
              <a:t>Have a process for </a:t>
            </a:r>
            <a:r>
              <a:rPr lang="en-CA" b="1" dirty="0"/>
              <a:t>hotfixes</a:t>
            </a:r>
            <a:r>
              <a:rPr lang="en-CA" dirty="0"/>
              <a:t> (quickly roll back or retrain).</a:t>
            </a:r>
          </a:p>
          <a:p>
            <a:r>
              <a:rPr lang="en-CA" dirty="0"/>
              <a:t>Aim for </a:t>
            </a:r>
            <a:r>
              <a:rPr lang="en-CA" b="1" dirty="0"/>
              <a:t>rapid iteration</a:t>
            </a:r>
            <a:r>
              <a:rPr lang="en-CA" dirty="0"/>
              <a:t>, since waiting weeks to fix issues loses trust.</a:t>
            </a:r>
          </a:p>
          <a:p>
            <a:pPr marL="0" lvl="0" indent="0" algn="l" rtl="0">
              <a:spcBef>
                <a:spcPts val="0"/>
              </a:spcBef>
              <a:spcAft>
                <a:spcPts val="0"/>
              </a:spcAft>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2462ae5c23_0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2462ae5c23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b="1" dirty="0"/>
              <a:t>technical/operational issues</a:t>
            </a:r>
            <a:r>
              <a:rPr lang="en-CA" dirty="0"/>
              <a:t> (latency, crashes, scaling, model updates).</a:t>
            </a:r>
          </a:p>
          <a:p>
            <a:pPr marL="0" lvl="0" indent="0" algn="l" rtl="0">
              <a:spcBef>
                <a:spcPts val="0"/>
              </a:spcBef>
              <a:spcAft>
                <a:spcPts val="0"/>
              </a:spcAft>
              <a:buNone/>
            </a:pPr>
            <a:endParaRPr lang="en-CA" dirty="0"/>
          </a:p>
          <a:p>
            <a:r>
              <a:rPr lang="en-CA" b="1" dirty="0"/>
              <a:t>1. With more customers, generation is taking longer and longer – what can we do?</a:t>
            </a:r>
          </a:p>
          <a:p>
            <a:r>
              <a:rPr lang="en-CA" dirty="0"/>
              <a:t>Optimize model inference (quantization, pruning, batching).</a:t>
            </a:r>
          </a:p>
          <a:p>
            <a:r>
              <a:rPr lang="en-CA" dirty="0"/>
              <a:t>Scale horizontally: add more servers/GPUs.</a:t>
            </a:r>
          </a:p>
          <a:p>
            <a:r>
              <a:rPr lang="en-CA" dirty="0"/>
              <a:t>Cache results for popular prompts.</a:t>
            </a:r>
          </a:p>
          <a:p>
            <a:r>
              <a:rPr lang="en-CA" dirty="0"/>
              <a:t>Use a load balancer to distribute requests.</a:t>
            </a:r>
          </a:p>
          <a:p>
            <a:r>
              <a:rPr lang="en-CA" b="1" dirty="0"/>
              <a:t>2. Generation sometimes crashes. What to do?</a:t>
            </a:r>
          </a:p>
          <a:p>
            <a:r>
              <a:rPr lang="en-CA" dirty="0"/>
              <a:t>Add monitoring &amp; error logging.</a:t>
            </a:r>
          </a:p>
          <a:p>
            <a:r>
              <a:rPr lang="en-CA" dirty="0"/>
              <a:t>Implement retries with backoff.</a:t>
            </a:r>
          </a:p>
          <a:p>
            <a:r>
              <a:rPr lang="en-CA" dirty="0"/>
              <a:t>Graceful fallback (e.g., offer pre-generated music samples if live gen fails).</a:t>
            </a:r>
          </a:p>
          <a:p>
            <a:r>
              <a:rPr lang="en-CA" b="1" dirty="0"/>
              <a:t>3. How do we achieve high availability?</a:t>
            </a:r>
          </a:p>
          <a:p>
            <a:r>
              <a:rPr lang="en-CA" dirty="0"/>
              <a:t>Deploy across multiple regions or cloud zones.</a:t>
            </a:r>
          </a:p>
          <a:p>
            <a:r>
              <a:rPr lang="en-CA" dirty="0"/>
              <a:t>Use auto-scaling and redundancy.</a:t>
            </a:r>
          </a:p>
          <a:p>
            <a:r>
              <a:rPr lang="en-CA" dirty="0"/>
              <a:t>Health checks with automatic failover.</a:t>
            </a:r>
          </a:p>
          <a:p>
            <a:r>
              <a:rPr lang="en-CA" b="1" dirty="0"/>
              <a:t>4. How can we see that everything is going fine and page somebody if it is not?</a:t>
            </a:r>
          </a:p>
          <a:p>
            <a:r>
              <a:rPr lang="en-CA" dirty="0"/>
              <a:t>Real-time monitoring dashboards (Prometheus, Grafana).</a:t>
            </a:r>
          </a:p>
          <a:p>
            <a:r>
              <a:rPr lang="en-CA" dirty="0"/>
              <a:t>Alerting systems (PagerDuty, </a:t>
            </a:r>
            <a:r>
              <a:rPr lang="en-CA" dirty="0" err="1"/>
              <a:t>OpsGenie</a:t>
            </a:r>
            <a:r>
              <a:rPr lang="en-CA" dirty="0"/>
              <a:t>).</a:t>
            </a:r>
          </a:p>
          <a:p>
            <a:r>
              <a:rPr lang="en-CA" dirty="0"/>
              <a:t>Define service-level indicators (SLIs): latency, error rates, throughput.</a:t>
            </a:r>
          </a:p>
          <a:p>
            <a:r>
              <a:rPr lang="en-CA" b="1" dirty="0"/>
              <a:t>5. We improve our model but somehow system behavior degrades… Why?</a:t>
            </a:r>
          </a:p>
          <a:p>
            <a:r>
              <a:rPr lang="en-CA" dirty="0"/>
              <a:t>Model regressions: accuracy improved on benchmarks but worsened on real traffic.</a:t>
            </a:r>
          </a:p>
          <a:p>
            <a:r>
              <a:rPr lang="en-CA" dirty="0"/>
              <a:t>Distribution shift: new data doesn’t match training data.</a:t>
            </a:r>
          </a:p>
          <a:p>
            <a:r>
              <a:rPr lang="en-CA" dirty="0"/>
              <a:t>Hidden resource costs: new model is slower or needs more memory.</a:t>
            </a:r>
          </a:p>
          <a:p>
            <a:r>
              <a:rPr lang="en-CA" b="1" dirty="0"/>
              <a:t>6. TensorFlow update; does our infrastructure still work?</a:t>
            </a:r>
          </a:p>
          <a:p>
            <a:r>
              <a:rPr lang="en-CA" dirty="0"/>
              <a:t>Versioning &amp; compatibility testing before rollout.</a:t>
            </a:r>
          </a:p>
          <a:p>
            <a:r>
              <a:rPr lang="en-CA" dirty="0"/>
              <a:t>Continuous integration pipelines that run regression tests.</a:t>
            </a:r>
          </a:p>
          <a:p>
            <a:r>
              <a:rPr lang="en-CA" dirty="0"/>
              <a:t>Containerization (Docker) to isolate environments.</a:t>
            </a:r>
          </a:p>
          <a:p>
            <a:r>
              <a:rPr lang="en-CA" b="1" dirty="0"/>
              <a:t>7. Once somewhat successful, how to handle large amounts of data per day?</a:t>
            </a:r>
          </a:p>
          <a:p>
            <a:r>
              <a:rPr lang="en-CA" dirty="0"/>
              <a:t>Build pipelines for ingestion, cleaning, and storage.</a:t>
            </a:r>
          </a:p>
          <a:p>
            <a:r>
              <a:rPr lang="en-CA" dirty="0"/>
              <a:t>Use distributed data systems (Hadoop, Spark, </a:t>
            </a:r>
            <a:r>
              <a:rPr lang="en-CA" dirty="0" err="1"/>
              <a:t>BigQuery</a:t>
            </a:r>
            <a:r>
              <a:rPr lang="en-CA" dirty="0"/>
              <a:t>).</a:t>
            </a:r>
          </a:p>
          <a:p>
            <a:r>
              <a:rPr lang="en-CA" dirty="0"/>
              <a:t>Archive old/rarely used data for cost efficiency.</a:t>
            </a:r>
          </a:p>
          <a:p>
            <a:r>
              <a:rPr lang="en-CA" b="1" dirty="0"/>
              <a:t>8. Buy more machines or move to the cloud?</a:t>
            </a:r>
          </a:p>
          <a:p>
            <a:r>
              <a:rPr lang="en-CA" dirty="0"/>
              <a:t>Cloud: flexible scaling, but higher long-term costs.</a:t>
            </a:r>
          </a:p>
          <a:p>
            <a:r>
              <a:rPr lang="en-CA" dirty="0"/>
              <a:t>On-prem: cheaper at scale, but requires upfront investment and maintenance.</a:t>
            </a:r>
          </a:p>
          <a:p>
            <a:r>
              <a:rPr lang="en-CA" dirty="0"/>
              <a:t>Likely hybrid approach: start cloud, move heavy workloads on-prem later.</a:t>
            </a:r>
          </a:p>
          <a:p>
            <a:r>
              <a:rPr lang="en-CA" b="1" dirty="0"/>
              <a:t>9. Models are continuously improved. When to deploy? Can we roll back?</a:t>
            </a:r>
          </a:p>
          <a:p>
            <a:r>
              <a:rPr lang="en-CA" dirty="0"/>
              <a:t>Use </a:t>
            </a:r>
            <a:r>
              <a:rPr lang="en-CA" b="1" dirty="0"/>
              <a:t>A/B testing</a:t>
            </a:r>
            <a:r>
              <a:rPr lang="en-CA" dirty="0"/>
              <a:t> or canary deployments.</a:t>
            </a:r>
          </a:p>
          <a:p>
            <a:r>
              <a:rPr lang="en-CA" dirty="0"/>
              <a:t>Keep older versions ready → easy rollback.</a:t>
            </a:r>
          </a:p>
          <a:p>
            <a:r>
              <a:rPr lang="en-CA" dirty="0"/>
              <a:t>Automate deployment with CI/CD pipelines.</a:t>
            </a:r>
          </a:p>
          <a:p>
            <a:r>
              <a:rPr lang="en-CA" b="1" dirty="0"/>
              <a:t>10. Can we offer live music generation as an app? As a web service?</a:t>
            </a:r>
          </a:p>
          <a:p>
            <a:r>
              <a:rPr lang="en-CA" dirty="0"/>
              <a:t>Web service: more control, easier updates, runs on powerful servers.</a:t>
            </a:r>
          </a:p>
          <a:p>
            <a:r>
              <a:rPr lang="en-CA" dirty="0"/>
              <a:t>Mobile app: convenient, but harder to run big models locally (may need on-device lite versions).</a:t>
            </a:r>
          </a:p>
          <a:p>
            <a:r>
              <a:rPr lang="en-CA" dirty="0"/>
              <a:t>Hybrid: lightweight app with cloud backend.</a:t>
            </a:r>
          </a:p>
          <a:p>
            <a:r>
              <a:rPr lang="en-CA" b="1" dirty="0"/>
              <a:t>11. Can we get better the longer a user interacts with us? Will this benefit the next song they generate as well?</a:t>
            </a:r>
          </a:p>
          <a:p>
            <a:r>
              <a:rPr lang="en-CA" dirty="0"/>
              <a:t>Yes, with </a:t>
            </a:r>
            <a:r>
              <a:rPr lang="en-CA" b="1" dirty="0"/>
              <a:t>personalization</a:t>
            </a:r>
            <a:r>
              <a:rPr lang="en-CA" dirty="0"/>
              <a:t>: learn user preferences (genres, tempo, instruments).</a:t>
            </a:r>
          </a:p>
          <a:p>
            <a:r>
              <a:rPr lang="en-CA" dirty="0"/>
              <a:t>Use feedback (ratings, skips) to fine-tune recommendations.</a:t>
            </a:r>
          </a:p>
          <a:p>
            <a:r>
              <a:rPr lang="en-CA" dirty="0"/>
              <a:t>But balance privacy &amp; ethics—don’t </a:t>
            </a:r>
            <a:r>
              <a:rPr lang="en-CA" dirty="0" err="1"/>
              <a:t>overcollect</a:t>
            </a:r>
            <a:r>
              <a:rPr lang="en-CA" dirty="0"/>
              <a:t> user data.</a:t>
            </a:r>
          </a:p>
          <a:p>
            <a:r>
              <a:rPr lang="en-CA" dirty="0"/>
              <a:t>✅ </a:t>
            </a:r>
            <a:r>
              <a:rPr lang="en-CA" b="1" dirty="0"/>
              <a:t>Teaching Tip</a:t>
            </a:r>
            <a:r>
              <a:rPr lang="en-CA" dirty="0"/>
              <a:t>: You could frame these as </a:t>
            </a:r>
            <a:r>
              <a:rPr lang="en-CA" b="1" dirty="0"/>
              <a:t>real DevOps &amp; </a:t>
            </a:r>
            <a:r>
              <a:rPr lang="en-CA" b="1" dirty="0" err="1"/>
              <a:t>MLops</a:t>
            </a:r>
            <a:r>
              <a:rPr lang="en-CA" b="1" dirty="0"/>
              <a:t> challenges</a:t>
            </a:r>
            <a:r>
              <a:rPr lang="en-CA" dirty="0"/>
              <a:t>: scaling, monitoring, deployment, continuous learning. The answers show how </a:t>
            </a:r>
            <a:r>
              <a:rPr lang="en-CA" b="1" dirty="0"/>
              <a:t>data science meets software engineering in practice</a:t>
            </a:r>
            <a:r>
              <a:rPr lang="en-CA" dirty="0"/>
              <a:t>.</a:t>
            </a:r>
          </a:p>
          <a:p>
            <a:pPr marL="0" lvl="0" indent="0" algn="l" rtl="0">
              <a:spcBef>
                <a:spcPts val="0"/>
              </a:spcBef>
              <a:spcAft>
                <a:spcPts val="0"/>
              </a:spcAft>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2462ae5c23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2462ae5c23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Long term and ethnical issues </a:t>
            </a:r>
          </a:p>
          <a:p>
            <a:pPr marL="0" lvl="0" indent="0" algn="l" rtl="0">
              <a:spcBef>
                <a:spcPts val="0"/>
              </a:spcBef>
              <a:spcAft>
                <a:spcPts val="0"/>
              </a:spcAft>
              <a:buNone/>
            </a:pPr>
            <a:endParaRPr lang="en-CA" dirty="0"/>
          </a:p>
          <a:p>
            <a:r>
              <a:rPr lang="en-CA" b="1" dirty="0"/>
              <a:t>How many genres can be supported? Do we have the server capacity?</a:t>
            </a:r>
          </a:p>
          <a:p>
            <a:r>
              <a:rPr lang="en-CA" b="1" dirty="0"/>
              <a:t>Capacity = traffic × (avg song sec / real-time factor).</a:t>
            </a:r>
            <a:r>
              <a:rPr lang="en-CA" dirty="0"/>
              <a:t> Example framing: if your model renders at </a:t>
            </a:r>
            <a:r>
              <a:rPr lang="en-CA" b="1" dirty="0"/>
              <a:t>0.25× real-time</a:t>
            </a:r>
            <a:r>
              <a:rPr lang="en-CA" dirty="0"/>
              <a:t> (4 sec compute per 1 sec audio), a 30-sec clip costs ~120 sec GPU. Multiply by concurrent users to size GPUs.</a:t>
            </a:r>
          </a:p>
          <a:p>
            <a:r>
              <a:rPr lang="en-CA" dirty="0"/>
              <a:t>Start with a </a:t>
            </a:r>
            <a:r>
              <a:rPr lang="en-CA" b="1" dirty="0"/>
              <a:t>tiered catalog</a:t>
            </a:r>
            <a:r>
              <a:rPr lang="en-CA" dirty="0"/>
              <a:t> (10–20 top genres + “other”). Add long-tail genres as you scale.</a:t>
            </a:r>
          </a:p>
          <a:p>
            <a:r>
              <a:rPr lang="en-CA" b="1" dirty="0"/>
              <a:t>Cache and reuse</a:t>
            </a:r>
            <a:r>
              <a:rPr lang="en-CA" dirty="0"/>
              <a:t> popular prompts/styles; pre-generate showcases to cut live load.</a:t>
            </a:r>
          </a:p>
          <a:p>
            <a:r>
              <a:rPr lang="en-CA" b="1" dirty="0"/>
              <a:t>SLOs:</a:t>
            </a:r>
            <a:r>
              <a:rPr lang="en-CA" dirty="0"/>
              <a:t> e.g., P50 latency &lt; 20 s, P95 &lt; 60 s for a 30-sec clip; plan capacity to keep those.</a:t>
            </a:r>
          </a:p>
          <a:p>
            <a:r>
              <a:rPr lang="en-CA" b="1" dirty="0"/>
              <a:t>Can and should we learn from customer data?</a:t>
            </a:r>
          </a:p>
          <a:p>
            <a:r>
              <a:rPr lang="en-CA" b="1" dirty="0"/>
              <a:t>Yes, with consent and minimization.</a:t>
            </a:r>
            <a:endParaRPr lang="en-CA" dirty="0"/>
          </a:p>
          <a:p>
            <a:pPr lvl="1"/>
            <a:r>
              <a:rPr lang="en-CA" dirty="0"/>
              <a:t>Default analytics: </a:t>
            </a:r>
            <a:r>
              <a:rPr lang="en-CA" b="1" dirty="0"/>
              <a:t>implicit signals</a:t>
            </a:r>
            <a:r>
              <a:rPr lang="en-CA" dirty="0"/>
              <a:t> (play time, skips, likes).</a:t>
            </a:r>
          </a:p>
          <a:p>
            <a:pPr lvl="1"/>
            <a:r>
              <a:rPr lang="en-CA" dirty="0"/>
              <a:t>Opt-in for </a:t>
            </a:r>
            <a:r>
              <a:rPr lang="en-CA" b="1" dirty="0"/>
              <a:t>explicit ratings</a:t>
            </a:r>
            <a:r>
              <a:rPr lang="en-CA" dirty="0"/>
              <a:t> and </a:t>
            </a:r>
            <a:r>
              <a:rPr lang="en-CA" b="1" dirty="0"/>
              <a:t>prompt reuse</a:t>
            </a:r>
            <a:r>
              <a:rPr lang="en-CA" dirty="0"/>
              <a:t> for improvement.</a:t>
            </a:r>
          </a:p>
          <a:p>
            <a:r>
              <a:rPr lang="en-CA" dirty="0"/>
              <a:t>For personalization, store </a:t>
            </a:r>
            <a:r>
              <a:rPr lang="en-CA" b="1" dirty="0"/>
              <a:t>per-user preferences</a:t>
            </a:r>
            <a:r>
              <a:rPr lang="en-CA" dirty="0"/>
              <a:t> (genres/tempos/instruments) not raw audio/lyrics when possible.</a:t>
            </a:r>
          </a:p>
          <a:p>
            <a:r>
              <a:rPr lang="en-CA" dirty="0"/>
              <a:t>Use </a:t>
            </a:r>
            <a:r>
              <a:rPr lang="en-CA" b="1" dirty="0"/>
              <a:t>privacy-preserving learning</a:t>
            </a:r>
            <a:r>
              <a:rPr lang="en-CA" dirty="0"/>
              <a:t> where feasible: on-device embedding updates, </a:t>
            </a:r>
            <a:r>
              <a:rPr lang="en-CA" b="1" dirty="0"/>
              <a:t>federated analytics</a:t>
            </a:r>
            <a:r>
              <a:rPr lang="en-CA" dirty="0"/>
              <a:t>, </a:t>
            </a:r>
            <a:r>
              <a:rPr lang="en-CA" b="1" dirty="0"/>
              <a:t>differential privacy</a:t>
            </a:r>
            <a:r>
              <a:rPr lang="en-CA" dirty="0"/>
              <a:t> on aggregates.</a:t>
            </a:r>
          </a:p>
          <a:p>
            <a:r>
              <a:rPr lang="en-CA" dirty="0"/>
              <a:t>Clear </a:t>
            </a:r>
            <a:r>
              <a:rPr lang="en-CA" b="1" dirty="0"/>
              <a:t>opt-out</a:t>
            </a:r>
            <a:r>
              <a:rPr lang="en-CA" dirty="0"/>
              <a:t> + data retention limits.</a:t>
            </a:r>
          </a:p>
          <a:p>
            <a:r>
              <a:rPr lang="en-CA" b="1" dirty="0"/>
              <a:t>How can we debug problem files we are not allowed to see?</a:t>
            </a:r>
          </a:p>
          <a:p>
            <a:r>
              <a:rPr lang="en-CA" dirty="0"/>
              <a:t>Log </a:t>
            </a:r>
            <a:r>
              <a:rPr lang="en-CA" b="1" dirty="0"/>
              <a:t>non-content telemetry</a:t>
            </a:r>
            <a:r>
              <a:rPr lang="en-CA" dirty="0"/>
              <a:t>: model version, seeds, latency, GPU mem, CPU/GPU utilization, errors, and </a:t>
            </a:r>
            <a:r>
              <a:rPr lang="en-CA" b="1" dirty="0"/>
              <a:t>content fingerprints</a:t>
            </a:r>
            <a:r>
              <a:rPr lang="en-CA" dirty="0"/>
              <a:t> (e.g., </a:t>
            </a:r>
            <a:r>
              <a:rPr lang="en-CA" dirty="0" err="1"/>
              <a:t>MinHash</a:t>
            </a:r>
            <a:r>
              <a:rPr lang="en-CA" dirty="0"/>
              <a:t> of mel-spectrograms) instead of audio.</a:t>
            </a:r>
          </a:p>
          <a:p>
            <a:r>
              <a:rPr lang="en-CA" dirty="0"/>
              <a:t>Collect </a:t>
            </a:r>
            <a:r>
              <a:rPr lang="en-CA" b="1" dirty="0"/>
              <a:t>objective audio stats</a:t>
            </a:r>
            <a:r>
              <a:rPr lang="en-CA" dirty="0"/>
              <a:t> only (loudness, clipping %, silence %, spectral centroid/roll-off).</a:t>
            </a:r>
          </a:p>
          <a:p>
            <a:r>
              <a:rPr lang="en-CA" dirty="0"/>
              <a:t>Provide a </a:t>
            </a:r>
            <a:r>
              <a:rPr lang="en-CA" b="1" dirty="0"/>
              <a:t>privacy box</a:t>
            </a:r>
            <a:r>
              <a:rPr lang="en-CA" dirty="0"/>
              <a:t>: users can share the exact file into a </a:t>
            </a:r>
            <a:r>
              <a:rPr lang="en-CA" b="1" dirty="0"/>
              <a:t>secure quarantine</a:t>
            </a:r>
            <a:r>
              <a:rPr lang="en-CA" dirty="0"/>
              <a:t> with legal consent; otherwise </a:t>
            </a:r>
            <a:r>
              <a:rPr lang="en-CA" dirty="0" err="1"/>
              <a:t>devs</a:t>
            </a:r>
            <a:r>
              <a:rPr lang="en-CA" dirty="0"/>
              <a:t> debug using </a:t>
            </a:r>
            <a:r>
              <a:rPr lang="en-CA" b="1" dirty="0"/>
              <a:t>deterministic replay</a:t>
            </a:r>
            <a:r>
              <a:rPr lang="en-CA" dirty="0"/>
              <a:t> (prompt + seed + model version).</a:t>
            </a:r>
          </a:p>
          <a:p>
            <a:r>
              <a:rPr lang="en-CA" dirty="0"/>
              <a:t>Ship a </a:t>
            </a:r>
            <a:r>
              <a:rPr lang="en-CA" b="1" dirty="0"/>
              <a:t>self-test bundle</a:t>
            </a:r>
            <a:r>
              <a:rPr lang="en-CA" dirty="0"/>
              <a:t> so support can reproduce locally without user data.</a:t>
            </a:r>
          </a:p>
          <a:p>
            <a:r>
              <a:rPr lang="en-CA" b="1" dirty="0"/>
              <a:t>Any chance we might leak private data?</a:t>
            </a:r>
          </a:p>
          <a:p>
            <a:r>
              <a:rPr lang="en-CA" dirty="0"/>
              <a:t>Risks: logging prompts/lyrics verbatim, training on user uploads without consent, model </a:t>
            </a:r>
            <a:r>
              <a:rPr lang="en-CA" b="1" dirty="0"/>
              <a:t>memorization</a:t>
            </a:r>
            <a:r>
              <a:rPr lang="en-CA" dirty="0"/>
              <a:t> of rare data, URLs in metadata.</a:t>
            </a:r>
          </a:p>
          <a:p>
            <a:r>
              <a:rPr lang="en-CA" dirty="0"/>
              <a:t>Mitigations:</a:t>
            </a:r>
          </a:p>
          <a:p>
            <a:pPr lvl="1"/>
            <a:r>
              <a:rPr lang="en-CA" b="1" dirty="0"/>
              <a:t>PII scrubbing</a:t>
            </a:r>
            <a:r>
              <a:rPr lang="en-CA" dirty="0"/>
              <a:t> of prompts/metadata before logs.</a:t>
            </a:r>
          </a:p>
          <a:p>
            <a:pPr lvl="1"/>
            <a:r>
              <a:rPr lang="en-CA" b="1" dirty="0"/>
              <a:t>No user uploads in training</a:t>
            </a:r>
            <a:r>
              <a:rPr lang="en-CA" dirty="0"/>
              <a:t> unless explicit, revocable consent; keep a </a:t>
            </a:r>
            <a:r>
              <a:rPr lang="en-CA" b="1" dirty="0"/>
              <a:t>consented corpus</a:t>
            </a:r>
            <a:r>
              <a:rPr lang="en-CA" dirty="0"/>
              <a:t> separate.</a:t>
            </a:r>
          </a:p>
          <a:p>
            <a:pPr lvl="1"/>
            <a:r>
              <a:rPr lang="en-CA" b="1" dirty="0"/>
              <a:t>Membership-inference hardening</a:t>
            </a:r>
            <a:r>
              <a:rPr lang="en-CA" dirty="0"/>
              <a:t> (regularization, DP where applicable).</a:t>
            </a:r>
          </a:p>
          <a:p>
            <a:pPr lvl="1"/>
            <a:r>
              <a:rPr lang="en-CA" b="1" dirty="0"/>
              <a:t>Red-team prompts</a:t>
            </a:r>
            <a:r>
              <a:rPr lang="en-CA" dirty="0"/>
              <a:t> for leakage; automated </a:t>
            </a:r>
            <a:r>
              <a:rPr lang="en-CA" b="1" dirty="0"/>
              <a:t>output filters</a:t>
            </a:r>
            <a:r>
              <a:rPr lang="en-CA" dirty="0"/>
              <a:t> for names/IDs.</a:t>
            </a:r>
          </a:p>
          <a:p>
            <a:r>
              <a:rPr lang="en-CA" b="1" dirty="0"/>
              <a:t>Can competitors or bad actors attack our system?</a:t>
            </a:r>
          </a:p>
          <a:p>
            <a:r>
              <a:rPr lang="en-CA" b="1" dirty="0"/>
              <a:t>Abuse vectors:</a:t>
            </a:r>
            <a:r>
              <a:rPr lang="en-CA" dirty="0"/>
              <a:t> prompt injection to create infringing/offensive content, </a:t>
            </a:r>
            <a:r>
              <a:rPr lang="en-CA" b="1" dirty="0"/>
              <a:t>model theft</a:t>
            </a:r>
            <a:r>
              <a:rPr lang="en-CA" dirty="0"/>
              <a:t> via high-volume querying, </a:t>
            </a:r>
            <a:r>
              <a:rPr lang="en-CA" b="1" dirty="0"/>
              <a:t>data poisoning</a:t>
            </a:r>
            <a:r>
              <a:rPr lang="en-CA" dirty="0"/>
              <a:t> (if you learn from uploads), </a:t>
            </a:r>
            <a:r>
              <a:rPr lang="en-CA" b="1" dirty="0"/>
              <a:t>DDoS</a:t>
            </a:r>
            <a:r>
              <a:rPr lang="en-CA" dirty="0"/>
              <a:t>, credential stuffing, scraping of outputs, </a:t>
            </a:r>
            <a:r>
              <a:rPr lang="en-CA" b="1" dirty="0"/>
              <a:t>copyright traps</a:t>
            </a:r>
            <a:r>
              <a:rPr lang="en-CA" dirty="0"/>
              <a:t>.</a:t>
            </a:r>
          </a:p>
          <a:p>
            <a:r>
              <a:rPr lang="en-CA" b="1" dirty="0"/>
              <a:t>Controls:</a:t>
            </a:r>
            <a:endParaRPr lang="en-CA" dirty="0"/>
          </a:p>
          <a:p>
            <a:pPr lvl="1"/>
            <a:r>
              <a:rPr lang="en-CA" b="1" dirty="0"/>
              <a:t>Rate limits</a:t>
            </a:r>
            <a:r>
              <a:rPr lang="en-CA" dirty="0"/>
              <a:t>, auth, WAF/CDN, per-IP/ASN throttling, bot detection.</a:t>
            </a:r>
          </a:p>
          <a:p>
            <a:pPr lvl="1"/>
            <a:r>
              <a:rPr lang="en-CA" b="1" dirty="0"/>
              <a:t>Safety filters</a:t>
            </a:r>
            <a:r>
              <a:rPr lang="en-CA" dirty="0"/>
              <a:t> pre/post-generation; block disallowed prompts; watermark outputs.</a:t>
            </a:r>
          </a:p>
          <a:p>
            <a:pPr lvl="1"/>
            <a:r>
              <a:rPr lang="en-CA" b="1" dirty="0"/>
              <a:t>Canaries/honeypots</a:t>
            </a:r>
            <a:r>
              <a:rPr lang="en-CA" dirty="0"/>
              <a:t> to detect scraping; </a:t>
            </a:r>
            <a:r>
              <a:rPr lang="en-CA" b="1" dirty="0"/>
              <a:t>TOS + automated enforcement</a:t>
            </a:r>
            <a:r>
              <a:rPr lang="en-CA" dirty="0"/>
              <a:t>.</a:t>
            </a:r>
          </a:p>
          <a:p>
            <a:pPr lvl="1"/>
            <a:r>
              <a:rPr lang="en-CA" b="1" dirty="0"/>
              <a:t>Signed requests</a:t>
            </a:r>
            <a:r>
              <a:rPr lang="en-CA" dirty="0"/>
              <a:t> from clients; </a:t>
            </a:r>
            <a:r>
              <a:rPr lang="en-CA" b="1" dirty="0"/>
              <a:t>RBAC</a:t>
            </a:r>
            <a:r>
              <a:rPr lang="en-CA" dirty="0"/>
              <a:t> in admin tools; audit logs.</a:t>
            </a:r>
          </a:p>
          <a:p>
            <a:pPr lvl="1"/>
            <a:r>
              <a:rPr lang="en-CA" dirty="0"/>
              <a:t>If doing continual learning, require </a:t>
            </a:r>
            <a:r>
              <a:rPr lang="en-CA" b="1" dirty="0"/>
              <a:t>curated, scanned</a:t>
            </a:r>
            <a:r>
              <a:rPr lang="en-CA" dirty="0"/>
              <a:t> data only (malware/audio </a:t>
            </a:r>
            <a:r>
              <a:rPr lang="en-CA" dirty="0" err="1"/>
              <a:t>stego</a:t>
            </a:r>
            <a:r>
              <a:rPr lang="en-CA" dirty="0"/>
              <a:t> checks).</a:t>
            </a:r>
          </a:p>
          <a:p>
            <a:r>
              <a:rPr lang="en-CA" b="1" dirty="0"/>
              <a:t>Quick framing you can say aloud</a:t>
            </a:r>
          </a:p>
          <a:p>
            <a:r>
              <a:rPr lang="en-CA" i="1" dirty="0"/>
              <a:t>“Breadth we support is bounded by training data and GPU minutes. Specificity lives in controls, not in a million genres.”</a:t>
            </a:r>
            <a:endParaRPr lang="en-CA" dirty="0"/>
          </a:p>
          <a:p>
            <a:r>
              <a:rPr lang="en-CA" i="1" dirty="0"/>
              <a:t>“We learn from consented signals, never from private uploads by default.”</a:t>
            </a:r>
            <a:endParaRPr lang="en-CA" dirty="0"/>
          </a:p>
          <a:p>
            <a:r>
              <a:rPr lang="en-CA" i="1" dirty="0"/>
              <a:t>“We debug with metrics and fingerprints, not people’s audio.”</a:t>
            </a:r>
            <a:endParaRPr lang="en-CA" dirty="0"/>
          </a:p>
          <a:p>
            <a:r>
              <a:rPr lang="en-CA" i="1" dirty="0"/>
              <a:t>“We design for failure: rate limit, monitor, canary, and roll back.”</a:t>
            </a:r>
            <a:endParaRPr lang="en-CA" dirty="0"/>
          </a:p>
          <a:p>
            <a:pPr marL="0" lvl="0" indent="0" algn="l" rtl="0">
              <a:spcBef>
                <a:spcPts val="0"/>
              </a:spcBef>
              <a:spcAft>
                <a:spcPts val="0"/>
              </a:spcAft>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2462ae5c23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2462ae5c23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2462ae5c23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2462ae5c23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2462ae5c23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2462ae5c23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need to make interdisciplinary teams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2462ae5c23_0_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2462ae5c23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1. Different Goals and Priorities</a:t>
            </a:r>
          </a:p>
          <a:p>
            <a:r>
              <a:rPr lang="en-CA" b="1" dirty="0"/>
              <a:t>Data scientists</a:t>
            </a:r>
            <a:r>
              <a:rPr lang="en-CA" dirty="0"/>
              <a:t> focus on model performance (accuracy, precision, recall, novelty, etc.).</a:t>
            </a:r>
          </a:p>
          <a:p>
            <a:r>
              <a:rPr lang="en-CA" b="1" dirty="0"/>
              <a:t>Software engineers</a:t>
            </a:r>
            <a:r>
              <a:rPr lang="en-CA" dirty="0"/>
              <a:t> focus on reliability, scalability, maintainability, and speed of deployment.</a:t>
            </a:r>
          </a:p>
          <a:p>
            <a:r>
              <a:rPr lang="en-CA" dirty="0"/>
              <a:t>Example: A data scientist may want to try a large, complex model that gets 1% more accuracy, while an engineer worries it will double inference time and crash production.</a:t>
            </a:r>
          </a:p>
          <a:p>
            <a:r>
              <a:rPr lang="en-CA" b="1" dirty="0"/>
              <a:t>2. Different Tools and Environments</a:t>
            </a:r>
          </a:p>
          <a:p>
            <a:r>
              <a:rPr lang="en-CA" dirty="0"/>
              <a:t>Data scientists often work in </a:t>
            </a:r>
            <a:r>
              <a:rPr lang="en-CA" b="1" dirty="0"/>
              <a:t>Python notebooks, </a:t>
            </a:r>
            <a:r>
              <a:rPr lang="en-CA" b="1" dirty="0" err="1"/>
              <a:t>Jupyter</a:t>
            </a:r>
            <a:r>
              <a:rPr lang="en-CA" b="1" dirty="0"/>
              <a:t>, or R</a:t>
            </a:r>
            <a:r>
              <a:rPr lang="en-CA" dirty="0"/>
              <a:t> with ad-hoc scripts.</a:t>
            </a:r>
          </a:p>
          <a:p>
            <a:r>
              <a:rPr lang="en-CA" dirty="0"/>
              <a:t>Engineers use </a:t>
            </a:r>
            <a:r>
              <a:rPr lang="en-CA" b="1" dirty="0"/>
              <a:t>production-grade frameworks</a:t>
            </a:r>
            <a:r>
              <a:rPr lang="en-CA" dirty="0"/>
              <a:t>, CI/CD pipelines, containerization, and strict coding standards.</a:t>
            </a:r>
          </a:p>
          <a:p>
            <a:r>
              <a:rPr lang="en-CA" dirty="0"/>
              <a:t>The handoff (moving from experiment to production) often fails because the code is not production-ready.</a:t>
            </a:r>
          </a:p>
          <a:p>
            <a:r>
              <a:rPr lang="en-CA" b="1" dirty="0"/>
              <a:t>3. Communication Gaps</a:t>
            </a:r>
          </a:p>
          <a:p>
            <a:r>
              <a:rPr lang="en-CA" dirty="0"/>
              <a:t>Data scientists speak in terms of </a:t>
            </a:r>
            <a:r>
              <a:rPr lang="en-CA" b="1" dirty="0"/>
              <a:t>statistical metrics</a:t>
            </a:r>
            <a:r>
              <a:rPr lang="en-CA" dirty="0"/>
              <a:t> and research papers.</a:t>
            </a:r>
          </a:p>
          <a:p>
            <a:r>
              <a:rPr lang="en-CA" dirty="0"/>
              <a:t>Engineers speak in terms of </a:t>
            </a:r>
            <a:r>
              <a:rPr lang="en-CA" b="1" dirty="0"/>
              <a:t>APIs, latency, memory limits, and deployment constraints</a:t>
            </a:r>
            <a:r>
              <a:rPr lang="en-CA" dirty="0"/>
              <a:t>.</a:t>
            </a:r>
          </a:p>
          <a:p>
            <a:r>
              <a:rPr lang="en-CA" dirty="0"/>
              <a:t>Without translation, teams misunderstand priorities (e.g., “high accuracy” doesn’t mean “usable in real time”).</a:t>
            </a:r>
          </a:p>
          <a:p>
            <a:r>
              <a:rPr lang="en-CA" b="1" dirty="0"/>
              <a:t>4. Iteration Speed vs. Stability</a:t>
            </a:r>
          </a:p>
          <a:p>
            <a:r>
              <a:rPr lang="en-CA" dirty="0"/>
              <a:t>Data scientists like </a:t>
            </a:r>
            <a:r>
              <a:rPr lang="en-CA" b="1" dirty="0"/>
              <a:t>fast iteration</a:t>
            </a:r>
            <a:r>
              <a:rPr lang="en-CA" dirty="0"/>
              <a:t>: tweak parameters, retrain, experiment.</a:t>
            </a:r>
          </a:p>
          <a:p>
            <a:r>
              <a:rPr lang="en-CA" dirty="0"/>
              <a:t>Engineers like </a:t>
            </a:r>
            <a:r>
              <a:rPr lang="en-CA" b="1" dirty="0"/>
              <a:t>stable versions</a:t>
            </a:r>
            <a:r>
              <a:rPr lang="en-CA" dirty="0"/>
              <a:t>: freeze a model, test it thoroughly, and roll it out in production.</a:t>
            </a:r>
          </a:p>
          <a:p>
            <a:r>
              <a:rPr lang="en-CA" dirty="0"/>
              <a:t>Tension arises when scientists push too many changes too quickly, or engineers resist updates.</a:t>
            </a:r>
          </a:p>
          <a:p>
            <a:r>
              <a:rPr lang="en-CA" b="1" dirty="0"/>
              <a:t>5. Data &amp; Infrastructure Needs</a:t>
            </a:r>
          </a:p>
          <a:p>
            <a:r>
              <a:rPr lang="en-CA" dirty="0"/>
              <a:t>Data scientists may request </a:t>
            </a:r>
            <a:r>
              <a:rPr lang="en-CA" b="1" dirty="0"/>
              <a:t>huge datasets, GPUs, or cloud resources</a:t>
            </a:r>
            <a:r>
              <a:rPr lang="en-CA" dirty="0"/>
              <a:t> to train models.</a:t>
            </a:r>
          </a:p>
          <a:p>
            <a:r>
              <a:rPr lang="en-CA" dirty="0"/>
              <a:t>Engineers need to </a:t>
            </a:r>
            <a:r>
              <a:rPr lang="en-CA" b="1" dirty="0"/>
              <a:t>control costs and manage infrastructure</a:t>
            </a:r>
            <a:r>
              <a:rPr lang="en-CA" dirty="0"/>
              <a:t>.</a:t>
            </a:r>
          </a:p>
          <a:p>
            <a:r>
              <a:rPr lang="en-CA" dirty="0"/>
              <a:t>This can cause friction when resource allocation isn’t aligned with company priorities.</a:t>
            </a:r>
          </a:p>
          <a:p>
            <a:r>
              <a:rPr lang="en-CA" b="1" dirty="0"/>
              <a:t>6. Ownership &amp; Accountability</a:t>
            </a:r>
          </a:p>
          <a:p>
            <a:r>
              <a:rPr lang="en-CA" dirty="0"/>
              <a:t>If a model fails in production (e.g., poor predictions, biased outputs), </a:t>
            </a:r>
            <a:r>
              <a:rPr lang="en-CA" b="1" dirty="0"/>
              <a:t>who is responsible?</a:t>
            </a:r>
            <a:endParaRPr lang="en-CA" dirty="0"/>
          </a:p>
          <a:p>
            <a:r>
              <a:rPr lang="en-CA" dirty="0"/>
              <a:t>Data scientists might say, </a:t>
            </a:r>
            <a:r>
              <a:rPr lang="en-CA" i="1" dirty="0"/>
              <a:t>“The model was fine; maybe the system wasn’t configured properly.”</a:t>
            </a:r>
            <a:endParaRPr lang="en-CA" dirty="0"/>
          </a:p>
          <a:p>
            <a:r>
              <a:rPr lang="en-CA" dirty="0"/>
              <a:t>Engineers might say, </a:t>
            </a:r>
            <a:r>
              <a:rPr lang="en-CA" i="1" dirty="0"/>
              <a:t>“The system was fine; the model just didn’t generalize well.”</a:t>
            </a:r>
            <a:endParaRPr lang="en-CA" dirty="0"/>
          </a:p>
          <a:p>
            <a:r>
              <a:rPr lang="en-CA" dirty="0"/>
              <a:t>Lack of clear ownership slows down debugging and problem-solving.</a:t>
            </a:r>
          </a:p>
          <a:p>
            <a:pPr marL="0" lvl="0" indent="0" algn="l" rtl="0">
              <a:spcBef>
                <a:spcPts val="0"/>
              </a:spcBef>
              <a:spcAft>
                <a:spcPts val="0"/>
              </a:spcAft>
              <a:buNone/>
            </a:pP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2462ae5c23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2462ae5c23_0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Software Engineers might focus on:</a:t>
            </a:r>
          </a:p>
          <a:p>
            <a:r>
              <a:rPr lang="en-CA" b="1" dirty="0"/>
              <a:t>Scalability &amp; performance</a:t>
            </a:r>
            <a:endParaRPr lang="en-CA" dirty="0"/>
          </a:p>
          <a:p>
            <a:pPr lvl="1"/>
            <a:r>
              <a:rPr lang="en-CA" dirty="0"/>
              <a:t>Can the system handle thousands of simultaneous song requests?</a:t>
            </a:r>
          </a:p>
          <a:p>
            <a:pPr lvl="1"/>
            <a:r>
              <a:rPr lang="en-CA" dirty="0"/>
              <a:t>Optimize latency so songs generate quickly.</a:t>
            </a:r>
          </a:p>
          <a:p>
            <a:r>
              <a:rPr lang="en-CA" b="1" dirty="0"/>
              <a:t>Reliability &amp; uptime</a:t>
            </a:r>
            <a:endParaRPr lang="en-CA" dirty="0"/>
          </a:p>
          <a:p>
            <a:pPr lvl="1"/>
            <a:r>
              <a:rPr lang="en-CA" dirty="0"/>
              <a:t>Monitoring, logging, auto-scaling, error recovery.</a:t>
            </a:r>
          </a:p>
          <a:p>
            <a:r>
              <a:rPr lang="en-CA" b="1" dirty="0"/>
              <a:t>Product infrastructure</a:t>
            </a:r>
            <a:endParaRPr lang="en-CA" dirty="0"/>
          </a:p>
          <a:p>
            <a:pPr lvl="1"/>
            <a:r>
              <a:rPr lang="en-CA" dirty="0"/>
              <a:t>Building the web app, APIs, user accounts, payment systems.</a:t>
            </a:r>
          </a:p>
          <a:p>
            <a:r>
              <a:rPr lang="en-CA" b="1" dirty="0"/>
              <a:t>Security &amp; privacy</a:t>
            </a:r>
            <a:endParaRPr lang="en-CA" dirty="0"/>
          </a:p>
          <a:p>
            <a:pPr lvl="1"/>
            <a:r>
              <a:rPr lang="en-CA" dirty="0"/>
              <a:t>Protect user data, prevent abuse (e.g., bots, malicious prompts).</a:t>
            </a:r>
          </a:p>
          <a:p>
            <a:r>
              <a:rPr lang="en-CA" b="1" dirty="0"/>
              <a:t>Deployment &amp; DevOps</a:t>
            </a:r>
            <a:endParaRPr lang="en-CA" dirty="0"/>
          </a:p>
          <a:p>
            <a:pPr lvl="1"/>
            <a:r>
              <a:rPr lang="en-CA" dirty="0"/>
              <a:t>Smooth CI/CD pipelines, version control, and rollbacks.</a:t>
            </a:r>
          </a:p>
          <a:p>
            <a:r>
              <a:rPr lang="en-CA" b="1" dirty="0"/>
              <a:t>Data Scientists might focus on:</a:t>
            </a:r>
          </a:p>
          <a:p>
            <a:r>
              <a:rPr lang="en-CA" b="1" dirty="0"/>
              <a:t>Model quality</a:t>
            </a:r>
            <a:endParaRPr lang="en-CA" dirty="0"/>
          </a:p>
          <a:p>
            <a:pPr lvl="1"/>
            <a:r>
              <a:rPr lang="en-CA" dirty="0"/>
              <a:t>How good does the generated music sound? Does it follow the prompt?</a:t>
            </a:r>
          </a:p>
          <a:p>
            <a:r>
              <a:rPr lang="en-CA" b="1" dirty="0"/>
              <a:t>Evaluation metrics</a:t>
            </a:r>
            <a:endParaRPr lang="en-CA" dirty="0"/>
          </a:p>
          <a:p>
            <a:pPr lvl="1"/>
            <a:r>
              <a:rPr lang="en-CA" dirty="0"/>
              <a:t>Define quality measures: coherence, diversity, user satisfaction.</a:t>
            </a:r>
          </a:p>
          <a:p>
            <a:r>
              <a:rPr lang="en-CA" b="1" dirty="0"/>
              <a:t>Personalization</a:t>
            </a:r>
            <a:endParaRPr lang="en-CA" dirty="0"/>
          </a:p>
          <a:p>
            <a:pPr lvl="1"/>
            <a:r>
              <a:rPr lang="en-CA" dirty="0"/>
              <a:t>Learn from user behavior to tailor music (genres, moods, instruments).</a:t>
            </a:r>
          </a:p>
          <a:p>
            <a:r>
              <a:rPr lang="en-CA" b="1" dirty="0"/>
              <a:t>Experimentation</a:t>
            </a:r>
            <a:endParaRPr lang="en-CA" dirty="0"/>
          </a:p>
          <a:p>
            <a:pPr lvl="1"/>
            <a:r>
              <a:rPr lang="en-CA" dirty="0"/>
              <a:t>A/B testing model variants, fine-tuning prompts, exploring architectures.</a:t>
            </a:r>
          </a:p>
          <a:p>
            <a:r>
              <a:rPr lang="en-CA" b="1" dirty="0"/>
              <a:t>Bias &amp; coverage</a:t>
            </a:r>
            <a:endParaRPr lang="en-CA" dirty="0"/>
          </a:p>
          <a:p>
            <a:pPr lvl="1"/>
            <a:r>
              <a:rPr lang="en-CA" dirty="0"/>
              <a:t>Does the system work equally well across genres, cultures, and languages?</a:t>
            </a:r>
          </a:p>
          <a:p>
            <a:r>
              <a:rPr lang="en-CA" b="1" dirty="0"/>
              <a:t>Overlap (where they collaborate)</a:t>
            </a:r>
          </a:p>
          <a:p>
            <a:r>
              <a:rPr lang="en-CA" b="1" dirty="0"/>
              <a:t>User experience</a:t>
            </a:r>
            <a:r>
              <a:rPr lang="en-CA" dirty="0"/>
              <a:t>: SEs care about performance, DSs about quality—both must align.</a:t>
            </a:r>
          </a:p>
          <a:p>
            <a:r>
              <a:rPr lang="en-CA" b="1" dirty="0"/>
              <a:t>Feedback loops</a:t>
            </a:r>
            <a:r>
              <a:rPr lang="en-CA" dirty="0"/>
              <a:t>: SEs build the logging systems, DSs analyze the data.</a:t>
            </a:r>
          </a:p>
          <a:p>
            <a:r>
              <a:rPr lang="en-CA" b="1" dirty="0"/>
              <a:t>Deployment of new models</a:t>
            </a:r>
            <a:r>
              <a:rPr lang="en-CA" dirty="0"/>
              <a:t>: DSs design them, SEs integrate them safely.</a:t>
            </a:r>
          </a:p>
          <a:p>
            <a:pPr marL="0" lvl="0" indent="0" algn="l" rtl="0">
              <a:spcBef>
                <a:spcPts val="0"/>
              </a:spcBef>
              <a:spcAft>
                <a:spcPts val="0"/>
              </a:spcAft>
              <a:buNone/>
            </a:pP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32462ae5c23_1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32462ae5c23_1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1. Traditional Software Engineering (SE)</a:t>
            </a:r>
          </a:p>
          <a:p>
            <a:r>
              <a:rPr lang="en-CA" dirty="0"/>
              <a:t>In regular software:</a:t>
            </a:r>
          </a:p>
          <a:p>
            <a:pPr lvl="1"/>
            <a:r>
              <a:rPr lang="en-CA" dirty="0"/>
              <a:t>You </a:t>
            </a:r>
            <a:r>
              <a:rPr lang="en-CA" b="1" dirty="0"/>
              <a:t>specify exactly what to do</a:t>
            </a:r>
            <a:r>
              <a:rPr lang="en-CA" dirty="0"/>
              <a:t> (inputs → outputs).</a:t>
            </a:r>
          </a:p>
          <a:p>
            <a:pPr lvl="1"/>
            <a:r>
              <a:rPr lang="en-CA" dirty="0"/>
              <a:t>You </a:t>
            </a:r>
            <a:r>
              <a:rPr lang="en-CA" b="1" dirty="0"/>
              <a:t>write tests</a:t>
            </a:r>
            <a:r>
              <a:rPr lang="en-CA" dirty="0"/>
              <a:t> to check if the program behaves correctly.</a:t>
            </a:r>
          </a:p>
          <a:p>
            <a:r>
              <a:rPr lang="en-CA" dirty="0"/>
              <a:t>Example: If you code add(2,3), you know it must return 5. Testing is straightforward.</a:t>
            </a:r>
          </a:p>
          <a:p>
            <a:r>
              <a:rPr lang="en-CA" b="1" dirty="0"/>
              <a:t>2. Machine Learning (ML) is different</a:t>
            </a:r>
          </a:p>
          <a:p>
            <a:r>
              <a:rPr lang="en-CA" dirty="0"/>
              <a:t>ML models are often </a:t>
            </a:r>
            <a:r>
              <a:rPr lang="en-CA" b="1" dirty="0"/>
              <a:t>black boxes</a:t>
            </a:r>
            <a:r>
              <a:rPr lang="en-CA" dirty="0"/>
              <a:t>:</a:t>
            </a:r>
          </a:p>
          <a:p>
            <a:pPr lvl="1"/>
            <a:r>
              <a:rPr lang="en-CA" dirty="0"/>
              <a:t>Even if you know the inputs, it’s hard to predict </a:t>
            </a:r>
            <a:r>
              <a:rPr lang="en-CA" i="1" dirty="0"/>
              <a:t>exactly</a:t>
            </a:r>
            <a:r>
              <a:rPr lang="en-CA" dirty="0"/>
              <a:t> what output will come out.</a:t>
            </a:r>
          </a:p>
          <a:p>
            <a:pPr lvl="1"/>
            <a:r>
              <a:rPr lang="en-CA" dirty="0"/>
              <a:t>This is partly justified, because ML solves very complex problems (like speech recognition, image classification, or natural language understanding).</a:t>
            </a:r>
          </a:p>
          <a:p>
            <a:r>
              <a:rPr lang="en-CA" b="1" dirty="0"/>
              <a:t>3. The “specification” challenge</a:t>
            </a:r>
          </a:p>
          <a:p>
            <a:r>
              <a:rPr lang="en-CA" dirty="0"/>
              <a:t>In ML, even if you provide specifications or instructions (like a function signature or an LLM prompt), you </a:t>
            </a:r>
            <a:r>
              <a:rPr lang="en-CA" b="1" dirty="0"/>
              <a:t>can’t guarantee the system will behave exactly as intended</a:t>
            </a:r>
            <a:r>
              <a:rPr lang="en-CA" dirty="0"/>
              <a:t>.</a:t>
            </a:r>
          </a:p>
          <a:p>
            <a:r>
              <a:rPr lang="en-CA" dirty="0"/>
              <a:t>Example shown in the slide:</a:t>
            </a:r>
          </a:p>
          <a:p>
            <a:pPr rtl="0"/>
            <a:r>
              <a:rPr lang="en-CA" dirty="0"/>
              <a:t>/** * Return the text spoken within the audio file */ String transcribe(File </a:t>
            </a:r>
            <a:r>
              <a:rPr lang="en-CA" dirty="0" err="1"/>
              <a:t>audioFile</a:t>
            </a:r>
            <a:r>
              <a:rPr lang="en-CA" dirty="0"/>
              <a:t>); </a:t>
            </a:r>
          </a:p>
          <a:p>
            <a:pPr lvl="1"/>
            <a:r>
              <a:rPr lang="en-CA" dirty="0"/>
              <a:t>In traditional SE, you’d expect this function to always work consistently.</a:t>
            </a:r>
          </a:p>
          <a:p>
            <a:pPr lvl="1"/>
            <a:r>
              <a:rPr lang="en-CA" dirty="0"/>
              <a:t>In ML, results may vary depending on background noise, accents, or unseen data.</a:t>
            </a:r>
          </a:p>
          <a:p>
            <a:r>
              <a:rPr lang="en-CA" dirty="0"/>
              <a:t>: </a:t>
            </a:r>
            <a:r>
              <a:rPr lang="en-CA" i="1" dirty="0"/>
              <a:t>“In traditional SE, testing is like checking a calculator. In ML, testing is like checking a student — sometimes they get it right, sometimes they misunderstand, and you can’t always predict when.”</a:t>
            </a:r>
            <a:endParaRPr lang="en-CA" dirty="0"/>
          </a:p>
          <a:p>
            <a:r>
              <a:rPr lang="en-CA" dirty="0"/>
              <a:t>Key challenges:</a:t>
            </a:r>
          </a:p>
          <a:p>
            <a:pPr lvl="1"/>
            <a:r>
              <a:rPr lang="en-CA" dirty="0"/>
              <a:t>Lack of determinism.</a:t>
            </a:r>
          </a:p>
          <a:p>
            <a:pPr lvl="1"/>
            <a:r>
              <a:rPr lang="en-CA" dirty="0"/>
              <a:t>Hard to write exhaustive test cases.</a:t>
            </a:r>
          </a:p>
          <a:p>
            <a:pPr lvl="1"/>
            <a:r>
              <a:rPr lang="en-CA" dirty="0"/>
              <a:t>Model drift (performance can degrade over time).</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6040966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32462ae5c23_1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32462ae5c23_1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1. Specs come from data</a:t>
            </a:r>
          </a:p>
          <a:p>
            <a:r>
              <a:rPr lang="en-CA" dirty="0"/>
              <a:t>Traditional software: you write the rules explicitly.</a:t>
            </a:r>
          </a:p>
          <a:p>
            <a:r>
              <a:rPr lang="en-CA" dirty="0"/>
              <a:t>Machine learning: the “rules” (or specifications) are learned from data.</a:t>
            </a:r>
          </a:p>
          <a:p>
            <a:r>
              <a:rPr lang="en-CA" dirty="0"/>
              <a:t>Say: </a:t>
            </a:r>
            <a:r>
              <a:rPr lang="en-CA" i="1" dirty="0"/>
              <a:t>“The larger and more diverse the dataset, the better the model tends to perform.”</a:t>
            </a:r>
            <a:endParaRPr lang="en-CA" dirty="0"/>
          </a:p>
          <a:p>
            <a:r>
              <a:rPr lang="en-CA" dirty="0"/>
              <a:t>Example: A speech recognition system improves if it’s trained on many accents and noise conditions.</a:t>
            </a:r>
          </a:p>
          <a:p>
            <a:r>
              <a:rPr lang="en-CA" b="1" dirty="0"/>
              <a:t>2. Deductive vs. Inductive reasoning</a:t>
            </a:r>
          </a:p>
          <a:p>
            <a:r>
              <a:rPr lang="en-CA" b="1" dirty="0"/>
              <a:t>Deductive reasoning (traditional SE):</a:t>
            </a:r>
            <a:r>
              <a:rPr lang="en-CA" dirty="0"/>
              <a:t> Apply logic rules directly. (e.g., </a:t>
            </a:r>
            <a:r>
              <a:rPr lang="en-CA" i="1" dirty="0"/>
              <a:t>If password == </a:t>
            </a:r>
            <a:r>
              <a:rPr lang="en-CA" i="1" dirty="0" err="1"/>
              <a:t>correctPassword</a:t>
            </a:r>
            <a:r>
              <a:rPr lang="en-CA" i="1" dirty="0"/>
              <a:t>, then grant access</a:t>
            </a:r>
            <a:r>
              <a:rPr lang="en-CA" dirty="0"/>
              <a:t>).</a:t>
            </a:r>
          </a:p>
          <a:p>
            <a:r>
              <a:rPr lang="en-CA" b="1" dirty="0"/>
              <a:t>Inductive reasoning (ML):</a:t>
            </a:r>
            <a:r>
              <a:rPr lang="en-CA" dirty="0"/>
              <a:t> Generalize from examples. (e.g., </a:t>
            </a:r>
            <a:r>
              <a:rPr lang="en-CA" i="1" dirty="0"/>
              <a:t>Given thousands of voice samples, the model learns patterns to recognize words</a:t>
            </a:r>
            <a:r>
              <a:rPr lang="en-CA" dirty="0"/>
              <a:t>).</a:t>
            </a:r>
          </a:p>
          <a:p>
            <a:r>
              <a:rPr lang="en-CA" dirty="0"/>
              <a:t>Say: </a:t>
            </a:r>
            <a:r>
              <a:rPr lang="en-CA" i="1" dirty="0"/>
              <a:t>“ML flips the problem: instead of coding the rules, we code a system that learns rules from examples.”</a:t>
            </a:r>
            <a:endParaRPr lang="en-CA" dirty="0"/>
          </a:p>
          <a:p>
            <a:r>
              <a:rPr lang="en-CA" b="1" dirty="0"/>
              <a:t>3. Scalability issues</a:t>
            </a:r>
          </a:p>
          <a:p>
            <a:r>
              <a:rPr lang="en-CA" dirty="0"/>
              <a:t>ML loves more data, but that comes with challenges:</a:t>
            </a:r>
          </a:p>
          <a:p>
            <a:pPr lvl="1"/>
            <a:r>
              <a:rPr lang="en-CA" b="1" dirty="0"/>
              <a:t>Storage and computation</a:t>
            </a:r>
            <a:r>
              <a:rPr lang="en-CA" dirty="0"/>
              <a:t> → handling massive datasets.</a:t>
            </a:r>
          </a:p>
          <a:p>
            <a:pPr lvl="1"/>
            <a:r>
              <a:rPr lang="en-CA" b="1" dirty="0"/>
              <a:t>Training time</a:t>
            </a:r>
            <a:r>
              <a:rPr lang="en-CA" dirty="0"/>
              <a:t> → scaling models across GPUs/TPUs.</a:t>
            </a:r>
          </a:p>
          <a:p>
            <a:pPr lvl="1"/>
            <a:r>
              <a:rPr lang="en-CA" b="1" dirty="0"/>
              <a:t>System complexity</a:t>
            </a:r>
            <a:r>
              <a:rPr lang="en-CA" dirty="0"/>
              <a:t> → pipelines, monitoring, updating models.</a:t>
            </a:r>
          </a:p>
          <a:p>
            <a:r>
              <a:rPr lang="en-CA" b="1" dirty="0"/>
              <a:t>4. The data flywheel (diagram explanation)</a:t>
            </a:r>
          </a:p>
          <a:p>
            <a:r>
              <a:rPr lang="en-CA" dirty="0"/>
              <a:t>Walk students through the cycle on the right:</a:t>
            </a:r>
          </a:p>
          <a:p>
            <a:r>
              <a:rPr lang="en-CA" b="1" dirty="0"/>
              <a:t>More users</a:t>
            </a:r>
            <a:r>
              <a:rPr lang="en-CA" dirty="0"/>
              <a:t> interact with your product.</a:t>
            </a:r>
          </a:p>
          <a:p>
            <a:r>
              <a:rPr lang="en-CA" dirty="0"/>
              <a:t>They generate </a:t>
            </a:r>
            <a:r>
              <a:rPr lang="en-CA" b="1" dirty="0"/>
              <a:t>more data</a:t>
            </a:r>
            <a:r>
              <a:rPr lang="en-CA" dirty="0"/>
              <a:t>.</a:t>
            </a:r>
          </a:p>
          <a:p>
            <a:r>
              <a:rPr lang="en-CA" dirty="0"/>
              <a:t>More data → enables </a:t>
            </a:r>
            <a:r>
              <a:rPr lang="en-CA" b="1" dirty="0"/>
              <a:t>smarter algorithms</a:t>
            </a:r>
            <a:r>
              <a:rPr lang="en-CA" dirty="0"/>
              <a:t>.</a:t>
            </a:r>
          </a:p>
          <a:p>
            <a:r>
              <a:rPr lang="en-CA" dirty="0"/>
              <a:t>Smarter algorithms → deliver a </a:t>
            </a:r>
            <a:r>
              <a:rPr lang="en-CA" b="1" dirty="0"/>
              <a:t>better product</a:t>
            </a:r>
            <a:r>
              <a:rPr lang="en-CA" dirty="0"/>
              <a:t>.</a:t>
            </a:r>
          </a:p>
          <a:p>
            <a:r>
              <a:rPr lang="en-CA" dirty="0"/>
              <a:t>Better product → attracts </a:t>
            </a:r>
            <a:r>
              <a:rPr lang="en-CA" b="1" dirty="0"/>
              <a:t>more users</a:t>
            </a:r>
            <a:r>
              <a:rPr lang="en-CA" dirty="0"/>
              <a:t> … and the cycle repeats.</a:t>
            </a:r>
          </a:p>
          <a:p>
            <a:r>
              <a:rPr lang="en-CA" dirty="0"/>
              <a:t>This explains why companies like Google, Amazon, and TikTok scale so fast—more users → more data → stronger models → even more users.</a:t>
            </a:r>
          </a:p>
          <a:p>
            <a:r>
              <a:rPr lang="en-CA" dirty="0"/>
              <a:t>👉 Teaching tip: You can ask students:</a:t>
            </a:r>
          </a:p>
          <a:p>
            <a:r>
              <a:rPr lang="en-CA" i="1" dirty="0"/>
              <a:t>“What are examples of products where this data flywheel effect is very obvious?”</a:t>
            </a:r>
            <a:endParaRPr lang="en-CA" dirty="0"/>
          </a:p>
          <a:p>
            <a:pPr lvl="1"/>
            <a:r>
              <a:rPr lang="en-CA" dirty="0"/>
              <a:t>Expected answers: TikTok recommendations, Netflix, Spotify, YouTube, Google Search.</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8725137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32462ae5c23_1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32462ae5c23_1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1. The funny but real-world example</a:t>
            </a:r>
          </a:p>
          <a:p>
            <a:r>
              <a:rPr lang="en-CA" dirty="0"/>
              <a:t>Story: </a:t>
            </a:r>
            <a:r>
              <a:rPr lang="en-CA" i="1" dirty="0"/>
              <a:t>“During a soccer match in Scotland, an AI-powered camera was supposed to follow the ball. Instead, it kept zooming in on the linesman’s bald head—mistaking it for the ball.”</a:t>
            </a:r>
            <a:endParaRPr lang="en-CA" dirty="0"/>
          </a:p>
          <a:p>
            <a:r>
              <a:rPr lang="en-CA" dirty="0"/>
              <a:t>This is a great, memorable example of ML failure because:</a:t>
            </a:r>
          </a:p>
          <a:p>
            <a:pPr lvl="1"/>
            <a:r>
              <a:rPr lang="en-CA" dirty="0"/>
              <a:t>The model learned from patterns in the data (round object, moving, shiny).</a:t>
            </a:r>
          </a:p>
          <a:p>
            <a:pPr lvl="1"/>
            <a:r>
              <a:rPr lang="en-CA" dirty="0"/>
              <a:t>It had no deeper “understanding” of soccer.</a:t>
            </a:r>
          </a:p>
          <a:p>
            <a:r>
              <a:rPr lang="en-CA" b="1" dirty="0"/>
              <a:t>2. Why this happens</a:t>
            </a:r>
          </a:p>
          <a:p>
            <a:r>
              <a:rPr lang="en-CA" dirty="0"/>
              <a:t>ML doesn’t follow explicit rules like traditional software.</a:t>
            </a:r>
          </a:p>
          <a:p>
            <a:r>
              <a:rPr lang="en-CA" dirty="0"/>
              <a:t>Instead, it generalizes from training data, so it can make mistakes in situations it wasn’t trained for.</a:t>
            </a:r>
          </a:p>
          <a:p>
            <a:r>
              <a:rPr lang="en-CA" dirty="0"/>
              <a:t>These errors are often </a:t>
            </a:r>
            <a:r>
              <a:rPr lang="en-CA" b="1" dirty="0"/>
              <a:t>hard to foresee</a:t>
            </a:r>
            <a:r>
              <a:rPr lang="en-CA" dirty="0"/>
              <a:t> because there’s no detailed specification for “ball-ness” or “head-ness.”</a:t>
            </a:r>
          </a:p>
          <a:p>
            <a:r>
              <a:rPr lang="en-CA" b="1" dirty="0"/>
              <a:t>3. The deeper challenge</a:t>
            </a:r>
          </a:p>
          <a:p>
            <a:r>
              <a:rPr lang="en-CA" dirty="0"/>
              <a:t>Ask: </a:t>
            </a:r>
            <a:r>
              <a:rPr lang="en-CA" i="1" dirty="0"/>
              <a:t>“What does it even mean for the system to be ‘correct’?”</a:t>
            </a:r>
            <a:endParaRPr lang="en-CA" dirty="0"/>
          </a:p>
          <a:p>
            <a:pPr lvl="1"/>
            <a:r>
              <a:rPr lang="en-CA" dirty="0"/>
              <a:t>In traditional software: correctness = matches the spec.</a:t>
            </a:r>
          </a:p>
          <a:p>
            <a:pPr lvl="1"/>
            <a:r>
              <a:rPr lang="en-CA" dirty="0"/>
              <a:t>In ML: correctness is </a:t>
            </a:r>
            <a:r>
              <a:rPr lang="en-CA" b="1" dirty="0"/>
              <a:t>statistical</a:t>
            </a:r>
            <a:r>
              <a:rPr lang="en-CA" dirty="0"/>
              <a:t> → the model only needs to be right </a:t>
            </a:r>
            <a:r>
              <a:rPr lang="en-CA" i="1" dirty="0"/>
              <a:t>most of the time</a:t>
            </a:r>
            <a:r>
              <a:rPr lang="en-CA" dirty="0"/>
              <a:t> on average, according to test data.</a:t>
            </a:r>
          </a:p>
          <a:p>
            <a:r>
              <a:rPr lang="en-CA" b="1" dirty="0"/>
              <a:t>4. Teaching takeaway</a:t>
            </a:r>
          </a:p>
          <a:p>
            <a:r>
              <a:rPr lang="en-CA" dirty="0"/>
              <a:t>Say: </a:t>
            </a:r>
            <a:r>
              <a:rPr lang="en-CA" i="1" dirty="0"/>
              <a:t>“ML failures are not bugs in the usual sense. They’re unexpected behaviors that come from the limits of the data and the generalization process.”</a:t>
            </a:r>
            <a:endParaRPr lang="en-CA" dirty="0"/>
          </a:p>
          <a:p>
            <a:r>
              <a:rPr lang="en-CA" dirty="0"/>
              <a:t>Important point for future engineers: </a:t>
            </a:r>
            <a:r>
              <a:rPr lang="en-CA" b="1" dirty="0"/>
              <a:t>you can’t test every possible scenario</a:t>
            </a:r>
            <a:r>
              <a:rPr lang="en-CA" dirty="0"/>
              <a:t>—so robustness, monitoring, and diverse training data are critical.</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4892826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32462ae5c23_1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32462ae5c23_1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dirty="0"/>
              <a:t>Say: </a:t>
            </a:r>
            <a:r>
              <a:rPr lang="en-CA" i="1" dirty="0"/>
              <a:t>“This diagram represents a music creation application. Notice that ML is just </a:t>
            </a:r>
            <a:r>
              <a:rPr lang="en-CA" b="1" i="1" dirty="0"/>
              <a:t>one part</a:t>
            </a:r>
            <a:r>
              <a:rPr lang="en-CA" i="1" dirty="0"/>
              <a:t> of the whole system.”</a:t>
            </a:r>
            <a:endParaRPr lang="en-CA" dirty="0"/>
          </a:p>
          <a:p>
            <a:r>
              <a:rPr lang="en-CA" dirty="0"/>
              <a:t>Highlight: most of the system is </a:t>
            </a:r>
            <a:r>
              <a:rPr lang="en-CA" b="1" dirty="0"/>
              <a:t>non-ML components</a:t>
            </a:r>
            <a:r>
              <a:rPr lang="en-CA" dirty="0"/>
              <a:t> — user interface, accounts, payment, database, cloud, monitoring.</a:t>
            </a:r>
          </a:p>
          <a:p>
            <a:r>
              <a:rPr lang="en-CA" b="1" dirty="0"/>
              <a:t>2. The ML component</a:t>
            </a:r>
          </a:p>
          <a:p>
            <a:r>
              <a:rPr lang="en-CA" dirty="0"/>
              <a:t>The </a:t>
            </a:r>
            <a:r>
              <a:rPr lang="en-CA" b="1" dirty="0"/>
              <a:t>music generation block</a:t>
            </a:r>
            <a:r>
              <a:rPr lang="en-CA" dirty="0"/>
              <a:t> (highlighted) is the ML piece.</a:t>
            </a:r>
          </a:p>
          <a:p>
            <a:r>
              <a:rPr lang="en-CA" dirty="0"/>
              <a:t>It interacts with many other modules: user uploads, database, cloud processing, and ultimately with the </a:t>
            </a:r>
            <a:r>
              <a:rPr lang="en-CA" b="1" dirty="0"/>
              <a:t>outside world (the environment)</a:t>
            </a:r>
            <a:r>
              <a:rPr lang="en-CA" dirty="0"/>
              <a:t>.</a:t>
            </a:r>
          </a:p>
          <a:p>
            <a:r>
              <a:rPr lang="en-CA" dirty="0"/>
              <a:t>Say: </a:t>
            </a:r>
            <a:r>
              <a:rPr lang="en-CA" i="1" dirty="0"/>
              <a:t>“The ML part doesn’t live in isolation. Its outputs influence how users experience the system.”</a:t>
            </a:r>
            <a:endParaRPr lang="en-CA" dirty="0"/>
          </a:p>
          <a:p>
            <a:r>
              <a:rPr lang="en-CA" b="1" dirty="0"/>
              <a:t>3. Why this is challenging</a:t>
            </a:r>
          </a:p>
          <a:p>
            <a:r>
              <a:rPr lang="en-CA" dirty="0"/>
              <a:t>ML predictions are </a:t>
            </a:r>
            <a:r>
              <a:rPr lang="en-CA" b="1" dirty="0"/>
              <a:t>not always 100% correct</a:t>
            </a:r>
            <a:r>
              <a:rPr lang="en-CA" dirty="0"/>
              <a:t>.</a:t>
            </a:r>
          </a:p>
          <a:p>
            <a:r>
              <a:rPr lang="en-CA" dirty="0"/>
              <a:t>Example: A generated song might sound poor, inappropriate, or unexpected.</a:t>
            </a:r>
          </a:p>
          <a:p>
            <a:r>
              <a:rPr lang="en-CA" dirty="0"/>
              <a:t>The system must be designed to:</a:t>
            </a:r>
          </a:p>
          <a:p>
            <a:pPr lvl="1"/>
            <a:r>
              <a:rPr lang="en-CA" b="1" dirty="0"/>
              <a:t>Tolerate errors</a:t>
            </a:r>
            <a:r>
              <a:rPr lang="en-CA" dirty="0"/>
              <a:t> (e.g., give users a retry button, let them regenerate music).</a:t>
            </a:r>
          </a:p>
          <a:p>
            <a:pPr lvl="1"/>
            <a:r>
              <a:rPr lang="en-CA" b="1" dirty="0"/>
              <a:t>Monitor outputs</a:t>
            </a:r>
            <a:r>
              <a:rPr lang="en-CA" dirty="0"/>
              <a:t> to detect when something goes wrong.</a:t>
            </a:r>
          </a:p>
          <a:p>
            <a:pPr lvl="1"/>
            <a:r>
              <a:rPr lang="en-CA" b="1" dirty="0"/>
              <a:t>Log results</a:t>
            </a:r>
            <a:r>
              <a:rPr lang="en-CA" dirty="0"/>
              <a:t> to improve models in the future.</a:t>
            </a:r>
          </a:p>
          <a:p>
            <a:r>
              <a:rPr lang="en-CA" b="1" dirty="0"/>
              <a:t>4. Environment interaction</a:t>
            </a:r>
          </a:p>
          <a:p>
            <a:r>
              <a:rPr lang="en-CA" dirty="0"/>
              <a:t>The arrows show the system’s connection with the environment:</a:t>
            </a:r>
          </a:p>
          <a:p>
            <a:pPr lvl="1"/>
            <a:r>
              <a:rPr lang="en-CA" b="1" dirty="0"/>
              <a:t>Users</a:t>
            </a:r>
            <a:r>
              <a:rPr lang="en-CA" dirty="0"/>
              <a:t> give input (e.g., a prompt for music).</a:t>
            </a:r>
          </a:p>
          <a:p>
            <a:pPr lvl="1"/>
            <a:r>
              <a:rPr lang="en-CA" dirty="0"/>
              <a:t>The system processes and outputs music.</a:t>
            </a:r>
          </a:p>
          <a:p>
            <a:pPr lvl="1"/>
            <a:r>
              <a:rPr lang="en-CA" dirty="0"/>
              <a:t>If the ML model fails, the environment (users, business reputation) feels the consequences.</a:t>
            </a:r>
          </a:p>
          <a:p>
            <a:r>
              <a:rPr lang="en-CA" b="1" dirty="0"/>
              <a:t>5. Teaching takeaway</a:t>
            </a:r>
          </a:p>
          <a:p>
            <a:r>
              <a:rPr lang="en-CA" dirty="0"/>
              <a:t>Say: </a:t>
            </a:r>
            <a:r>
              <a:rPr lang="en-CA" i="1" dirty="0"/>
              <a:t>“When we build software with ML, we can’t just focus on the model. We must think about the system around it: logging, monitoring, error handling, and user experience. Otherwise, one wrong prediction could ruin the whole product.”</a:t>
            </a:r>
            <a:endParaRPr lang="en-CA"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30381863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32462ae5c23_1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32462ae5c23_1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Slide 1 – Complexity in Traditional Software</a:t>
            </a:r>
          </a:p>
          <a:p>
            <a:r>
              <a:rPr lang="en-CA" dirty="0"/>
              <a:t>The </a:t>
            </a:r>
            <a:r>
              <a:rPr lang="en-CA" b="1" dirty="0"/>
              <a:t>x-axis = risk</a:t>
            </a:r>
            <a:r>
              <a:rPr lang="en-CA" dirty="0"/>
              <a:t> (how dangerous if something goes wrong).</a:t>
            </a:r>
          </a:p>
          <a:p>
            <a:r>
              <a:rPr lang="en-CA" dirty="0"/>
              <a:t>The </a:t>
            </a:r>
            <a:r>
              <a:rPr lang="en-CA" b="1" dirty="0"/>
              <a:t>y-axis = number of systems</a:t>
            </a:r>
            <a:r>
              <a:rPr lang="en-CA" dirty="0"/>
              <a:t> (how many types of systems exist at that level).</a:t>
            </a:r>
          </a:p>
          <a:p>
            <a:r>
              <a:rPr lang="en-CA" dirty="0"/>
              <a:t>Most traditional systems are </a:t>
            </a:r>
            <a:r>
              <a:rPr lang="en-CA" b="1" dirty="0"/>
              <a:t>low-to-medium risk</a:t>
            </a:r>
            <a:r>
              <a:rPr lang="en-CA" dirty="0"/>
              <a:t> (restaurant websites, video streaming, conference websites).</a:t>
            </a:r>
          </a:p>
          <a:p>
            <a:r>
              <a:rPr lang="en-CA" dirty="0"/>
              <a:t>Fewer systems exist at the </a:t>
            </a:r>
            <a:r>
              <a:rPr lang="en-CA" b="1" dirty="0"/>
              <a:t>high-risk end</a:t>
            </a:r>
            <a:r>
              <a:rPr lang="en-CA" dirty="0"/>
              <a:t> (nuclear power plants, space exploration).</a:t>
            </a:r>
          </a:p>
          <a:p>
            <a:r>
              <a:rPr lang="en-CA" dirty="0"/>
              <a:t>Say: </a:t>
            </a:r>
            <a:r>
              <a:rPr lang="en-CA" i="1" dirty="0"/>
              <a:t>“Traditional software spans a spectrum, but most of what we see daily—apps, websites—falls into low-risk, even if they’re complex.”</a:t>
            </a:r>
            <a:endParaRPr lang="en-CA" dirty="0"/>
          </a:p>
          <a:p>
            <a:r>
              <a:rPr lang="en-CA" b="1" dirty="0"/>
              <a:t>Slide 2 – Complexity in Software with ML Components</a:t>
            </a:r>
          </a:p>
          <a:p>
            <a:r>
              <a:rPr lang="en-CA" dirty="0"/>
              <a:t>Now, a second curve (blue) shows </a:t>
            </a:r>
            <a:r>
              <a:rPr lang="en-CA" b="1" dirty="0"/>
              <a:t>ML-enabled systems</a:t>
            </a:r>
            <a:r>
              <a:rPr lang="en-CA" dirty="0"/>
              <a:t>.</a:t>
            </a:r>
          </a:p>
          <a:p>
            <a:r>
              <a:rPr lang="en-CA" dirty="0"/>
              <a:t>These appear in </a:t>
            </a:r>
            <a:r>
              <a:rPr lang="en-CA" b="1" dirty="0"/>
              <a:t>different parts of the risk spectrum</a:t>
            </a:r>
            <a:r>
              <a:rPr lang="en-CA" dirty="0"/>
              <a:t>:</a:t>
            </a:r>
          </a:p>
          <a:p>
            <a:pPr lvl="1"/>
            <a:r>
              <a:rPr lang="en-CA" b="1" dirty="0"/>
              <a:t>Lower risk examples:</a:t>
            </a:r>
            <a:r>
              <a:rPr lang="en-CA" dirty="0"/>
              <a:t> Game AI, traffic planning, photo filters.</a:t>
            </a:r>
          </a:p>
          <a:p>
            <a:pPr lvl="1"/>
            <a:r>
              <a:rPr lang="en-CA" b="1" dirty="0"/>
              <a:t>Medium risk examples:</a:t>
            </a:r>
            <a:r>
              <a:rPr lang="en-CA" dirty="0"/>
              <a:t> Photo search, social media feeds, smart homes, automated transcription.</a:t>
            </a:r>
          </a:p>
          <a:p>
            <a:pPr lvl="1"/>
            <a:r>
              <a:rPr lang="en-CA" b="1" dirty="0"/>
              <a:t>High risk examples:</a:t>
            </a:r>
            <a:r>
              <a:rPr lang="en-CA" dirty="0"/>
              <a:t> Autonomous vehicles, predictive policing, deepfakes.</a:t>
            </a:r>
          </a:p>
          <a:p>
            <a:r>
              <a:rPr lang="en-CA" dirty="0"/>
              <a:t>Say: </a:t>
            </a:r>
            <a:r>
              <a:rPr lang="en-CA" i="1" dirty="0"/>
              <a:t>“ML shifts complexity and risk into new domains. Some of these systems influence society directly—like predictive policing or deepfakes—so the risks are social and ethical, not just technical.”</a:t>
            </a:r>
            <a:endParaRPr lang="en-CA" dirty="0"/>
          </a:p>
          <a:p>
            <a:r>
              <a:rPr lang="en-CA" b="1" dirty="0"/>
              <a:t>Teaching Takeaways</a:t>
            </a:r>
          </a:p>
          <a:p>
            <a:r>
              <a:rPr lang="en-CA" b="1" dirty="0"/>
              <a:t>Traditional software risk</a:t>
            </a:r>
            <a:r>
              <a:rPr lang="en-CA" dirty="0"/>
              <a:t> is often tied to </a:t>
            </a:r>
            <a:r>
              <a:rPr lang="en-CA" b="1" dirty="0"/>
              <a:t>safety-critical infrastructure</a:t>
            </a:r>
            <a:r>
              <a:rPr lang="en-CA" dirty="0"/>
              <a:t> (e.g., power plants).</a:t>
            </a:r>
          </a:p>
          <a:p>
            <a:r>
              <a:rPr lang="en-CA" b="1" dirty="0"/>
              <a:t>ML software risk</a:t>
            </a:r>
            <a:r>
              <a:rPr lang="en-CA" dirty="0"/>
              <a:t> can emerge in everyday products (e.g., biased recommendations, misinformation) even if the technical system isn’t “safety critical.”</a:t>
            </a:r>
          </a:p>
          <a:p>
            <a:r>
              <a:rPr lang="en-CA" dirty="0"/>
              <a:t>Both curves overlap in the middle: you can build ML into relatively safe products (photo filters) or very high-risk ones (autonomous vehicles).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1722958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32462ae5c23_1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32462ae5c23_1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Mistakes here can affect privacy, safety, information exposure, or user experience.</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8821423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g379d0f3f0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 name="Google Shape;45;g379d0f3f0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Start with the three circles</a:t>
            </a:r>
          </a:p>
          <a:p>
            <a:r>
              <a:rPr lang="en-CA" b="1" dirty="0"/>
              <a:t>Computer Science / Hacking Skills (red circle):</a:t>
            </a:r>
            <a:br>
              <a:rPr lang="en-CA" dirty="0"/>
            </a:br>
            <a:r>
              <a:rPr lang="en-CA" dirty="0"/>
              <a:t>Practical programming ability—writing code, working with databases, manipulating large datasets, building prototypes.</a:t>
            </a:r>
          </a:p>
          <a:p>
            <a:r>
              <a:rPr lang="en-CA" b="1" dirty="0"/>
              <a:t>Math &amp; Statistics Knowledge (green circle):</a:t>
            </a:r>
            <a:br>
              <a:rPr lang="en-CA" dirty="0"/>
            </a:br>
            <a:r>
              <a:rPr lang="en-CA" dirty="0"/>
              <a:t>Understanding probability, statistics, linear algebra, optimization—tools to build and evaluate models.</a:t>
            </a:r>
          </a:p>
          <a:p>
            <a:r>
              <a:rPr lang="en-CA" b="1" dirty="0"/>
              <a:t>Domain/Business Expertise (purple circle):</a:t>
            </a:r>
            <a:br>
              <a:rPr lang="en-CA" dirty="0"/>
            </a:br>
            <a:r>
              <a:rPr lang="en-CA" dirty="0"/>
              <a:t>Knowing the specific field you’re applying data science to (e.g., healthcare, finance, retail). This helps interpret data in a meaningful way.</a:t>
            </a:r>
          </a:p>
          <a:p>
            <a:r>
              <a:rPr lang="en-CA" b="1" dirty="0"/>
              <a:t>2. Explain the overlaps</a:t>
            </a:r>
          </a:p>
          <a:p>
            <a:r>
              <a:rPr lang="en-CA" b="1" dirty="0"/>
              <a:t>Computer Science + Math &amp; Stats → Machine Learning</a:t>
            </a:r>
            <a:br>
              <a:rPr lang="en-CA" dirty="0"/>
            </a:br>
            <a:r>
              <a:rPr lang="en-CA" dirty="0"/>
              <a:t>If you know how to code and understand math, you can build machine learning models—but you may not know how to apply them correctly without domain expertise.</a:t>
            </a:r>
          </a:p>
          <a:p>
            <a:r>
              <a:rPr lang="en-CA" b="1" dirty="0"/>
              <a:t>Math &amp; Stats + Domain Expertise → Traditional Research</a:t>
            </a:r>
            <a:br>
              <a:rPr lang="en-CA" dirty="0"/>
            </a:br>
            <a:r>
              <a:rPr lang="en-CA" dirty="0"/>
              <a:t>This is what statisticians or domain researchers do: applying statistical methods to study specific questions.</a:t>
            </a:r>
          </a:p>
          <a:p>
            <a:r>
              <a:rPr lang="en-CA" b="1" dirty="0"/>
              <a:t>Computer Science + Domain Expertise → Danger Zone!</a:t>
            </a:r>
            <a:br>
              <a:rPr lang="en-CA" dirty="0"/>
            </a:br>
            <a:r>
              <a:rPr lang="en-CA" dirty="0"/>
              <a:t>You can write code and know the business problem, but without statistical grounding, you may make unreliable or misleading conclusions (e.g., mistaking correlation for causation).</a:t>
            </a:r>
          </a:p>
          <a:p>
            <a:r>
              <a:rPr lang="en-CA" b="1" dirty="0"/>
              <a:t>3. The Center: Data Science</a:t>
            </a:r>
          </a:p>
          <a:p>
            <a:r>
              <a:rPr lang="en-CA" dirty="0"/>
              <a:t>When </a:t>
            </a:r>
            <a:r>
              <a:rPr lang="en-CA" b="1" dirty="0"/>
              <a:t>all three skills overlap</a:t>
            </a:r>
            <a:r>
              <a:rPr lang="en-CA" dirty="0"/>
              <a:t>, you get a </a:t>
            </a:r>
            <a:r>
              <a:rPr lang="en-CA" b="1" dirty="0"/>
              <a:t>data scientist</a:t>
            </a:r>
            <a:r>
              <a:rPr lang="en-CA" dirty="0"/>
              <a:t>:</a:t>
            </a:r>
          </a:p>
          <a:p>
            <a:pPr lvl="1"/>
            <a:r>
              <a:rPr lang="en-CA" dirty="0"/>
              <a:t>Can code and manage data (hacking skills).</a:t>
            </a:r>
          </a:p>
          <a:p>
            <a:pPr lvl="1"/>
            <a:r>
              <a:rPr lang="en-CA" dirty="0"/>
              <a:t>Knows the math to build and evaluate models.</a:t>
            </a:r>
          </a:p>
          <a:p>
            <a:pPr lvl="1"/>
            <a:r>
              <a:rPr lang="en-CA" dirty="0"/>
              <a:t>Understands the business/domain to ask the </a:t>
            </a:r>
            <a:r>
              <a:rPr lang="en-CA" i="1" dirty="0"/>
              <a:t>right</a:t>
            </a:r>
            <a:r>
              <a:rPr lang="en-CA" dirty="0"/>
              <a:t> questions and interpret results correctly.</a:t>
            </a:r>
          </a:p>
          <a:p>
            <a:pPr marL="0" lvl="0" indent="0" algn="l" rtl="0">
              <a:spcBef>
                <a:spcPts val="0"/>
              </a:spcBef>
              <a:spcAft>
                <a:spcPts val="0"/>
              </a:spcAft>
              <a:buNone/>
            </a:pPr>
            <a:endParaRPr lang="en-CA" dirty="0"/>
          </a:p>
          <a:p>
            <a:r>
              <a:rPr lang="en-CA" i="1" dirty="0"/>
              <a:t>“Being a data scientist is not about being the best programmer, statistician, or domain expert. It’s about being good enough in all three areas to connect them together.”</a:t>
            </a:r>
            <a:endParaRPr lang="en-CA" dirty="0"/>
          </a:p>
          <a:p>
            <a:r>
              <a:rPr lang="en-CA" i="1" dirty="0"/>
              <a:t>“If you’re too strong in one area and missing another, you may end up in the danger zone.”</a:t>
            </a:r>
            <a:endParaRPr lang="en-CA" dirty="0"/>
          </a:p>
          <a:p>
            <a:pPr marL="0" lvl="0" indent="0" algn="l" rtl="0">
              <a:spcBef>
                <a:spcPts val="0"/>
              </a:spcBef>
              <a:spcAft>
                <a:spcPts val="0"/>
              </a:spcAft>
              <a:buNone/>
            </a:pPr>
            <a:endParaRP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2462ae5c23_0_2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32462ae5c23_0_2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1. Start with the “I-shaped” person (blue bar)</a:t>
            </a:r>
          </a:p>
          <a:p>
            <a:r>
              <a:rPr lang="en-CA" dirty="0"/>
              <a:t>Say: </a:t>
            </a:r>
            <a:r>
              <a:rPr lang="en-CA" i="1" dirty="0"/>
              <a:t>“An I-shaped person is a specialist. They have deep expertise in one area, but not much beyond it.”</a:t>
            </a:r>
            <a:endParaRPr lang="en-CA" dirty="0"/>
          </a:p>
          <a:p>
            <a:r>
              <a:rPr lang="en-CA" dirty="0"/>
              <a:t>Example: A brilliant statistician who knows advanced probability theory but can’t code or communicate results well.</a:t>
            </a:r>
          </a:p>
          <a:p>
            <a:r>
              <a:rPr lang="en-CA" dirty="0"/>
              <a:t>Strength: Very deep knowledge.</a:t>
            </a:r>
          </a:p>
          <a:p>
            <a:r>
              <a:rPr lang="en-CA" dirty="0"/>
              <a:t>Weakness: Hard to collaborate outside their niche.</a:t>
            </a:r>
          </a:p>
          <a:p>
            <a:r>
              <a:rPr lang="en-CA" b="1" dirty="0"/>
              <a:t>2. The Generalist (yellow bar)</a:t>
            </a:r>
          </a:p>
          <a:p>
            <a:r>
              <a:rPr lang="en-CA" dirty="0"/>
              <a:t>Say: </a:t>
            </a:r>
            <a:r>
              <a:rPr lang="en-CA" i="1" dirty="0"/>
              <a:t>“A generalist has broad knowledge across many areas but no deep expertise in any one of them.”</a:t>
            </a:r>
            <a:endParaRPr lang="en-CA" dirty="0"/>
          </a:p>
          <a:p>
            <a:r>
              <a:rPr lang="en-CA" dirty="0"/>
              <a:t>Example: Someone who can code a bit, do some stats, design basic UI, and write reports—but not at an expert level.</a:t>
            </a:r>
          </a:p>
          <a:p>
            <a:r>
              <a:rPr lang="en-CA" dirty="0"/>
              <a:t>Strength: Flexibility, can help with many tasks.</a:t>
            </a:r>
          </a:p>
          <a:p>
            <a:r>
              <a:rPr lang="en-CA" dirty="0"/>
              <a:t>Weakness: Shallow in all areas, not the go-to expert.</a:t>
            </a:r>
          </a:p>
          <a:p>
            <a:r>
              <a:rPr lang="en-CA" b="1" dirty="0"/>
              <a:t>3. The T-shaped person (green T)</a:t>
            </a:r>
          </a:p>
          <a:p>
            <a:r>
              <a:rPr lang="en-CA" dirty="0"/>
              <a:t>Say: </a:t>
            </a:r>
            <a:r>
              <a:rPr lang="en-CA" i="1" dirty="0"/>
              <a:t>“A T-shaped person combines both: they are broadly capable across different areas, but also have one deep area of expertise.”</a:t>
            </a:r>
            <a:endParaRPr lang="en-CA" dirty="0"/>
          </a:p>
          <a:p>
            <a:r>
              <a:rPr lang="en-CA" dirty="0"/>
              <a:t>Example: A data scientist who understands software engineering and domain knowledge broadly, but is an expert in machine learning.</a:t>
            </a:r>
          </a:p>
          <a:p>
            <a:r>
              <a:rPr lang="en-CA" dirty="0"/>
              <a:t>Strength: Great collaborators—they can talk across disciplines </a:t>
            </a:r>
            <a:r>
              <a:rPr lang="en-CA" i="1" dirty="0"/>
              <a:t>and</a:t>
            </a:r>
            <a:r>
              <a:rPr lang="en-CA" dirty="0"/>
              <a:t> provide expert contributions.</a:t>
            </a:r>
          </a:p>
          <a:p>
            <a:r>
              <a:rPr lang="en-CA" dirty="0"/>
              <a:t>Weakness: Takes time to build this balance.</a:t>
            </a:r>
          </a:p>
          <a:p>
            <a:r>
              <a:rPr lang="en-CA" b="1" dirty="0"/>
              <a:t>4. Why it matters in Data Science teams</a:t>
            </a:r>
          </a:p>
          <a:p>
            <a:r>
              <a:rPr lang="en-CA" dirty="0"/>
              <a:t>Data science is interdisciplinary (math, programming, domain knowledge).</a:t>
            </a:r>
          </a:p>
          <a:p>
            <a:r>
              <a:rPr lang="en-CA" dirty="0"/>
              <a:t>Teams work best when members are </a:t>
            </a:r>
            <a:r>
              <a:rPr lang="en-CA" b="1" dirty="0"/>
              <a:t>T-shaped</a:t>
            </a:r>
            <a:r>
              <a:rPr lang="en-CA" dirty="0"/>
              <a:t>: each has their specialty (deep expertise), but also enough breadth to understand and work with others.</a:t>
            </a:r>
          </a:p>
          <a:p>
            <a:r>
              <a:rPr lang="en-CA" dirty="0"/>
              <a:t>This reduces silos, improves collaboration, and makes projects more resilient.</a:t>
            </a:r>
          </a:p>
          <a:p>
            <a:endParaRPr lang="en-CA" dirty="0"/>
          </a:p>
          <a:p>
            <a:r>
              <a:rPr lang="en-CA" dirty="0"/>
              <a:t>“As future professionals, aim to become T-shaped. Have a specialty that makes you valuable, but also learn enough of the surrounding fields so you can collaborate and adapt.”</a:t>
            </a:r>
          </a:p>
          <a:p>
            <a:endParaRPr lang="en-CA"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2462ae5c23_0_2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32462ae5c23_0_2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2462ae5c23_0_2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2462ae5c23_0_2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dirty="0"/>
              <a:t>Say: </a:t>
            </a:r>
            <a:r>
              <a:rPr lang="en-CA" i="1" dirty="0"/>
              <a:t>“We’ve just talked about T-shaped people — they have broad general knowledge and deep expertise in one area.”</a:t>
            </a:r>
            <a:endParaRPr lang="en-CA" dirty="0"/>
          </a:p>
          <a:p>
            <a:r>
              <a:rPr lang="en-CA" dirty="0"/>
              <a:t>Then: </a:t>
            </a:r>
            <a:r>
              <a:rPr lang="en-CA" i="1" dirty="0"/>
              <a:t>“But the latest buzzword is π-shaped people. Instead of one area of depth, they have two.”</a:t>
            </a:r>
            <a:endParaRPr lang="en-CA" dirty="0"/>
          </a:p>
          <a:p>
            <a:r>
              <a:rPr lang="en-CA" b="1" dirty="0"/>
              <a:t>2. What π-shaped people are</a:t>
            </a:r>
          </a:p>
          <a:p>
            <a:r>
              <a:rPr lang="en-CA" b="1" dirty="0"/>
              <a:t>The horizontal bar</a:t>
            </a:r>
            <a:r>
              <a:rPr lang="en-CA" dirty="0"/>
              <a:t> (across the top of π) → broad skills across many disciplines, like communication, teamwork, and general technical knowledge.</a:t>
            </a:r>
          </a:p>
          <a:p>
            <a:r>
              <a:rPr lang="en-CA" b="1" dirty="0"/>
              <a:t>The two vertical bars</a:t>
            </a:r>
            <a:r>
              <a:rPr lang="en-CA" dirty="0"/>
              <a:t> → </a:t>
            </a:r>
            <a:r>
              <a:rPr lang="en-CA" i="1" dirty="0"/>
              <a:t>two deep areas of expertise</a:t>
            </a:r>
            <a:r>
              <a:rPr lang="en-CA" dirty="0"/>
              <a:t>.</a:t>
            </a:r>
          </a:p>
          <a:p>
            <a:r>
              <a:rPr lang="en-CA" dirty="0"/>
              <a:t>Example: A person who is deeply skilled in </a:t>
            </a:r>
            <a:r>
              <a:rPr lang="en-CA" b="1" dirty="0"/>
              <a:t>machine learning</a:t>
            </a:r>
            <a:r>
              <a:rPr lang="en-CA" dirty="0"/>
              <a:t> </a:t>
            </a:r>
            <a:r>
              <a:rPr lang="en-CA" i="1" dirty="0"/>
              <a:t>and</a:t>
            </a:r>
            <a:r>
              <a:rPr lang="en-CA" dirty="0"/>
              <a:t> </a:t>
            </a:r>
            <a:r>
              <a:rPr lang="en-CA" b="1" dirty="0"/>
              <a:t>software engineering</a:t>
            </a:r>
            <a:r>
              <a:rPr lang="en-CA" dirty="0"/>
              <a:t>, with general knowledge in product design, statistics, and business.</a:t>
            </a:r>
          </a:p>
          <a:p>
            <a:r>
              <a:rPr lang="en-CA" b="1" dirty="0"/>
              <a:t>3. Why they’re valuable</a:t>
            </a:r>
          </a:p>
          <a:p>
            <a:r>
              <a:rPr lang="en-CA" dirty="0"/>
              <a:t>They can bridge multiple disciplines.</a:t>
            </a:r>
          </a:p>
          <a:p>
            <a:r>
              <a:rPr lang="en-CA" dirty="0"/>
              <a:t>They make teams more resilient—if one problem requires ML expertise and another needs engineering depth, the same person can contribute.</a:t>
            </a:r>
          </a:p>
          <a:p>
            <a:r>
              <a:rPr lang="en-CA" dirty="0"/>
              <a:t>They’re especially valuable in startups and interdisciplinary research, where crossing boundaries is essential.</a:t>
            </a:r>
          </a:p>
          <a:p>
            <a:r>
              <a:rPr lang="en-CA" b="1" dirty="0"/>
              <a:t>4. Comparison</a:t>
            </a:r>
          </a:p>
          <a:p>
            <a:r>
              <a:rPr lang="en-CA" b="1" dirty="0"/>
              <a:t>I-shaped</a:t>
            </a:r>
            <a:r>
              <a:rPr lang="en-CA" dirty="0"/>
              <a:t> → only one specialty, little breadth.</a:t>
            </a:r>
          </a:p>
          <a:p>
            <a:r>
              <a:rPr lang="en-CA" b="1" dirty="0"/>
              <a:t>T-shaped</a:t>
            </a:r>
            <a:r>
              <a:rPr lang="en-CA" dirty="0"/>
              <a:t> → breadth + one deep specialty.</a:t>
            </a:r>
          </a:p>
          <a:p>
            <a:r>
              <a:rPr lang="en-CA" b="1" dirty="0"/>
              <a:t>π-shaped</a:t>
            </a:r>
            <a:r>
              <a:rPr lang="en-CA" dirty="0"/>
              <a:t> → breadth + </a:t>
            </a:r>
            <a:r>
              <a:rPr lang="en-CA" i="1" dirty="0"/>
              <a:t>two</a:t>
            </a:r>
            <a:r>
              <a:rPr lang="en-CA" dirty="0"/>
              <a:t> deep specialties.</a:t>
            </a:r>
          </a:p>
          <a:p>
            <a:r>
              <a:rPr lang="en-CA" b="1" dirty="0"/>
              <a:t>5. Teaching Tip</a:t>
            </a:r>
          </a:p>
          <a:p>
            <a:r>
              <a:rPr lang="en-CA" dirty="0"/>
              <a:t>You can ask your students:</a:t>
            </a:r>
          </a:p>
          <a:p>
            <a:r>
              <a:rPr lang="en-CA" i="1" dirty="0"/>
              <a:t>“If you were to become π-shaped, which two deep skills would you want to combine?”</a:t>
            </a:r>
            <a:endParaRPr lang="en-CA" dirty="0"/>
          </a:p>
          <a:p>
            <a:pPr lvl="1"/>
            <a:r>
              <a:rPr lang="en-CA" dirty="0"/>
              <a:t>Example answers: </a:t>
            </a:r>
            <a:r>
              <a:rPr lang="en-CA" i="1" dirty="0"/>
              <a:t>Data Science + Business</a:t>
            </a:r>
            <a:r>
              <a:rPr lang="en-CA" dirty="0"/>
              <a:t>, </a:t>
            </a:r>
            <a:r>
              <a:rPr lang="en-CA" i="1" dirty="0"/>
              <a:t>ML + Cloud Engineering</a:t>
            </a:r>
            <a:r>
              <a:rPr lang="en-CA" dirty="0"/>
              <a:t>, </a:t>
            </a:r>
            <a:r>
              <a:rPr lang="en-CA" i="1" dirty="0"/>
              <a:t>Cybersecurity + AI</a:t>
            </a:r>
            <a:r>
              <a:rPr lang="en-CA" dirty="0"/>
              <a:t>.</a:t>
            </a:r>
          </a:p>
          <a:p>
            <a:pPr marL="0" lvl="0" indent="0" algn="l" rtl="0">
              <a:spcBef>
                <a:spcPts val="0"/>
              </a:spcBef>
              <a:spcAft>
                <a:spcPts val="0"/>
              </a:spcAft>
              <a:buNone/>
            </a:pPr>
            <a:endParaRPr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6d104e8d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6d104e8d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6d104dbc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6d104dbc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6d104dbc_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d104dbc_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6d104dbc_0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6d104dbc_0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6d104dbc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6d104dbc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1. Set the context</a:t>
            </a:r>
          </a:p>
          <a:p>
            <a:r>
              <a:rPr lang="en-CA" dirty="0"/>
              <a:t>Say: </a:t>
            </a:r>
            <a:r>
              <a:rPr lang="en-CA" i="1" dirty="0"/>
              <a:t>“So far, we’ve talked about skills and knowledge. But being a good scientist or engineer is not just about skills—it’s also about wisdom.”</a:t>
            </a:r>
            <a:endParaRPr lang="en-CA" dirty="0"/>
          </a:p>
          <a:p>
            <a:r>
              <a:rPr lang="en-CA" dirty="0"/>
              <a:t>Emphasize that wisdom is about </a:t>
            </a:r>
            <a:r>
              <a:rPr lang="en-CA" b="1" dirty="0"/>
              <a:t>judgment, reflection, and learning from mistakes.</a:t>
            </a:r>
            <a:endParaRPr lang="en-CA" dirty="0"/>
          </a:p>
          <a:p>
            <a:r>
              <a:rPr lang="en-CA" b="1" dirty="0"/>
              <a:t>2. Go through the bullet points</a:t>
            </a:r>
          </a:p>
          <a:p>
            <a:r>
              <a:rPr lang="en-CA" b="1" dirty="0"/>
              <a:t>Wisdom comes from experience:</a:t>
            </a:r>
            <a:endParaRPr lang="en-CA" dirty="0"/>
          </a:p>
          <a:p>
            <a:pPr lvl="1"/>
            <a:r>
              <a:rPr lang="en-CA" dirty="0"/>
              <a:t>We gain wisdom by </a:t>
            </a:r>
            <a:r>
              <a:rPr lang="en-CA" i="1" dirty="0"/>
              <a:t>doing</a:t>
            </a:r>
            <a:r>
              <a:rPr lang="en-CA" dirty="0"/>
              <a:t>—working on projects, making predictions, failing, and improving.</a:t>
            </a:r>
          </a:p>
          <a:p>
            <a:r>
              <a:rPr lang="en-CA" b="1" dirty="0"/>
              <a:t>Wisdom comes from general knowledge:</a:t>
            </a:r>
            <a:endParaRPr lang="en-CA" dirty="0"/>
          </a:p>
          <a:p>
            <a:pPr lvl="1"/>
            <a:r>
              <a:rPr lang="en-CA" dirty="0"/>
              <a:t>The broader your exposure (history, psychology, ethics), the more perspective you have to make good decisions.</a:t>
            </a:r>
          </a:p>
          <a:p>
            <a:r>
              <a:rPr lang="en-CA" b="1" dirty="0"/>
              <a:t>Wisdom comes from listening to others:</a:t>
            </a:r>
            <a:endParaRPr lang="en-CA" dirty="0"/>
          </a:p>
          <a:p>
            <a:pPr lvl="1"/>
            <a:r>
              <a:rPr lang="en-CA" dirty="0"/>
              <a:t>Collaborating, taking feedback, and learning from mentors expands your understanding beyond your own viewpoint.</a:t>
            </a:r>
          </a:p>
          <a:p>
            <a:r>
              <a:rPr lang="en-CA" b="1" dirty="0"/>
              <a:t>Wisdom comes from humility:</a:t>
            </a:r>
            <a:endParaRPr lang="en-CA" dirty="0"/>
          </a:p>
          <a:p>
            <a:pPr lvl="1"/>
            <a:r>
              <a:rPr lang="en-CA" dirty="0"/>
              <a:t>Acknowledge when you’re wrong. Reflect on </a:t>
            </a:r>
            <a:r>
              <a:rPr lang="en-CA" i="1" dirty="0"/>
              <a:t>why</a:t>
            </a:r>
            <a:r>
              <a:rPr lang="en-CA" dirty="0"/>
              <a:t> and </a:t>
            </a:r>
            <a:r>
              <a:rPr lang="en-CA" i="1" dirty="0"/>
              <a:t>how</a:t>
            </a:r>
            <a:r>
              <a:rPr lang="en-CA" dirty="0"/>
              <a:t>. This self-correction builds better judgment.</a:t>
            </a:r>
          </a:p>
          <a:p>
            <a:r>
              <a:rPr lang="en-CA" b="1" dirty="0"/>
              <a:t>3. Tie it back to Data Science &amp; ML</a:t>
            </a:r>
          </a:p>
          <a:p>
            <a:r>
              <a:rPr lang="en-CA" dirty="0"/>
              <a:t>Say: </a:t>
            </a:r>
            <a:r>
              <a:rPr lang="en-CA" i="1" dirty="0"/>
              <a:t>“In machine learning, predictions are often wrong. The key is not to avoid mistakes, but to learn from them systematically—through monitoring, evaluation, and iteration.”</a:t>
            </a:r>
            <a:endParaRPr lang="en-CA" dirty="0"/>
          </a:p>
          <a:p>
            <a:r>
              <a:rPr lang="en-CA" dirty="0"/>
              <a:t>Add: </a:t>
            </a:r>
            <a:r>
              <a:rPr lang="en-CA" i="1" dirty="0"/>
              <a:t>“Just as wisdom in life comes from humility and reflection, building robust ML systems requires humility: we must accept uncertainty, be aware of limitations, and design with care.”</a:t>
            </a:r>
            <a:endParaRPr lang="en-CA" dirty="0"/>
          </a:p>
          <a:p>
            <a:pPr marL="0" lvl="0" indent="0" algn="l" rtl="0">
              <a:spcBef>
                <a:spcPts val="0"/>
              </a:spcBef>
              <a:spcAft>
                <a:spcPts val="0"/>
              </a:spcAft>
              <a:buNone/>
            </a:pPr>
            <a:endParaRPr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6d104dbc_0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6d104dbc_0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1. Curiosity about the domain</a:t>
            </a:r>
          </a:p>
          <a:p>
            <a:r>
              <a:rPr lang="en-CA" dirty="0"/>
              <a:t>Say: </a:t>
            </a:r>
            <a:r>
              <a:rPr lang="en-CA" i="1" dirty="0"/>
              <a:t>“A good data scientist isn’t just crunching numbers—they want to understand the problem deeply.”</a:t>
            </a:r>
            <a:endParaRPr lang="en-CA" dirty="0"/>
          </a:p>
          <a:p>
            <a:r>
              <a:rPr lang="en-CA" dirty="0"/>
              <a:t>Example: If you’re analyzing healthcare data, you should be curious about how hospitals operate, what doctors care about, and what patients need.</a:t>
            </a:r>
          </a:p>
          <a:p>
            <a:r>
              <a:rPr lang="en-CA" dirty="0"/>
              <a:t>Teaching point: </a:t>
            </a:r>
            <a:r>
              <a:rPr lang="en-CA" i="1" dirty="0"/>
              <a:t>“Without domain curiosity, you risk building models that are technically good but practically useless.”</a:t>
            </a:r>
            <a:endParaRPr lang="en-CA" dirty="0"/>
          </a:p>
          <a:p>
            <a:r>
              <a:rPr lang="en-CA" b="1" dirty="0"/>
              <a:t>2. Talking with stakeholders</a:t>
            </a:r>
          </a:p>
          <a:p>
            <a:r>
              <a:rPr lang="en-CA" dirty="0"/>
              <a:t>Say: </a:t>
            </a:r>
            <a:r>
              <a:rPr lang="en-CA" i="1" dirty="0"/>
              <a:t>“Data scientists must spend time talking to the people behind the data.”</a:t>
            </a:r>
            <a:endParaRPr lang="en-CA" dirty="0"/>
          </a:p>
          <a:p>
            <a:r>
              <a:rPr lang="en-CA" dirty="0"/>
              <a:t>Example: If you’re analyzing customer transactions, talk to sales or marketing teams to understand customer behavior.</a:t>
            </a:r>
          </a:p>
          <a:p>
            <a:r>
              <a:rPr lang="en-CA" dirty="0"/>
              <a:t>This bridges the gap between numbers and real-world meaning.</a:t>
            </a:r>
          </a:p>
          <a:p>
            <a:r>
              <a:rPr lang="en-CA" b="1" dirty="0"/>
              <a:t>3. Broader perspective</a:t>
            </a:r>
          </a:p>
          <a:p>
            <a:r>
              <a:rPr lang="en-CA" dirty="0"/>
              <a:t>Say: </a:t>
            </a:r>
            <a:r>
              <a:rPr lang="en-CA" i="1" dirty="0"/>
              <a:t>“Reading widely—whether it’s newspapers, blogs, or reports—helps you connect your work to the world.”</a:t>
            </a:r>
            <a:endParaRPr lang="en-CA" dirty="0"/>
          </a:p>
          <a:p>
            <a:r>
              <a:rPr lang="en-CA" dirty="0"/>
              <a:t>Example: If you know about current events (like inflation, climate change, or new technologies), you can ask better questions and interpret data more wisely.</a:t>
            </a:r>
          </a:p>
          <a:p>
            <a:r>
              <a:rPr lang="en-CA" b="1" dirty="0"/>
              <a:t>4. Teaching takeaway</a:t>
            </a:r>
          </a:p>
          <a:p>
            <a:r>
              <a:rPr lang="en-CA" dirty="0"/>
              <a:t>Curiosity drives better models, but also better </a:t>
            </a:r>
            <a:r>
              <a:rPr lang="en-CA" b="1" dirty="0"/>
              <a:t>questions</a:t>
            </a:r>
            <a:r>
              <a:rPr lang="en-CA" dirty="0"/>
              <a:t>.</a:t>
            </a:r>
          </a:p>
          <a:p>
            <a:r>
              <a:rPr lang="en-CA" dirty="0"/>
              <a:t>Say: </a:t>
            </a:r>
            <a:r>
              <a:rPr lang="en-CA" i="1" dirty="0"/>
              <a:t>“Being a good data scientist is not only about answering questions with data—it’s also about asking the right questions in the first place.”</a:t>
            </a:r>
            <a:endParaRPr lang="en-CA" dirty="0"/>
          </a:p>
          <a:p>
            <a:pPr marL="0" lvl="0" indent="0" algn="l" rtl="0">
              <a:spcBef>
                <a:spcPts val="0"/>
              </a:spcBef>
              <a:spcAft>
                <a:spcPts val="0"/>
              </a:spcAft>
              <a:buNone/>
            </a:pPr>
            <a:endParaRPr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6d104dbc_0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6d104dbc_0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 Walk through the guiding questions</a:t>
            </a:r>
          </a:p>
          <a:p>
            <a:r>
              <a:rPr lang="en-CA" b="1" dirty="0"/>
              <a:t>What exciting things might you be able to learn from a given dataset?</a:t>
            </a:r>
            <a:endParaRPr lang="en-CA" dirty="0"/>
          </a:p>
          <a:p>
            <a:pPr lvl="1"/>
            <a:r>
              <a:rPr lang="en-CA" dirty="0"/>
              <a:t>Example: From Netflix viewing data, can we learn not just </a:t>
            </a:r>
            <a:r>
              <a:rPr lang="en-CA" i="1" dirty="0"/>
              <a:t>what</a:t>
            </a:r>
            <a:r>
              <a:rPr lang="en-CA" dirty="0"/>
              <a:t> people watch, but </a:t>
            </a:r>
            <a:r>
              <a:rPr lang="en-CA" i="1" dirty="0"/>
              <a:t>why</a:t>
            </a:r>
            <a:r>
              <a:rPr lang="en-CA" dirty="0"/>
              <a:t> they stop watching?</a:t>
            </a:r>
          </a:p>
          <a:p>
            <a:r>
              <a:rPr lang="en-CA" b="1" dirty="0"/>
              <a:t>What things do you/your people really want to know?</a:t>
            </a:r>
            <a:endParaRPr lang="en-CA" dirty="0"/>
          </a:p>
          <a:p>
            <a:pPr lvl="1"/>
            <a:r>
              <a:rPr lang="en-CA" dirty="0"/>
              <a:t>Example: A hospital doesn’t just want numbers—they want to know </a:t>
            </a:r>
            <a:r>
              <a:rPr lang="en-CA" i="1" dirty="0"/>
              <a:t>which patients are at high risk and need extra care</a:t>
            </a:r>
            <a:r>
              <a:rPr lang="en-CA" dirty="0"/>
              <a:t>.</a:t>
            </a:r>
          </a:p>
          <a:p>
            <a:r>
              <a:rPr lang="en-CA" b="1" dirty="0"/>
              <a:t>What datasets might get you there?</a:t>
            </a:r>
            <a:endParaRPr lang="en-CA" dirty="0"/>
          </a:p>
          <a:p>
            <a:pPr lvl="1"/>
            <a:r>
              <a:rPr lang="en-CA" dirty="0"/>
              <a:t>Example: To study traffic congestion, you might need both GPS data </a:t>
            </a:r>
            <a:r>
              <a:rPr lang="en-CA" i="1" dirty="0"/>
              <a:t>and</a:t>
            </a:r>
            <a:r>
              <a:rPr lang="en-CA" dirty="0"/>
              <a:t> weather reports.</a:t>
            </a:r>
          </a:p>
          <a:p>
            <a:r>
              <a:rPr lang="en-CA" b="1" dirty="0"/>
              <a:t>3. Teaching takeaway</a:t>
            </a:r>
          </a:p>
          <a:p>
            <a:r>
              <a:rPr lang="en-CA" dirty="0"/>
              <a:t>Say: </a:t>
            </a:r>
            <a:r>
              <a:rPr lang="en-CA" i="1" dirty="0"/>
              <a:t>“A good data scientist doesn’t jump straight into modeling. They pause and ask: what is the real question here, and what data do I need to answer it?”</a:t>
            </a:r>
            <a:endParaRPr lang="en-CA" dirty="0"/>
          </a:p>
          <a:p>
            <a:r>
              <a:rPr lang="en-CA" dirty="0"/>
              <a:t>Add: </a:t>
            </a:r>
            <a:r>
              <a:rPr lang="en-CA" i="1" dirty="0"/>
              <a:t>“Bad questions lead to irrelevant models, no matter how advanced your algorithms are.”</a:t>
            </a:r>
            <a:endParaRPr lang="en-CA" dirty="0"/>
          </a:p>
          <a:p>
            <a:r>
              <a:rPr lang="en-CA" b="1" dirty="0"/>
              <a:t>4. Interactive element</a:t>
            </a:r>
          </a:p>
          <a:p>
            <a:r>
              <a:rPr lang="en-CA" dirty="0"/>
              <a:t>Ask students:</a:t>
            </a:r>
          </a:p>
          <a:p>
            <a:r>
              <a:rPr lang="en-CA" i="1" dirty="0"/>
              <a:t>“If I gave you access to all the data from Spotify, what’s one question you’d want to ask?”</a:t>
            </a:r>
            <a:endParaRPr lang="en-CA" dirty="0"/>
          </a:p>
          <a:p>
            <a:pPr lvl="1"/>
            <a:r>
              <a:rPr lang="en-CA" dirty="0"/>
              <a:t>Expected answers: Which songs go viral? What makes people skip songs? Can we predict a listener’s mood?</a:t>
            </a:r>
          </a:p>
          <a:p>
            <a:pPr marL="0" lvl="0" indent="0" algn="l" rtl="0">
              <a:spcBef>
                <a:spcPts val="0"/>
              </a:spcBef>
              <a:spcAft>
                <a:spcPts val="0"/>
              </a:spcAft>
              <a:buNone/>
            </a:pPr>
            <a:endParaRPr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6d104dbc_0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6d104dbc_0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1. Explain the activity</a:t>
            </a:r>
          </a:p>
          <a:p>
            <a:r>
              <a:rPr lang="en-CA" dirty="0"/>
              <a:t>Say: </a:t>
            </a:r>
            <a:r>
              <a:rPr lang="en-CA" i="1" dirty="0"/>
              <a:t>“As data scientists, our first job is to ask the right questions. Let’s practice by taking real datasets and brainstorming good questions.”</a:t>
            </a:r>
            <a:endParaRPr lang="en-CA" dirty="0"/>
          </a:p>
          <a:p>
            <a:r>
              <a:rPr lang="en-CA" dirty="0"/>
              <a:t>Emphasize: </a:t>
            </a:r>
            <a:r>
              <a:rPr lang="en-CA" i="1" dirty="0"/>
              <a:t>“Notice we’re not yet building models—we’re learning to frame problems.”</a:t>
            </a:r>
            <a:endParaRPr lang="en-CA" dirty="0"/>
          </a:p>
          <a:p>
            <a:r>
              <a:rPr lang="en-CA" b="1" dirty="0"/>
              <a:t>2. Go through examples for each dataset</a:t>
            </a:r>
          </a:p>
          <a:p>
            <a:r>
              <a:rPr lang="en-CA" b="1" dirty="0"/>
              <a:t>Baseball-reference.com</a:t>
            </a:r>
          </a:p>
          <a:p>
            <a:r>
              <a:rPr lang="en-CA" b="1" dirty="0"/>
              <a:t>Who</a:t>
            </a:r>
            <a:r>
              <a:rPr lang="en-CA" dirty="0"/>
              <a:t>: Who are the most consistent hitters across decades?</a:t>
            </a:r>
          </a:p>
          <a:p>
            <a:r>
              <a:rPr lang="en-CA" b="1" dirty="0"/>
              <a:t>What</a:t>
            </a:r>
            <a:r>
              <a:rPr lang="en-CA" dirty="0"/>
              <a:t>: What factors most influence a player’s career length?</a:t>
            </a:r>
          </a:p>
          <a:p>
            <a:r>
              <a:rPr lang="en-CA" b="1" dirty="0"/>
              <a:t>Where</a:t>
            </a:r>
            <a:r>
              <a:rPr lang="en-CA" dirty="0"/>
              <a:t>: Where do most top players come from (geographic trends)?</a:t>
            </a:r>
          </a:p>
          <a:p>
            <a:r>
              <a:rPr lang="en-CA" b="1" dirty="0"/>
              <a:t>When</a:t>
            </a:r>
            <a:r>
              <a:rPr lang="en-CA" dirty="0"/>
              <a:t>: When do players peak in performance?</a:t>
            </a:r>
          </a:p>
          <a:p>
            <a:r>
              <a:rPr lang="en-CA" b="1" dirty="0"/>
              <a:t>Why</a:t>
            </a:r>
            <a:r>
              <a:rPr lang="en-CA" dirty="0"/>
              <a:t>: Why do certain positions have longer careers?</a:t>
            </a:r>
          </a:p>
          <a:p>
            <a:r>
              <a:rPr lang="en-CA" b="1" dirty="0"/>
              <a:t>International Movie Database (IMDb)</a:t>
            </a:r>
          </a:p>
          <a:p>
            <a:r>
              <a:rPr lang="en-CA" b="1" dirty="0"/>
              <a:t>Who</a:t>
            </a:r>
            <a:r>
              <a:rPr lang="en-CA" dirty="0"/>
              <a:t>: Who are the most frequently collaborating actors or directors?</a:t>
            </a:r>
          </a:p>
          <a:p>
            <a:r>
              <a:rPr lang="en-CA" b="1" dirty="0"/>
              <a:t>What</a:t>
            </a:r>
            <a:r>
              <a:rPr lang="en-CA" dirty="0"/>
              <a:t>: What genres are gaining or losing popularity over time?</a:t>
            </a:r>
          </a:p>
          <a:p>
            <a:r>
              <a:rPr lang="en-CA" b="1" dirty="0"/>
              <a:t>Where</a:t>
            </a:r>
            <a:r>
              <a:rPr lang="en-CA" dirty="0"/>
              <a:t>: Where are most highly rated movies produced?</a:t>
            </a:r>
          </a:p>
          <a:p>
            <a:r>
              <a:rPr lang="en-CA" b="1" dirty="0"/>
              <a:t>When</a:t>
            </a:r>
            <a:r>
              <a:rPr lang="en-CA" dirty="0"/>
              <a:t>: When did box office revenue patterns change (e.g., pre/post streaming)?</a:t>
            </a:r>
          </a:p>
          <a:p>
            <a:r>
              <a:rPr lang="en-CA" b="1" dirty="0"/>
              <a:t>Why</a:t>
            </a:r>
            <a:r>
              <a:rPr lang="en-CA" dirty="0"/>
              <a:t>: Why do certain movies succeed critically but fail commercially?</a:t>
            </a:r>
          </a:p>
          <a:p>
            <a:r>
              <a:rPr lang="en-CA" b="1" dirty="0"/>
              <a:t>Google </a:t>
            </a:r>
            <a:r>
              <a:rPr lang="en-CA" b="1" dirty="0" err="1"/>
              <a:t>Ngrams</a:t>
            </a:r>
            <a:endParaRPr lang="en-CA" b="1" dirty="0"/>
          </a:p>
          <a:p>
            <a:r>
              <a:rPr lang="en-CA" b="1" dirty="0"/>
              <a:t>Who</a:t>
            </a:r>
            <a:r>
              <a:rPr lang="en-CA" dirty="0"/>
              <a:t>: Who are the most cited historical figures over time?</a:t>
            </a:r>
          </a:p>
          <a:p>
            <a:r>
              <a:rPr lang="en-CA" b="1" dirty="0"/>
              <a:t>What</a:t>
            </a:r>
            <a:r>
              <a:rPr lang="en-CA" dirty="0"/>
              <a:t>: What words/phrases suddenly spike in usage?</a:t>
            </a:r>
          </a:p>
          <a:p>
            <a:r>
              <a:rPr lang="en-CA" b="1" dirty="0"/>
              <a:t>Where</a:t>
            </a:r>
            <a:r>
              <a:rPr lang="en-CA" dirty="0"/>
              <a:t>: Where do linguistic shifts originate (English, French, Chinese)?</a:t>
            </a:r>
          </a:p>
          <a:p>
            <a:r>
              <a:rPr lang="en-CA" b="1" dirty="0"/>
              <a:t>When</a:t>
            </a:r>
            <a:r>
              <a:rPr lang="en-CA" dirty="0"/>
              <a:t>: When did terms like “artificial intelligence” become popular?</a:t>
            </a:r>
          </a:p>
          <a:p>
            <a:r>
              <a:rPr lang="en-CA" b="1" dirty="0"/>
              <a:t>Why</a:t>
            </a:r>
            <a:r>
              <a:rPr lang="en-CA" dirty="0"/>
              <a:t>: Why do some words fade out while others stay common?</a:t>
            </a:r>
          </a:p>
          <a:p>
            <a:r>
              <a:rPr lang="en-CA" b="1" dirty="0"/>
              <a:t>NYC Taxi Cab Records</a:t>
            </a:r>
          </a:p>
          <a:p>
            <a:r>
              <a:rPr lang="en-CA" b="1" dirty="0"/>
              <a:t>Who</a:t>
            </a:r>
            <a:r>
              <a:rPr lang="en-CA" dirty="0"/>
              <a:t>: Who are the most frequent riders (business vs. leisure patterns)?</a:t>
            </a:r>
          </a:p>
          <a:p>
            <a:r>
              <a:rPr lang="en-CA" b="1" dirty="0"/>
              <a:t>What</a:t>
            </a:r>
            <a:r>
              <a:rPr lang="en-CA" dirty="0"/>
              <a:t>: What times of day have the highest demand?</a:t>
            </a:r>
          </a:p>
          <a:p>
            <a:r>
              <a:rPr lang="en-CA" b="1" dirty="0"/>
              <a:t>Where</a:t>
            </a:r>
            <a:r>
              <a:rPr lang="en-CA" dirty="0"/>
              <a:t>: Where are the most common pickup and drop-off points?</a:t>
            </a:r>
          </a:p>
          <a:p>
            <a:r>
              <a:rPr lang="en-CA" b="1" dirty="0"/>
              <a:t>When</a:t>
            </a:r>
            <a:r>
              <a:rPr lang="en-CA" dirty="0"/>
              <a:t>: When do traffic patterns change most (holidays, storms)?</a:t>
            </a:r>
          </a:p>
          <a:p>
            <a:r>
              <a:rPr lang="en-CA" b="1" dirty="0"/>
              <a:t>Why</a:t>
            </a:r>
            <a:r>
              <a:rPr lang="en-CA" dirty="0"/>
              <a:t>: Why do fares vary so much in similar trips?</a:t>
            </a:r>
          </a:p>
          <a:p>
            <a:pPr marL="0" lvl="0" indent="0" algn="l" rtl="0">
              <a:spcBef>
                <a:spcPts val="0"/>
              </a:spcBef>
              <a:spcAft>
                <a:spcPts val="0"/>
              </a:spcAft>
              <a:buNone/>
            </a:pPr>
            <a:endParaRPr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6d104dbc_0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6d104dbc_0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1. Point out what the dataset contains</a:t>
            </a:r>
          </a:p>
          <a:p>
            <a:r>
              <a:rPr lang="en-CA" b="1" dirty="0"/>
              <a:t>Personal info</a:t>
            </a:r>
            <a:r>
              <a:rPr lang="en-CA" dirty="0"/>
              <a:t>: name, birth date, physical stats, career highlights.</a:t>
            </a:r>
          </a:p>
          <a:p>
            <a:r>
              <a:rPr lang="en-CA" b="1" dirty="0"/>
              <a:t>Career events</a:t>
            </a:r>
            <a:r>
              <a:rPr lang="en-CA" dirty="0"/>
              <a:t>: transactions between teams, debut and final game, Hall of Fame induction.</a:t>
            </a:r>
          </a:p>
          <a:p>
            <a:r>
              <a:rPr lang="en-CA" b="1" dirty="0"/>
              <a:t>Financial data</a:t>
            </a:r>
            <a:r>
              <a:rPr lang="en-CA" dirty="0"/>
              <a:t>: year-by-year salary, total career earnings.</a:t>
            </a:r>
          </a:p>
          <a:p>
            <a:r>
              <a:rPr lang="en-CA" b="1" dirty="0"/>
              <a:t>Sources</a:t>
            </a:r>
            <a:r>
              <a:rPr lang="en-CA" dirty="0"/>
              <a:t>: where the information came from.</a:t>
            </a:r>
          </a:p>
          <a:p>
            <a:r>
              <a:rPr lang="en-CA" b="1" dirty="0"/>
              <a:t>2. Link back to data science skills</a:t>
            </a:r>
          </a:p>
          <a:p>
            <a:r>
              <a:rPr lang="en-CA" dirty="0"/>
              <a:t>Say: </a:t>
            </a:r>
            <a:r>
              <a:rPr lang="en-CA" i="1" dirty="0"/>
              <a:t>“This is not just sports trivia—it’s structured data we can analyze.”</a:t>
            </a:r>
            <a:endParaRPr lang="en-CA" dirty="0"/>
          </a:p>
          <a:p>
            <a:r>
              <a:rPr lang="en-CA" dirty="0"/>
              <a:t>Example: Each player has dozens of attributes: performance stats, financial records, and career trajectory. That makes it a perfect dataset for asking good questions.</a:t>
            </a:r>
          </a:p>
          <a:p>
            <a:r>
              <a:rPr lang="en-CA" b="1" dirty="0"/>
              <a:t>3. Show possible questions</a:t>
            </a:r>
          </a:p>
          <a:p>
            <a:r>
              <a:rPr lang="en-CA" dirty="0"/>
              <a:t>Using the </a:t>
            </a:r>
            <a:r>
              <a:rPr lang="en-CA" b="1" dirty="0"/>
              <a:t>Who, What, Where, When, Why</a:t>
            </a:r>
            <a:r>
              <a:rPr lang="en-CA" dirty="0"/>
              <a:t> framework from the previous slide:</a:t>
            </a:r>
          </a:p>
          <a:p>
            <a:r>
              <a:rPr lang="en-CA" b="1" dirty="0"/>
              <a:t>Who</a:t>
            </a:r>
            <a:r>
              <a:rPr lang="en-CA" dirty="0"/>
              <a:t> earned the highest salaries in baseball history?</a:t>
            </a:r>
          </a:p>
          <a:p>
            <a:r>
              <a:rPr lang="en-CA" b="1" dirty="0"/>
              <a:t>What</a:t>
            </a:r>
            <a:r>
              <a:rPr lang="en-CA" dirty="0"/>
              <a:t> is the relationship between performance stats and salary increases?</a:t>
            </a:r>
          </a:p>
          <a:p>
            <a:r>
              <a:rPr lang="en-CA" b="1" dirty="0"/>
              <a:t>Where</a:t>
            </a:r>
            <a:r>
              <a:rPr lang="en-CA" dirty="0"/>
              <a:t> did the most Hall of Famers come from?</a:t>
            </a:r>
          </a:p>
          <a:p>
            <a:r>
              <a:rPr lang="en-CA" b="1" dirty="0"/>
              <a:t>When</a:t>
            </a:r>
            <a:r>
              <a:rPr lang="en-CA" dirty="0"/>
              <a:t> do salaries peak during a player’s career?</a:t>
            </a:r>
          </a:p>
          <a:p>
            <a:r>
              <a:rPr lang="en-CA" b="1" dirty="0"/>
              <a:t>Why</a:t>
            </a:r>
            <a:r>
              <a:rPr lang="en-CA" dirty="0"/>
              <a:t> were certain players paid more despite similar performance?</a:t>
            </a:r>
          </a:p>
          <a:p>
            <a:r>
              <a:rPr lang="en-CA" b="1" dirty="0"/>
              <a:t>4. Teaching takeaway</a:t>
            </a:r>
          </a:p>
          <a:p>
            <a:r>
              <a:rPr lang="en-CA" dirty="0"/>
              <a:t>Say: </a:t>
            </a:r>
            <a:r>
              <a:rPr lang="en-CA" i="1" dirty="0"/>
              <a:t>“The value of this </a:t>
            </a:r>
            <a:r>
              <a:rPr lang="en-CA" i="1" dirty="0" err="1"/>
              <a:t>biosketch</a:t>
            </a:r>
            <a:r>
              <a:rPr lang="en-CA" i="1" dirty="0"/>
              <a:t> is not just in the individual story of Babe Ruth, but in how we can compare across many players to see larger patterns.”</a:t>
            </a:r>
            <a:endParaRPr lang="en-CA" dirty="0"/>
          </a:p>
          <a:p>
            <a:r>
              <a:rPr lang="en-CA" dirty="0"/>
              <a:t>Add: </a:t>
            </a:r>
            <a:r>
              <a:rPr lang="en-CA" i="1" dirty="0"/>
              <a:t>“In data science, we always look for ways to move from single cases → to generalizable insights.”</a:t>
            </a:r>
            <a:endParaRPr lang="en-CA" dirty="0"/>
          </a:p>
          <a:p>
            <a:pPr marL="0" lvl="0" indent="0" algn="l" rtl="0">
              <a:spcBef>
                <a:spcPts val="0"/>
              </a:spcBef>
              <a:spcAft>
                <a:spcPts val="0"/>
              </a:spcAft>
              <a:buNone/>
            </a:pPr>
            <a:endParaRPr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6d104dbc_0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6d104dbc_0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1. What the dataset contains</a:t>
            </a:r>
          </a:p>
          <a:p>
            <a:r>
              <a:rPr lang="en-CA" dirty="0"/>
              <a:t>Each row = one season.</a:t>
            </a:r>
          </a:p>
          <a:p>
            <a:r>
              <a:rPr lang="en-CA" dirty="0"/>
              <a:t>Columns = detailed batting statistics (games played, hits, home runs, runs batted in, walks, strikeouts, batting average, etc.).</a:t>
            </a:r>
          </a:p>
          <a:p>
            <a:r>
              <a:rPr lang="en-CA" dirty="0"/>
              <a:t>Also includes team, league, awards, and season totals.</a:t>
            </a:r>
          </a:p>
          <a:p>
            <a:r>
              <a:rPr lang="en-CA" b="1" dirty="0"/>
              <a:t>2. Why it’s interesting for data science</a:t>
            </a:r>
          </a:p>
          <a:p>
            <a:r>
              <a:rPr lang="en-CA" dirty="0"/>
              <a:t>It’s a </a:t>
            </a:r>
            <a:r>
              <a:rPr lang="en-CA" b="1" dirty="0"/>
              <a:t>time series dataset</a:t>
            </a:r>
            <a:r>
              <a:rPr lang="en-CA" dirty="0"/>
              <a:t>: you can analyze performance across years.</a:t>
            </a:r>
          </a:p>
          <a:p>
            <a:r>
              <a:rPr lang="en-CA" dirty="0"/>
              <a:t>It’s </a:t>
            </a:r>
            <a:r>
              <a:rPr lang="en-CA" b="1" dirty="0"/>
              <a:t>multivariate</a:t>
            </a:r>
            <a:r>
              <a:rPr lang="en-CA" dirty="0"/>
              <a:t>: multiple features (e.g., batting average, home runs, strikeouts) can be compared.</a:t>
            </a:r>
          </a:p>
          <a:p>
            <a:r>
              <a:rPr lang="en-CA" dirty="0"/>
              <a:t>It has </a:t>
            </a:r>
            <a:r>
              <a:rPr lang="en-CA" b="1" dirty="0"/>
              <a:t>labels/awards</a:t>
            </a:r>
            <a:r>
              <a:rPr lang="en-CA" dirty="0"/>
              <a:t>: MVP, All-Star, Hall of Fame → good for classification or correlation analysis.</a:t>
            </a:r>
          </a:p>
          <a:p>
            <a:r>
              <a:rPr lang="en-CA" b="1" dirty="0"/>
              <a:t>3. Example data science questions</a:t>
            </a:r>
          </a:p>
          <a:p>
            <a:r>
              <a:rPr lang="en-CA" b="1" dirty="0"/>
              <a:t>Trends over time:</a:t>
            </a:r>
            <a:endParaRPr lang="en-CA" dirty="0"/>
          </a:p>
          <a:p>
            <a:pPr lvl="1"/>
            <a:r>
              <a:rPr lang="en-CA" dirty="0"/>
              <a:t>How did Babe Ruth’s batting average change with age?</a:t>
            </a:r>
          </a:p>
          <a:p>
            <a:pPr lvl="1"/>
            <a:r>
              <a:rPr lang="en-CA" dirty="0"/>
              <a:t>When did he peak as a player?</a:t>
            </a:r>
          </a:p>
          <a:p>
            <a:r>
              <a:rPr lang="en-CA" b="1" dirty="0"/>
              <a:t>Comparisons:</a:t>
            </a:r>
            <a:endParaRPr lang="en-CA" dirty="0"/>
          </a:p>
          <a:p>
            <a:pPr lvl="1"/>
            <a:r>
              <a:rPr lang="en-CA" dirty="0"/>
              <a:t>Did his performance justify his salary at each stage?</a:t>
            </a:r>
          </a:p>
          <a:p>
            <a:pPr lvl="1"/>
            <a:r>
              <a:rPr lang="en-CA" dirty="0"/>
              <a:t>How do his stats compare to other players of his era?</a:t>
            </a:r>
          </a:p>
          <a:p>
            <a:r>
              <a:rPr lang="en-CA" b="1" dirty="0"/>
              <a:t>Predictions:</a:t>
            </a:r>
            <a:endParaRPr lang="en-CA" dirty="0"/>
          </a:p>
          <a:p>
            <a:pPr lvl="1"/>
            <a:r>
              <a:rPr lang="en-CA" dirty="0"/>
              <a:t>Based on his first 5 years, could we have predicted his career trajectory?</a:t>
            </a:r>
          </a:p>
          <a:p>
            <a:r>
              <a:rPr lang="en-CA" b="1" dirty="0"/>
              <a:t>Anomalies:</a:t>
            </a:r>
            <a:endParaRPr lang="en-CA" dirty="0"/>
          </a:p>
          <a:p>
            <a:pPr lvl="1"/>
            <a:r>
              <a:rPr lang="en-CA" dirty="0"/>
              <a:t>Were there any “outlier” seasons where his stats deviated sharply?</a:t>
            </a:r>
          </a:p>
          <a:p>
            <a:r>
              <a:rPr lang="en-CA" b="1" dirty="0"/>
              <a:t>4. Teaching takeaway</a:t>
            </a:r>
          </a:p>
          <a:p>
            <a:r>
              <a:rPr lang="en-CA" dirty="0"/>
              <a:t>Say: </a:t>
            </a:r>
            <a:r>
              <a:rPr lang="en-CA" i="1" dirty="0"/>
              <a:t>“Sports statistics are a gold mine for data science. They’re structured, complete, and often span decades—perfect for practicing time series analysis, regression, prediction, and visualization.”</a:t>
            </a:r>
            <a:endParaRPr lang="en-CA" dirty="0"/>
          </a:p>
          <a:p>
            <a:r>
              <a:rPr lang="en-CA" dirty="0"/>
              <a:t>Add: </a:t>
            </a:r>
            <a:r>
              <a:rPr lang="en-CA" i="1" dirty="0"/>
              <a:t>“This is also a good reminder: the techniques we use in sports data can apply to other fields like finance, healthcare, and education.”</a:t>
            </a:r>
            <a:endParaRPr lang="en-CA" dirty="0"/>
          </a:p>
          <a:p>
            <a:pPr marL="0" lvl="0" indent="0" algn="l" rtl="0">
              <a:spcBef>
                <a:spcPts val="0"/>
              </a:spcBef>
              <a:spcAft>
                <a:spcPts val="0"/>
              </a:spcAft>
              <a:buNone/>
            </a:pPr>
            <a:endParaRPr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6d104dbc_0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6d104dbc_0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1. How to best measure individual player’s skill, value, or performance?</a:t>
            </a:r>
          </a:p>
          <a:p>
            <a:r>
              <a:rPr lang="en-CA" dirty="0"/>
              <a:t>Say: </a:t>
            </a:r>
            <a:r>
              <a:rPr lang="en-CA" i="1" dirty="0"/>
              <a:t>“Baseball has dozens of stats—batting average, on-base percentage, slugging, home runs. Which one is the best measure of player value?”</a:t>
            </a:r>
            <a:endParaRPr lang="en-CA" dirty="0"/>
          </a:p>
          <a:p>
            <a:r>
              <a:rPr lang="en-CA" dirty="0"/>
              <a:t>This opens discussion about </a:t>
            </a:r>
            <a:r>
              <a:rPr lang="en-CA" b="1" dirty="0"/>
              <a:t>feature selection</a:t>
            </a:r>
            <a:r>
              <a:rPr lang="en-CA" dirty="0"/>
              <a:t> in data science—deciding what metric really captures what you care about.</a:t>
            </a:r>
          </a:p>
          <a:p>
            <a:r>
              <a:rPr lang="en-CA" b="1" dirty="0"/>
              <a:t>2. How fair do trades between teams work out?</a:t>
            </a:r>
          </a:p>
          <a:p>
            <a:r>
              <a:rPr lang="en-CA" dirty="0"/>
              <a:t>Example: Babe Ruth’s famous trade from the Red Sox to the Yankees.</a:t>
            </a:r>
          </a:p>
          <a:p>
            <a:r>
              <a:rPr lang="en-CA" dirty="0"/>
              <a:t>Question: Did both teams benefit? Or did one side “win” the trade?</a:t>
            </a:r>
          </a:p>
          <a:p>
            <a:r>
              <a:rPr lang="en-CA" dirty="0"/>
              <a:t>This ties to </a:t>
            </a:r>
            <a:r>
              <a:rPr lang="en-CA" b="1" dirty="0"/>
              <a:t>causal inference</a:t>
            </a:r>
            <a:r>
              <a:rPr lang="en-CA" dirty="0"/>
              <a:t>: measuring outcomes not just in raw numbers, but in terms of long-term value.</a:t>
            </a:r>
          </a:p>
          <a:p>
            <a:r>
              <a:rPr lang="en-CA" b="1" dirty="0"/>
              <a:t>3. What is the trajectory of players’ performances as they mature and age?</a:t>
            </a:r>
          </a:p>
          <a:p>
            <a:r>
              <a:rPr lang="en-CA" dirty="0"/>
              <a:t>Performance is not static—it improves, peaks, and declines.</a:t>
            </a:r>
          </a:p>
          <a:p>
            <a:r>
              <a:rPr lang="en-CA" dirty="0"/>
              <a:t>This invites </a:t>
            </a:r>
            <a:r>
              <a:rPr lang="en-CA" b="1" dirty="0"/>
              <a:t>time series analysis</a:t>
            </a:r>
            <a:r>
              <a:rPr lang="en-CA" dirty="0"/>
              <a:t> and </a:t>
            </a:r>
            <a:r>
              <a:rPr lang="en-CA" b="1" dirty="0"/>
              <a:t>predictive modeling</a:t>
            </a:r>
            <a:r>
              <a:rPr lang="en-CA" dirty="0"/>
              <a:t>.</a:t>
            </a:r>
          </a:p>
          <a:p>
            <a:r>
              <a:rPr lang="en-CA" dirty="0"/>
              <a:t>Example: Can we model when most players peak? How early performance predicts longevity?</a:t>
            </a:r>
          </a:p>
          <a:p>
            <a:r>
              <a:rPr lang="en-CA" b="1" dirty="0"/>
              <a:t>4. To what extent does batting performance correlate with the position played?</a:t>
            </a:r>
          </a:p>
          <a:p>
            <a:r>
              <a:rPr lang="en-CA" dirty="0"/>
              <a:t>Certain positions (e.g., pitchers vs. outfielders) have different batting expectations.</a:t>
            </a:r>
          </a:p>
          <a:p>
            <a:r>
              <a:rPr lang="en-CA" dirty="0"/>
              <a:t>Say: </a:t>
            </a:r>
            <a:r>
              <a:rPr lang="en-CA" i="1" dirty="0"/>
              <a:t>“If we separate batting stats by position, do we see clear patterns? Are shortstops weaker hitters than outfielders, on average?”</a:t>
            </a:r>
            <a:endParaRPr lang="en-CA" dirty="0"/>
          </a:p>
          <a:p>
            <a:r>
              <a:rPr lang="en-CA" dirty="0"/>
              <a:t>This is an example of </a:t>
            </a:r>
            <a:r>
              <a:rPr lang="en-CA" b="1" dirty="0"/>
              <a:t>segmentation</a:t>
            </a:r>
            <a:r>
              <a:rPr lang="en-CA" dirty="0"/>
              <a:t> and </a:t>
            </a:r>
            <a:r>
              <a:rPr lang="en-CA" b="1" dirty="0"/>
              <a:t>correlation analysis</a:t>
            </a:r>
            <a:r>
              <a:rPr lang="en-CA" dirty="0"/>
              <a:t>.</a:t>
            </a:r>
          </a:p>
          <a:p>
            <a:r>
              <a:rPr lang="en-CA" b="1" dirty="0"/>
              <a:t>5. Teaching takeaway</a:t>
            </a:r>
          </a:p>
          <a:p>
            <a:r>
              <a:rPr lang="en-CA" dirty="0"/>
              <a:t>Say: </a:t>
            </a:r>
            <a:r>
              <a:rPr lang="en-CA" i="1" dirty="0"/>
              <a:t>“Notice that these questions are not just about baseball—they’re about data science thinking. They force us to ask: What metrics matter? How do we measure fairness? How do we handle time series? How do we segment data by categories?”</a:t>
            </a:r>
            <a:endParaRPr lang="en-CA" dirty="0"/>
          </a:p>
          <a:p>
            <a:pPr marL="0" lvl="0" indent="0" algn="l" rtl="0">
              <a:spcBef>
                <a:spcPts val="0"/>
              </a:spcBef>
              <a:spcAft>
                <a:spcPts val="0"/>
              </a:spcAft>
              <a:buNone/>
            </a:pPr>
            <a:endParaRPr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6d104dbc_0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6d104dbc_0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1. Do left-handed people have shorter lifespans than right-handers?</a:t>
            </a:r>
          </a:p>
          <a:p>
            <a:r>
              <a:rPr lang="en-CA" dirty="0"/>
              <a:t>Say: </a:t>
            </a:r>
            <a:r>
              <a:rPr lang="en-CA" i="1" dirty="0"/>
              <a:t>“This is a classic kind of demographic question—looking for differences between groups.”</a:t>
            </a:r>
            <a:endParaRPr lang="en-CA" dirty="0"/>
          </a:p>
          <a:p>
            <a:r>
              <a:rPr lang="en-CA" dirty="0"/>
              <a:t>In baseball data, you can compare </a:t>
            </a:r>
            <a:r>
              <a:rPr lang="en-CA" b="1" dirty="0"/>
              <a:t>left-handed vs. right-handed players</a:t>
            </a:r>
            <a:r>
              <a:rPr lang="en-CA" dirty="0"/>
              <a:t> on career length or health outcomes.</a:t>
            </a:r>
          </a:p>
          <a:p>
            <a:r>
              <a:rPr lang="en-CA" dirty="0"/>
              <a:t>Broader lesson: This is about </a:t>
            </a:r>
            <a:r>
              <a:rPr lang="en-CA" b="1" dirty="0"/>
              <a:t>group comparison analysis</a:t>
            </a:r>
            <a:r>
              <a:rPr lang="en-CA" dirty="0"/>
              <a:t>.</a:t>
            </a:r>
          </a:p>
          <a:p>
            <a:r>
              <a:rPr lang="en-CA" b="1" dirty="0"/>
              <a:t>2. How often do people return to where they were born?</a:t>
            </a:r>
          </a:p>
          <a:p>
            <a:r>
              <a:rPr lang="en-CA" dirty="0"/>
              <a:t>With birthplace and deathplace (or retirement place) data, you can study </a:t>
            </a:r>
            <a:r>
              <a:rPr lang="en-CA" b="1" dirty="0"/>
              <a:t>migration patterns</a:t>
            </a:r>
            <a:r>
              <a:rPr lang="en-CA" dirty="0"/>
              <a:t>.</a:t>
            </a:r>
          </a:p>
          <a:p>
            <a:r>
              <a:rPr lang="en-CA" dirty="0"/>
              <a:t>Say: </a:t>
            </a:r>
            <a:r>
              <a:rPr lang="en-CA" i="1" dirty="0"/>
              <a:t>“Are players more likely to settle back near their hometowns, or do they stay in the cities where they played?”</a:t>
            </a:r>
            <a:endParaRPr lang="en-CA" dirty="0"/>
          </a:p>
          <a:p>
            <a:r>
              <a:rPr lang="en-CA" dirty="0"/>
              <a:t>Broader lesson: This reflects </a:t>
            </a:r>
            <a:r>
              <a:rPr lang="en-CA" b="1" dirty="0"/>
              <a:t>geographic/demographic mobility studies</a:t>
            </a:r>
            <a:r>
              <a:rPr lang="en-CA" dirty="0"/>
              <a:t>.</a:t>
            </a:r>
          </a:p>
          <a:p>
            <a:r>
              <a:rPr lang="en-CA" b="1" dirty="0"/>
              <a:t>3. Do player salaries reflect past, present, or future performance?</a:t>
            </a:r>
          </a:p>
          <a:p>
            <a:r>
              <a:rPr lang="en-CA" dirty="0"/>
              <a:t>Great example of </a:t>
            </a:r>
            <a:r>
              <a:rPr lang="en-CA" b="1" dirty="0"/>
              <a:t>causality and time dependence</a:t>
            </a:r>
            <a:r>
              <a:rPr lang="en-CA" dirty="0"/>
              <a:t>.</a:t>
            </a:r>
          </a:p>
          <a:p>
            <a:r>
              <a:rPr lang="en-CA" dirty="0"/>
              <a:t>Say: </a:t>
            </a:r>
            <a:r>
              <a:rPr lang="en-CA" i="1" dirty="0"/>
              <a:t>“Are teams paying for what a player has already done, what they’re doing right now, or what they’re expected to do in the future?”</a:t>
            </a:r>
            <a:endParaRPr lang="en-CA" dirty="0"/>
          </a:p>
          <a:p>
            <a:r>
              <a:rPr lang="en-CA" dirty="0"/>
              <a:t>Broader lesson: This connects to </a:t>
            </a:r>
            <a:r>
              <a:rPr lang="en-CA" b="1" dirty="0"/>
              <a:t>lagged features and predictive modeling</a:t>
            </a:r>
            <a:r>
              <a:rPr lang="en-CA" dirty="0"/>
              <a:t>.</a:t>
            </a:r>
          </a:p>
          <a:p>
            <a:r>
              <a:rPr lang="en-CA" b="1" dirty="0"/>
              <a:t>4. Are heights and weights increasing in the population?</a:t>
            </a:r>
          </a:p>
          <a:p>
            <a:r>
              <a:rPr lang="en-CA" dirty="0"/>
              <a:t>With long-term player records, you can track </a:t>
            </a:r>
            <a:r>
              <a:rPr lang="en-CA" b="1" dirty="0"/>
              <a:t>physical changes over decades</a:t>
            </a:r>
            <a:r>
              <a:rPr lang="en-CA" dirty="0"/>
              <a:t>.</a:t>
            </a:r>
          </a:p>
          <a:p>
            <a:r>
              <a:rPr lang="en-CA" dirty="0"/>
              <a:t>Say: </a:t>
            </a:r>
            <a:r>
              <a:rPr lang="en-CA" i="1" dirty="0"/>
              <a:t>“For example, are modern players taller and heavier than players from Babe Ruth’s time?”</a:t>
            </a:r>
            <a:endParaRPr lang="en-CA" dirty="0"/>
          </a:p>
          <a:p>
            <a:r>
              <a:rPr lang="en-CA" dirty="0"/>
              <a:t>Broader lesson: This is about </a:t>
            </a:r>
            <a:r>
              <a:rPr lang="en-CA" b="1" dirty="0"/>
              <a:t>longitudinal trend analysis</a:t>
            </a:r>
            <a:r>
              <a:rPr lang="en-CA" dirty="0"/>
              <a:t>.</a:t>
            </a:r>
          </a:p>
          <a:p>
            <a:r>
              <a:rPr lang="en-CA" b="1" dirty="0"/>
              <a:t>Teaching takeaway</a:t>
            </a:r>
          </a:p>
          <a:p>
            <a:r>
              <a:rPr lang="en-CA" dirty="0"/>
              <a:t>Emphasize: </a:t>
            </a:r>
            <a:r>
              <a:rPr lang="en-CA" i="1" dirty="0"/>
              <a:t>“These questions show how demographic information—things like handedness, birthplaces, physical stats, and salaries—can be analyzed to uncover trends and insights. The key is to link demographics to outcomes.”</a:t>
            </a:r>
          </a:p>
          <a:p>
            <a:r>
              <a:rPr lang="en-CA" i="1" dirty="0"/>
              <a:t>How many people go back to their country after their studies </a:t>
            </a:r>
          </a:p>
          <a:p>
            <a:r>
              <a:rPr lang="en-CA" i="1" dirty="0"/>
              <a:t>Gender is a big bias in the </a:t>
            </a:r>
            <a:r>
              <a:rPr lang="en-CA" i="1" dirty="0" err="1"/>
              <a:t>basebasl</a:t>
            </a:r>
            <a:r>
              <a:rPr lang="en-CA" i="1" dirty="0"/>
              <a:t> data </a:t>
            </a:r>
            <a:endParaRPr lang="en-CA" dirty="0"/>
          </a:p>
          <a:p>
            <a:pPr marL="0" lvl="0" indent="0" algn="l" rtl="0">
              <a:spcBef>
                <a:spcPts val="0"/>
              </a:spcBef>
              <a:spcAft>
                <a:spcPts val="0"/>
              </a:spcAft>
              <a:buNone/>
            </a:pPr>
            <a:endParaRPr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6d104dbc_0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6d104dbc_0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6d104dbc_0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6d104dbc_0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6d104dbc_0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6d104dbc_0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Slide 1 – IMDb Actor Data</a:t>
            </a:r>
          </a:p>
          <a:p>
            <a:r>
              <a:rPr lang="en-CA" dirty="0"/>
              <a:t>The slide shows </a:t>
            </a:r>
            <a:r>
              <a:rPr lang="en-CA" b="1" dirty="0"/>
              <a:t>James Stewart’s IMDb profile</a:t>
            </a:r>
            <a:r>
              <a:rPr lang="en-CA" dirty="0"/>
              <a:t> with:</a:t>
            </a:r>
          </a:p>
          <a:p>
            <a:pPr lvl="1"/>
            <a:r>
              <a:rPr lang="en-CA" dirty="0"/>
              <a:t>Biographical info (birth, death, education, achievements).</a:t>
            </a:r>
          </a:p>
          <a:p>
            <a:pPr lvl="1"/>
            <a:r>
              <a:rPr lang="en-CA" dirty="0"/>
              <a:t>Career highlights (movies, awards).</a:t>
            </a:r>
          </a:p>
          <a:p>
            <a:pPr lvl="1"/>
            <a:r>
              <a:rPr lang="en-CA" dirty="0"/>
              <a:t>Cast lists (co-actors and roles).</a:t>
            </a:r>
          </a:p>
          <a:p>
            <a:r>
              <a:rPr lang="en-CA" dirty="0"/>
              <a:t>Say: </a:t>
            </a:r>
            <a:r>
              <a:rPr lang="en-CA" i="1" dirty="0"/>
              <a:t>“This is a structured dataset: each actor has biographical, career, and network data (who they worked with). That means we can ask not just about individual actors, but about patterns across the film industry.”</a:t>
            </a:r>
            <a:endParaRPr lang="en-CA" dirty="0"/>
          </a:p>
          <a:p>
            <a:r>
              <a:rPr lang="en-CA" b="1" dirty="0"/>
              <a:t>Slide 2 – Movie Questions</a:t>
            </a:r>
          </a:p>
          <a:p>
            <a:r>
              <a:rPr lang="en-CA" b="1" dirty="0"/>
              <a:t>1. Can we predict how well people will like a movie? What about its gross?</a:t>
            </a:r>
          </a:p>
          <a:p>
            <a:r>
              <a:rPr lang="en-CA" dirty="0"/>
              <a:t>Use features like cast, director, genre, budget, release date.</a:t>
            </a:r>
          </a:p>
          <a:p>
            <a:r>
              <a:rPr lang="en-CA" dirty="0"/>
              <a:t>This ties to </a:t>
            </a:r>
            <a:r>
              <a:rPr lang="en-CA" b="1" dirty="0"/>
              <a:t>predictive modeling &amp; regression/classification.</a:t>
            </a:r>
            <a:endParaRPr lang="en-CA" dirty="0"/>
          </a:p>
          <a:p>
            <a:r>
              <a:rPr lang="en-CA" b="1" dirty="0"/>
              <a:t>2. What does the social network of actors look like?</a:t>
            </a:r>
          </a:p>
          <a:p>
            <a:r>
              <a:rPr lang="en-CA" dirty="0"/>
              <a:t>Example: the “Six Degrees of Kevin Bacon” game.</a:t>
            </a:r>
          </a:p>
          <a:p>
            <a:r>
              <a:rPr lang="en-CA" dirty="0"/>
              <a:t>Build a </a:t>
            </a:r>
            <a:r>
              <a:rPr lang="en-CA" b="1" dirty="0"/>
              <a:t>graph network</a:t>
            </a:r>
            <a:r>
              <a:rPr lang="en-CA" dirty="0"/>
              <a:t>: actors are nodes, co-starring in a film creates edges.</a:t>
            </a:r>
          </a:p>
          <a:p>
            <a:r>
              <a:rPr lang="en-CA" dirty="0"/>
              <a:t>Useful for </a:t>
            </a:r>
            <a:r>
              <a:rPr lang="en-CA" b="1" dirty="0"/>
              <a:t>graph analysis</a:t>
            </a:r>
            <a:r>
              <a:rPr lang="en-CA" dirty="0"/>
              <a:t> and studying influence/collaboration.</a:t>
            </a:r>
          </a:p>
          <a:p>
            <a:r>
              <a:rPr lang="en-CA" b="1" dirty="0"/>
              <a:t>3. What is the age distribution of actors and actresses in film?</a:t>
            </a:r>
          </a:p>
          <a:p>
            <a:r>
              <a:rPr lang="en-CA" dirty="0"/>
              <a:t>Compare age distributions across decades, genres, or leading vs. supporting roles.</a:t>
            </a:r>
          </a:p>
          <a:p>
            <a:r>
              <a:rPr lang="en-CA" dirty="0"/>
              <a:t>This is a </a:t>
            </a:r>
            <a:r>
              <a:rPr lang="en-CA" b="1" dirty="0"/>
              <a:t>demographic analysis question</a:t>
            </a:r>
            <a:r>
              <a:rPr lang="en-CA" dirty="0"/>
              <a:t>.</a:t>
            </a:r>
          </a:p>
          <a:p>
            <a:r>
              <a:rPr lang="en-CA" b="1" dirty="0"/>
              <a:t>4. Do stars live longer or shorter lives than the bit players or public?</a:t>
            </a:r>
          </a:p>
          <a:p>
            <a:r>
              <a:rPr lang="en-CA" dirty="0"/>
              <a:t>Compare survival statistics for lead actors vs. supporting actors vs. general population.</a:t>
            </a:r>
          </a:p>
          <a:p>
            <a:r>
              <a:rPr lang="en-CA" dirty="0"/>
              <a:t>Brings in </a:t>
            </a:r>
            <a:r>
              <a:rPr lang="en-CA" b="1" dirty="0"/>
              <a:t>statistical comparison and hypothesis testing</a:t>
            </a:r>
            <a:r>
              <a:rPr lang="en-CA" dirty="0"/>
              <a:t>.</a:t>
            </a:r>
          </a:p>
          <a:p>
            <a:pPr marL="0" lvl="0" indent="0" algn="l" rtl="0">
              <a:spcBef>
                <a:spcPts val="0"/>
              </a:spcBef>
              <a:spcAft>
                <a:spcPts val="0"/>
              </a:spcAft>
              <a:buNone/>
            </a:pPr>
            <a:endParaRPr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6d104dbc_0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6d104dbc_0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1. What Google </a:t>
            </a:r>
            <a:r>
              <a:rPr lang="en-CA" b="1" dirty="0" err="1"/>
              <a:t>Ngrams</a:t>
            </a:r>
            <a:r>
              <a:rPr lang="en-CA" b="1" dirty="0"/>
              <a:t> is</a:t>
            </a:r>
          </a:p>
          <a:p>
            <a:r>
              <a:rPr lang="en-CA" dirty="0"/>
              <a:t>Say: </a:t>
            </a:r>
            <a:r>
              <a:rPr lang="en-CA" i="1" dirty="0"/>
              <a:t>“Google </a:t>
            </a:r>
            <a:r>
              <a:rPr lang="en-CA" i="1" dirty="0" err="1"/>
              <a:t>Ngrams</a:t>
            </a:r>
            <a:r>
              <a:rPr lang="en-CA" i="1" dirty="0"/>
              <a:t> is a dataset built from books that Google has scanned—about 15% of all books ever published.”</a:t>
            </a:r>
            <a:endParaRPr lang="en-CA" dirty="0"/>
          </a:p>
          <a:p>
            <a:r>
              <a:rPr lang="en-CA" dirty="0"/>
              <a:t>It presents </a:t>
            </a:r>
            <a:r>
              <a:rPr lang="en-CA" b="1" dirty="0"/>
              <a:t>an annual time series</a:t>
            </a:r>
            <a:r>
              <a:rPr lang="en-CA" dirty="0"/>
              <a:t> showing how often words or short phrases (1–5 words) appear in books.</a:t>
            </a:r>
          </a:p>
          <a:p>
            <a:r>
              <a:rPr lang="en-CA" dirty="0"/>
              <a:t>Only words/phrases that appear </a:t>
            </a:r>
            <a:r>
              <a:rPr lang="en-CA" b="1" dirty="0"/>
              <a:t>at least 40 times</a:t>
            </a:r>
            <a:r>
              <a:rPr lang="en-CA" dirty="0"/>
              <a:t> are included (to filter out noise).</a:t>
            </a:r>
          </a:p>
          <a:p>
            <a:r>
              <a:rPr lang="en-CA" b="1" dirty="0"/>
              <a:t>2. Why it’s useful</a:t>
            </a:r>
          </a:p>
          <a:p>
            <a:r>
              <a:rPr lang="en-CA" dirty="0"/>
              <a:t>It lets us </a:t>
            </a:r>
            <a:r>
              <a:rPr lang="en-CA" b="1" dirty="0"/>
              <a:t>track language and cultural trends over time</a:t>
            </a:r>
            <a:r>
              <a:rPr lang="en-CA" dirty="0"/>
              <a:t>.</a:t>
            </a:r>
          </a:p>
          <a:p>
            <a:r>
              <a:rPr lang="en-CA" dirty="0"/>
              <a:t>Example: How often words like </a:t>
            </a:r>
            <a:r>
              <a:rPr lang="en-CA" i="1" dirty="0"/>
              <a:t>computer</a:t>
            </a:r>
            <a:r>
              <a:rPr lang="en-CA" dirty="0"/>
              <a:t>, </a:t>
            </a:r>
            <a:r>
              <a:rPr lang="en-CA" i="1" dirty="0"/>
              <a:t>democracy</a:t>
            </a:r>
            <a:r>
              <a:rPr lang="en-CA" dirty="0"/>
              <a:t>, or </a:t>
            </a:r>
            <a:r>
              <a:rPr lang="en-CA" i="1" dirty="0"/>
              <a:t>climate change</a:t>
            </a:r>
            <a:r>
              <a:rPr lang="en-CA" dirty="0"/>
              <a:t> appear in books.</a:t>
            </a:r>
          </a:p>
          <a:p>
            <a:r>
              <a:rPr lang="en-CA" dirty="0"/>
              <a:t>It’s essentially a way to “quantify culture.”</a:t>
            </a:r>
          </a:p>
          <a:p>
            <a:r>
              <a:rPr lang="en-CA" b="1" dirty="0"/>
              <a:t>3. Example questions</a:t>
            </a:r>
          </a:p>
          <a:p>
            <a:r>
              <a:rPr lang="en-CA" b="1" dirty="0"/>
              <a:t>Trends:</a:t>
            </a:r>
            <a:r>
              <a:rPr lang="en-CA" dirty="0"/>
              <a:t> How has the use of “artificial intelligence” grown since 1950?</a:t>
            </a:r>
          </a:p>
          <a:p>
            <a:r>
              <a:rPr lang="en-CA" b="1" dirty="0"/>
              <a:t>Comparisons:</a:t>
            </a:r>
            <a:r>
              <a:rPr lang="en-CA" dirty="0"/>
              <a:t> Which was used more often over time: “freedom” or “equality”?</a:t>
            </a:r>
          </a:p>
          <a:p>
            <a:r>
              <a:rPr lang="en-CA" b="1" dirty="0"/>
              <a:t>Events:</a:t>
            </a:r>
            <a:r>
              <a:rPr lang="en-CA" dirty="0"/>
              <a:t> Did mentions of “war” spike during the 1940s?</a:t>
            </a:r>
          </a:p>
          <a:p>
            <a:r>
              <a:rPr lang="en-CA" b="1" dirty="0"/>
              <a:t>Shifts:</a:t>
            </a:r>
            <a:r>
              <a:rPr lang="en-CA" dirty="0"/>
              <a:t> When did “email” surpass “letter” in popularity?</a:t>
            </a:r>
          </a:p>
          <a:p>
            <a:r>
              <a:rPr lang="en-CA" b="1" dirty="0"/>
              <a:t>4. Teaching takeaway</a:t>
            </a:r>
          </a:p>
          <a:p>
            <a:r>
              <a:rPr lang="en-CA" dirty="0"/>
              <a:t>Say: </a:t>
            </a:r>
            <a:r>
              <a:rPr lang="en-CA" i="1" dirty="0"/>
              <a:t>“Google </a:t>
            </a:r>
            <a:r>
              <a:rPr lang="en-CA" i="1" dirty="0" err="1"/>
              <a:t>Ngrams</a:t>
            </a:r>
            <a:r>
              <a:rPr lang="en-CA" i="1" dirty="0"/>
              <a:t> is an example of a dataset that isn’t numbers in a table, but still allows quantitative analysis.”</a:t>
            </a:r>
            <a:endParaRPr lang="en-CA" dirty="0"/>
          </a:p>
          <a:p>
            <a:r>
              <a:rPr lang="en-CA" dirty="0"/>
              <a:t>Emphasize: </a:t>
            </a:r>
            <a:r>
              <a:rPr lang="en-CA" i="1" dirty="0"/>
              <a:t>“Data science is about asking questions and finding patterns—whether the data is stock prices, sports stats, or words in books.”</a:t>
            </a:r>
            <a:endParaRPr lang="en-CA" dirty="0"/>
          </a:p>
          <a:p>
            <a:pPr marL="0" lvl="0" indent="0" algn="l" rtl="0">
              <a:spcBef>
                <a:spcPts val="0"/>
              </a:spcBef>
              <a:spcAft>
                <a:spcPts val="0"/>
              </a:spcAft>
              <a:buNone/>
            </a:pPr>
            <a:endParaRPr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6d104dbc_0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6d104dbc_0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How the Viewer Works</a:t>
            </a:r>
          </a:p>
          <a:p>
            <a:r>
              <a:rPr lang="en-CA" dirty="0"/>
              <a:t>Say: </a:t>
            </a:r>
            <a:r>
              <a:rPr lang="en-CA" i="1" dirty="0"/>
              <a:t>“The </a:t>
            </a:r>
            <a:r>
              <a:rPr lang="en-CA" i="1" dirty="0" err="1"/>
              <a:t>Ngram</a:t>
            </a:r>
            <a:r>
              <a:rPr lang="en-CA" i="1" dirty="0"/>
              <a:t> Viewer lets us enter words or phrases and see how often they appeared in books across time.”</a:t>
            </a:r>
            <a:endParaRPr lang="en-CA" dirty="0"/>
          </a:p>
          <a:p>
            <a:r>
              <a:rPr lang="en-CA" dirty="0"/>
              <a:t>The graph here tracks usage between </a:t>
            </a:r>
            <a:r>
              <a:rPr lang="en-CA" b="1" dirty="0"/>
              <a:t>1800–2000</a:t>
            </a:r>
            <a:r>
              <a:rPr lang="en-CA" dirty="0"/>
              <a:t>, showing relative frequency of each term in Google’s scanned book corpus.</a:t>
            </a:r>
          </a:p>
          <a:p>
            <a:r>
              <a:rPr lang="en-CA" dirty="0"/>
              <a:t>Important detail: The </a:t>
            </a:r>
            <a:r>
              <a:rPr lang="en-CA" b="1" dirty="0"/>
              <a:t>y-axis is normalized</a:t>
            </a:r>
            <a:r>
              <a:rPr lang="en-CA" dirty="0"/>
              <a:t>—it shows percentage of all words, not raw counts.</a:t>
            </a:r>
          </a:p>
          <a:p>
            <a:r>
              <a:rPr lang="en-CA" b="1" dirty="0"/>
              <a:t>2. Interpreting the Graph</a:t>
            </a:r>
          </a:p>
          <a:p>
            <a:r>
              <a:rPr lang="en-CA" b="1" dirty="0"/>
              <a:t>Frankenstein (green)</a:t>
            </a:r>
            <a:r>
              <a:rPr lang="en-CA" dirty="0"/>
              <a:t>:</a:t>
            </a:r>
          </a:p>
          <a:p>
            <a:pPr lvl="1"/>
            <a:r>
              <a:rPr lang="en-CA" dirty="0"/>
              <a:t>Spikes in the 19th century (after Mary Shelley’s book in 1818).</a:t>
            </a:r>
          </a:p>
          <a:p>
            <a:pPr lvl="1"/>
            <a:r>
              <a:rPr lang="en-CA" dirty="0"/>
              <a:t>Keeps rising through the 20th century, reflecting the novel’s cultural legacy and film adaptations.</a:t>
            </a:r>
          </a:p>
          <a:p>
            <a:r>
              <a:rPr lang="en-CA" b="1" dirty="0"/>
              <a:t>Sherlock Holmes (red)</a:t>
            </a:r>
            <a:r>
              <a:rPr lang="en-CA" dirty="0"/>
              <a:t>:</a:t>
            </a:r>
          </a:p>
          <a:p>
            <a:pPr lvl="1"/>
            <a:r>
              <a:rPr lang="en-CA" dirty="0"/>
              <a:t>Appears later, starting in the late 19th century.</a:t>
            </a:r>
          </a:p>
          <a:p>
            <a:pPr lvl="1"/>
            <a:r>
              <a:rPr lang="en-CA" dirty="0"/>
              <a:t>Peaks in the early 20th century with Conan Doyle’s stories, then stabilizes.</a:t>
            </a:r>
          </a:p>
          <a:p>
            <a:r>
              <a:rPr lang="en-CA" b="1" dirty="0"/>
              <a:t>Albert Einstein (blue)</a:t>
            </a:r>
            <a:r>
              <a:rPr lang="en-CA" dirty="0"/>
              <a:t>:</a:t>
            </a:r>
          </a:p>
          <a:p>
            <a:pPr lvl="1"/>
            <a:r>
              <a:rPr lang="en-CA" dirty="0"/>
              <a:t>Appears only in the 20th century.</a:t>
            </a:r>
          </a:p>
          <a:p>
            <a:pPr lvl="1"/>
            <a:r>
              <a:rPr lang="en-CA" dirty="0"/>
              <a:t>Peaks mid-century, aligning with his prominence in physics and global culture.</a:t>
            </a:r>
          </a:p>
          <a:p>
            <a:r>
              <a:rPr lang="en-CA" b="1" dirty="0"/>
              <a:t>3. Why This Is Useful</a:t>
            </a:r>
          </a:p>
          <a:p>
            <a:r>
              <a:rPr lang="en-CA" dirty="0"/>
              <a:t>Say: </a:t>
            </a:r>
            <a:r>
              <a:rPr lang="en-CA" i="1" dirty="0"/>
              <a:t>“This shows how </a:t>
            </a:r>
            <a:r>
              <a:rPr lang="en-CA" i="1" dirty="0" err="1"/>
              <a:t>Ngrams</a:t>
            </a:r>
            <a:r>
              <a:rPr lang="en-CA" i="1" dirty="0"/>
              <a:t> let us connect </a:t>
            </a:r>
            <a:r>
              <a:rPr lang="en-CA" b="1" i="1" dirty="0"/>
              <a:t>literary data</a:t>
            </a:r>
            <a:r>
              <a:rPr lang="en-CA" i="1" dirty="0"/>
              <a:t> with </a:t>
            </a:r>
            <a:r>
              <a:rPr lang="en-CA" b="1" i="1" dirty="0"/>
              <a:t>history and culture.</a:t>
            </a:r>
            <a:r>
              <a:rPr lang="en-CA" i="1" dirty="0"/>
              <a:t> We can see the cultural footprint of fictional characters vs. real scientists.”</a:t>
            </a:r>
            <a:endParaRPr lang="en-CA" dirty="0"/>
          </a:p>
          <a:p>
            <a:r>
              <a:rPr lang="en-CA" dirty="0"/>
              <a:t>Emphasize: </a:t>
            </a:r>
            <a:r>
              <a:rPr lang="en-CA" i="1" dirty="0"/>
              <a:t>“It’s a powerful way to visualize how ideas, people, and stories rise and fall in popularity.”</a:t>
            </a:r>
            <a:endParaRPr lang="en-CA" dirty="0"/>
          </a:p>
          <a:p>
            <a:r>
              <a:rPr lang="en-CA" b="1" dirty="0"/>
              <a:t>4. Teaching Activity</a:t>
            </a:r>
          </a:p>
          <a:p>
            <a:r>
              <a:rPr lang="en-CA" dirty="0"/>
              <a:t>Ask students: </a:t>
            </a:r>
            <a:r>
              <a:rPr lang="en-CA" i="1" dirty="0"/>
              <a:t>“What other terms might show interesting trends? For example: democracy vs. freedom, or email vs. letter.”</a:t>
            </a:r>
            <a:endParaRPr lang="en-CA" dirty="0"/>
          </a:p>
          <a:p>
            <a:r>
              <a:rPr lang="en-CA" dirty="0"/>
              <a:t>Have them </a:t>
            </a:r>
            <a:r>
              <a:rPr lang="en-CA" b="1" dirty="0"/>
              <a:t>predict the trend first</a:t>
            </a:r>
            <a:r>
              <a:rPr lang="en-CA" dirty="0"/>
              <a:t>, then test with Ngram Viewer.</a:t>
            </a:r>
          </a:p>
          <a:p>
            <a:endParaRPr lang="en-CA" dirty="0"/>
          </a:p>
          <a:p>
            <a:r>
              <a:rPr lang="en-CA" dirty="0"/>
              <a:t>How are the words creeping into each other</a:t>
            </a:r>
          </a:p>
          <a:p>
            <a:r>
              <a:rPr lang="en-CA" dirty="0"/>
              <a:t>How much cursing has changed.</a:t>
            </a:r>
          </a:p>
          <a:p>
            <a:endParaRPr lang="en-CA" dirty="0"/>
          </a:p>
          <a:p>
            <a:pPr marL="0" lvl="0" indent="0" algn="l" rtl="0">
              <a:spcBef>
                <a:spcPts val="0"/>
              </a:spcBef>
              <a:spcAft>
                <a:spcPts val="0"/>
              </a:spcAft>
              <a:buNone/>
            </a:pPr>
            <a:endParaRPr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6d104dbc_0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6d104dbc_0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1. How has the amount of cursing changed over time?</a:t>
            </a:r>
          </a:p>
          <a:p>
            <a:r>
              <a:rPr lang="en-CA" dirty="0"/>
              <a:t>Say: </a:t>
            </a:r>
            <a:r>
              <a:rPr lang="en-CA" i="1" dirty="0"/>
              <a:t>“We could look at how often swear words appear in published books over the last 200 years.”</a:t>
            </a:r>
            <a:endParaRPr lang="en-CA" dirty="0"/>
          </a:p>
          <a:p>
            <a:r>
              <a:rPr lang="en-CA" dirty="0"/>
              <a:t>This raises interesting </a:t>
            </a:r>
            <a:r>
              <a:rPr lang="en-CA" b="1" dirty="0"/>
              <a:t>cultural and social questions</a:t>
            </a:r>
            <a:r>
              <a:rPr lang="en-CA" dirty="0"/>
              <a:t>—are people writing more openly now than before?</a:t>
            </a:r>
          </a:p>
          <a:p>
            <a:r>
              <a:rPr lang="en-CA" b="1" dirty="0"/>
              <a:t>2. What is the lifespan of fame and technologies? Is it increasing or decreasing?</a:t>
            </a:r>
          </a:p>
          <a:p>
            <a:r>
              <a:rPr lang="en-CA" dirty="0"/>
              <a:t>Example: Compare mentions of famous people (like “Albert Einstein”) or technologies (“steam engine” vs. “electricity” vs. “internet”).</a:t>
            </a:r>
          </a:p>
          <a:p>
            <a:r>
              <a:rPr lang="en-CA" dirty="0"/>
              <a:t>Ask: </a:t>
            </a:r>
            <a:r>
              <a:rPr lang="en-CA" i="1" dirty="0"/>
              <a:t>“Does fame last longer today than in the past? Do technologies fade faster?”</a:t>
            </a:r>
            <a:endParaRPr lang="en-CA" dirty="0"/>
          </a:p>
          <a:p>
            <a:r>
              <a:rPr lang="en-CA" dirty="0"/>
              <a:t>This ties into </a:t>
            </a:r>
            <a:r>
              <a:rPr lang="en-CA" b="1" dirty="0"/>
              <a:t>trend analysis and cultural memory</a:t>
            </a:r>
            <a:r>
              <a:rPr lang="en-CA" dirty="0"/>
              <a:t>.</a:t>
            </a:r>
          </a:p>
          <a:p>
            <a:r>
              <a:rPr lang="en-CA" b="1" dirty="0"/>
              <a:t>3. How often do new words emerge? Do they stay in common usage?</a:t>
            </a:r>
          </a:p>
          <a:p>
            <a:r>
              <a:rPr lang="en-CA" dirty="0"/>
              <a:t>Say: </a:t>
            </a:r>
            <a:r>
              <a:rPr lang="en-CA" i="1" dirty="0"/>
              <a:t>“We can track new words like ‘selfie’ or ‘blockchain’ to see if they’re just fads or lasting additions to the language.”</a:t>
            </a:r>
            <a:endParaRPr lang="en-CA" dirty="0"/>
          </a:p>
          <a:p>
            <a:r>
              <a:rPr lang="en-CA" dirty="0"/>
              <a:t>This is about </a:t>
            </a:r>
            <a:r>
              <a:rPr lang="en-CA" b="1" dirty="0"/>
              <a:t>innovation in language</a:t>
            </a:r>
            <a:r>
              <a:rPr lang="en-CA" dirty="0"/>
              <a:t> and </a:t>
            </a:r>
            <a:r>
              <a:rPr lang="en-CA" b="1" dirty="0"/>
              <a:t>adoption curves</a:t>
            </a:r>
            <a:r>
              <a:rPr lang="en-CA" dirty="0"/>
              <a:t>.</a:t>
            </a:r>
          </a:p>
          <a:p>
            <a:r>
              <a:rPr lang="en-CA" b="1" dirty="0"/>
              <a:t>4. What words are associated with other words (language modeling)?</a:t>
            </a:r>
          </a:p>
          <a:p>
            <a:r>
              <a:rPr lang="en-CA" dirty="0"/>
              <a:t>Example: Look at word pairs like </a:t>
            </a:r>
            <a:r>
              <a:rPr lang="en-CA" i="1" dirty="0"/>
              <a:t>“artificial” → “intelligence”</a:t>
            </a:r>
            <a:r>
              <a:rPr lang="en-CA" dirty="0"/>
              <a:t> or </a:t>
            </a:r>
            <a:r>
              <a:rPr lang="en-CA" i="1" dirty="0"/>
              <a:t>“climate” → “change.”</a:t>
            </a:r>
            <a:endParaRPr lang="en-CA" dirty="0"/>
          </a:p>
          <a:p>
            <a:r>
              <a:rPr lang="en-CA" dirty="0"/>
              <a:t>Ask: </a:t>
            </a:r>
            <a:r>
              <a:rPr lang="en-CA" i="1" dirty="0"/>
              <a:t>“What kinds of contexts do words appear in, and how do associations shift over time?”</a:t>
            </a:r>
            <a:endParaRPr lang="en-CA" dirty="0"/>
          </a:p>
          <a:p>
            <a:r>
              <a:rPr lang="en-CA" dirty="0"/>
              <a:t>This is essentially </a:t>
            </a:r>
            <a:r>
              <a:rPr lang="en-CA" b="1" dirty="0"/>
              <a:t>the foundation of modern NLP</a:t>
            </a:r>
            <a:r>
              <a:rPr lang="en-CA" dirty="0"/>
              <a:t>—learning word embeddings and co-occurrence patterns.</a:t>
            </a:r>
          </a:p>
          <a:p>
            <a:r>
              <a:rPr lang="en-CA" b="1" dirty="0"/>
              <a:t>Teaching Takeaway</a:t>
            </a:r>
          </a:p>
          <a:p>
            <a:r>
              <a:rPr lang="en-CA" dirty="0"/>
              <a:t>Say: </a:t>
            </a:r>
            <a:r>
              <a:rPr lang="en-CA" i="1" dirty="0"/>
              <a:t>“</a:t>
            </a:r>
            <a:r>
              <a:rPr lang="en-CA" i="1" dirty="0" err="1"/>
              <a:t>Ngrams</a:t>
            </a:r>
            <a:r>
              <a:rPr lang="en-CA" i="1" dirty="0"/>
              <a:t> isn’t just about words—it’s a tool to study culture, society, and language itself. With the right questions, we can move from word counts to deep insights about history.”</a:t>
            </a:r>
            <a:endParaRPr lang="en-CA" dirty="0"/>
          </a:p>
          <a:p>
            <a:pPr marL="0" lvl="0" indent="0" algn="l" rtl="0">
              <a:spcBef>
                <a:spcPts val="0"/>
              </a:spcBef>
              <a:spcAft>
                <a:spcPts val="0"/>
              </a:spcAft>
              <a:buNone/>
            </a:pPr>
            <a:endParaRPr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6d104dbc_0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6d104dbc_0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1. What the dataset contains</a:t>
            </a:r>
          </a:p>
          <a:p>
            <a:r>
              <a:rPr lang="en-CA" dirty="0"/>
              <a:t>Each row represents a </a:t>
            </a:r>
            <a:r>
              <a:rPr lang="en-CA" b="1" dirty="0"/>
              <a:t>single taxi trip</a:t>
            </a:r>
            <a:r>
              <a:rPr lang="en-CA" dirty="0"/>
              <a:t> in New York City.</a:t>
            </a:r>
          </a:p>
          <a:p>
            <a:r>
              <a:rPr lang="en-CA" dirty="0"/>
              <a:t>Key variables:</a:t>
            </a:r>
          </a:p>
          <a:p>
            <a:pPr lvl="1"/>
            <a:r>
              <a:rPr lang="en-CA" b="1" dirty="0"/>
              <a:t>Driver/owner IDs</a:t>
            </a:r>
            <a:r>
              <a:rPr lang="en-CA" dirty="0"/>
              <a:t> (medallion, hack license, vendor ID).</a:t>
            </a:r>
          </a:p>
          <a:p>
            <a:pPr lvl="1"/>
            <a:r>
              <a:rPr lang="en-CA" b="1" dirty="0"/>
              <a:t>Trip details</a:t>
            </a:r>
            <a:r>
              <a:rPr lang="en-CA" dirty="0"/>
              <a:t>: pickup &amp; </a:t>
            </a:r>
            <a:r>
              <a:rPr lang="en-CA" dirty="0" err="1"/>
              <a:t>dropoff</a:t>
            </a:r>
            <a:r>
              <a:rPr lang="en-CA" dirty="0"/>
              <a:t> times, locations (</a:t>
            </a:r>
            <a:r>
              <a:rPr lang="en-CA" dirty="0" err="1"/>
              <a:t>lat</a:t>
            </a:r>
            <a:r>
              <a:rPr lang="en-CA" dirty="0"/>
              <a:t>/long), trip distance, trip duration.</a:t>
            </a:r>
          </a:p>
          <a:p>
            <a:pPr lvl="1"/>
            <a:r>
              <a:rPr lang="en-CA" b="1" dirty="0"/>
              <a:t>Fare details</a:t>
            </a:r>
            <a:r>
              <a:rPr lang="en-CA" dirty="0"/>
              <a:t>: fare amount, surcharge, taxes, tips, tolls, total fare.</a:t>
            </a:r>
          </a:p>
          <a:p>
            <a:r>
              <a:rPr lang="en-CA" dirty="0"/>
              <a:t>Say: </a:t>
            </a:r>
            <a:r>
              <a:rPr lang="en-CA" i="1" dirty="0"/>
              <a:t>“This dataset essentially captures the economic and geographic footprint of taxi transportation in NYC.”</a:t>
            </a:r>
            <a:endParaRPr lang="en-CA" dirty="0"/>
          </a:p>
          <a:p>
            <a:r>
              <a:rPr lang="en-CA" b="1" dirty="0"/>
              <a:t>2. Why it’s interesting</a:t>
            </a:r>
          </a:p>
          <a:p>
            <a:r>
              <a:rPr lang="en-CA" dirty="0"/>
              <a:t>It’s </a:t>
            </a:r>
            <a:r>
              <a:rPr lang="en-CA" b="1" dirty="0"/>
              <a:t>large-scale</a:t>
            </a:r>
            <a:r>
              <a:rPr lang="en-CA" dirty="0"/>
              <a:t>: millions of trips across years.</a:t>
            </a:r>
          </a:p>
          <a:p>
            <a:r>
              <a:rPr lang="en-CA" dirty="0"/>
              <a:t>It’s </a:t>
            </a:r>
            <a:r>
              <a:rPr lang="en-CA" b="1" dirty="0"/>
              <a:t>multi-dimensional</a:t>
            </a:r>
            <a:r>
              <a:rPr lang="en-CA" dirty="0"/>
              <a:t>: combines geography, time, economics, and human behavior.</a:t>
            </a:r>
          </a:p>
          <a:p>
            <a:r>
              <a:rPr lang="en-CA" dirty="0"/>
              <a:t>It’s a great dataset for exploring </a:t>
            </a:r>
            <a:r>
              <a:rPr lang="en-CA" b="1" dirty="0"/>
              <a:t>urban analytics, demand forecasting, and mobility studies</a:t>
            </a:r>
            <a:r>
              <a:rPr lang="en-CA" dirty="0"/>
              <a:t>.</a:t>
            </a:r>
          </a:p>
          <a:p>
            <a:r>
              <a:rPr lang="en-CA" b="1" dirty="0"/>
              <a:t>3. Example questions</a:t>
            </a:r>
          </a:p>
          <a:p>
            <a:r>
              <a:rPr lang="en-CA" b="1" dirty="0"/>
              <a:t>Demand &amp; supply:</a:t>
            </a:r>
            <a:endParaRPr lang="en-CA" dirty="0"/>
          </a:p>
          <a:p>
            <a:pPr lvl="1"/>
            <a:r>
              <a:rPr lang="en-CA" dirty="0"/>
              <a:t>What are the busiest pickup/</a:t>
            </a:r>
            <a:r>
              <a:rPr lang="en-CA" dirty="0" err="1"/>
              <a:t>dropoff</a:t>
            </a:r>
            <a:r>
              <a:rPr lang="en-CA" dirty="0"/>
              <a:t> locations?</a:t>
            </a:r>
          </a:p>
          <a:p>
            <a:pPr lvl="1"/>
            <a:r>
              <a:rPr lang="en-CA" dirty="0"/>
              <a:t>What times of day have the highest demand?</a:t>
            </a:r>
          </a:p>
          <a:p>
            <a:r>
              <a:rPr lang="en-CA" b="1" dirty="0"/>
              <a:t>Fares &amp; tips:</a:t>
            </a:r>
            <a:endParaRPr lang="en-CA" dirty="0"/>
          </a:p>
          <a:p>
            <a:pPr lvl="1"/>
            <a:r>
              <a:rPr lang="en-CA" dirty="0"/>
              <a:t>Do tips correlate with trip distance, duration, or time of day?</a:t>
            </a:r>
          </a:p>
          <a:p>
            <a:pPr lvl="1"/>
            <a:r>
              <a:rPr lang="en-CA" dirty="0"/>
              <a:t>How do surcharges (like night or rush hour pricing) affect total fares?</a:t>
            </a:r>
          </a:p>
          <a:p>
            <a:r>
              <a:rPr lang="en-CA" b="1" dirty="0"/>
              <a:t>Geographic analysis:</a:t>
            </a:r>
            <a:endParaRPr lang="en-CA" dirty="0"/>
          </a:p>
          <a:p>
            <a:pPr lvl="1"/>
            <a:r>
              <a:rPr lang="en-CA" dirty="0"/>
              <a:t>Which neighborhoods are most connected by taxis?</a:t>
            </a:r>
          </a:p>
          <a:p>
            <a:pPr lvl="1"/>
            <a:r>
              <a:rPr lang="en-CA" dirty="0"/>
              <a:t>Can we cluster trips into common routes?</a:t>
            </a:r>
          </a:p>
          <a:p>
            <a:r>
              <a:rPr lang="en-CA" b="1" dirty="0"/>
              <a:t>Operational questions:</a:t>
            </a:r>
            <a:endParaRPr lang="en-CA" dirty="0"/>
          </a:p>
          <a:p>
            <a:pPr lvl="1"/>
            <a:r>
              <a:rPr lang="en-CA" dirty="0"/>
              <a:t>How much revenue does an average taxi driver make in a day?</a:t>
            </a:r>
          </a:p>
          <a:p>
            <a:pPr lvl="1"/>
            <a:r>
              <a:rPr lang="en-CA" dirty="0"/>
              <a:t>What’s the distribution of trip lengths (short vs. long rides)?</a:t>
            </a:r>
          </a:p>
          <a:p>
            <a:r>
              <a:rPr lang="en-CA" b="1" dirty="0"/>
              <a:t>4. Teaching takeaway</a:t>
            </a:r>
          </a:p>
          <a:p>
            <a:r>
              <a:rPr lang="en-CA" dirty="0"/>
              <a:t>Say: </a:t>
            </a:r>
            <a:r>
              <a:rPr lang="en-CA" i="1" dirty="0"/>
              <a:t>“This dataset shows how raw transactional data—like taxi rides—can reveal broader patterns about human behavior, economics, and city infrastructure.”</a:t>
            </a:r>
            <a:endParaRPr lang="en-CA" dirty="0"/>
          </a:p>
          <a:p>
            <a:r>
              <a:rPr lang="en-CA" dirty="0"/>
              <a:t>Emphasize: </a:t>
            </a:r>
            <a:r>
              <a:rPr lang="en-CA" i="1" dirty="0"/>
              <a:t>“It’s not just about taxis. The same techniques apply to analyzing Uber trips, food deliveries, or even hospital visits.”</a:t>
            </a:r>
            <a:endParaRPr lang="en-CA" dirty="0"/>
          </a:p>
          <a:p>
            <a:pPr marL="0" lvl="0" indent="0" algn="l" rtl="0">
              <a:spcBef>
                <a:spcPts val="0"/>
              </a:spcBef>
              <a:spcAft>
                <a:spcPts val="0"/>
              </a:spcAft>
              <a:buNone/>
            </a:pPr>
            <a:endParaRPr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6d104dbc_0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6d104dbc_0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1. How much do drivers make each night?</a:t>
            </a:r>
          </a:p>
          <a:p>
            <a:r>
              <a:rPr lang="en-CA" dirty="0"/>
              <a:t>Using </a:t>
            </a:r>
            <a:r>
              <a:rPr lang="en-CA" b="1" dirty="0" err="1"/>
              <a:t>fare_amount</a:t>
            </a:r>
            <a:r>
              <a:rPr lang="en-CA" b="1" dirty="0"/>
              <a:t> + tips + surcharges</a:t>
            </a:r>
            <a:r>
              <a:rPr lang="en-CA" dirty="0"/>
              <a:t>, group by driver and date.</a:t>
            </a:r>
          </a:p>
          <a:p>
            <a:r>
              <a:rPr lang="en-CA" dirty="0"/>
              <a:t>Can answer: </a:t>
            </a:r>
            <a:r>
              <a:rPr lang="en-CA" i="1" dirty="0"/>
              <a:t>“What’s the average nightly income? How does it vary by weekday/weekend?”</a:t>
            </a:r>
            <a:endParaRPr lang="en-CA" dirty="0"/>
          </a:p>
          <a:p>
            <a:r>
              <a:rPr lang="en-CA" dirty="0"/>
              <a:t>Data science angle: </a:t>
            </a:r>
            <a:r>
              <a:rPr lang="en-CA" b="1" dirty="0"/>
              <a:t>aggregation &amp; time-based grouping</a:t>
            </a:r>
            <a:r>
              <a:rPr lang="en-CA" dirty="0"/>
              <a:t>.</a:t>
            </a:r>
          </a:p>
          <a:p>
            <a:r>
              <a:rPr lang="en-CA" b="1" dirty="0"/>
              <a:t>2. How far do they travel?</a:t>
            </a:r>
          </a:p>
          <a:p>
            <a:r>
              <a:rPr lang="en-CA" dirty="0"/>
              <a:t>Use </a:t>
            </a:r>
            <a:r>
              <a:rPr lang="en-CA" b="1" dirty="0" err="1"/>
              <a:t>trip_distance</a:t>
            </a:r>
            <a:r>
              <a:rPr lang="en-CA" dirty="0"/>
              <a:t> across all trips.</a:t>
            </a:r>
          </a:p>
          <a:p>
            <a:r>
              <a:rPr lang="en-CA" dirty="0"/>
              <a:t>Can compare: average trip length vs. total miles driven per day.</a:t>
            </a:r>
          </a:p>
          <a:p>
            <a:r>
              <a:rPr lang="en-CA" dirty="0"/>
              <a:t>Data science angle: </a:t>
            </a:r>
            <a:r>
              <a:rPr lang="en-CA" b="1" dirty="0"/>
              <a:t>distribution analysis</a:t>
            </a:r>
            <a:r>
              <a:rPr lang="en-CA" dirty="0"/>
              <a:t>.</a:t>
            </a:r>
          </a:p>
          <a:p>
            <a:r>
              <a:rPr lang="en-CA" b="1" dirty="0"/>
              <a:t>3. How much slower is traffic during rush hour?</a:t>
            </a:r>
          </a:p>
          <a:p>
            <a:r>
              <a:rPr lang="en-CA" dirty="0"/>
              <a:t>Compare </a:t>
            </a:r>
            <a:r>
              <a:rPr lang="en-CA" b="1" dirty="0" err="1"/>
              <a:t>trip_time</a:t>
            </a:r>
            <a:r>
              <a:rPr lang="en-CA" b="1" dirty="0"/>
              <a:t> / </a:t>
            </a:r>
            <a:r>
              <a:rPr lang="en-CA" b="1" dirty="0" err="1"/>
              <a:t>trip_distance</a:t>
            </a:r>
            <a:r>
              <a:rPr lang="en-CA" dirty="0"/>
              <a:t> at rush hour vs. off-peak.</a:t>
            </a:r>
          </a:p>
          <a:p>
            <a:r>
              <a:rPr lang="en-CA" dirty="0"/>
              <a:t>Can also check seasonal or weather effects.</a:t>
            </a:r>
          </a:p>
          <a:p>
            <a:r>
              <a:rPr lang="en-CA" dirty="0"/>
              <a:t>Data science angle: </a:t>
            </a:r>
            <a:r>
              <a:rPr lang="en-CA" b="1" dirty="0"/>
              <a:t>time-of-day patterns, hypothesis testing</a:t>
            </a:r>
            <a:r>
              <a:rPr lang="en-CA" dirty="0"/>
              <a:t>.</a:t>
            </a:r>
          </a:p>
          <a:p>
            <a:r>
              <a:rPr lang="en-CA" b="1" dirty="0"/>
              <a:t>4. Where are people traveling to/from at different times of the day?</a:t>
            </a:r>
          </a:p>
          <a:p>
            <a:r>
              <a:rPr lang="en-CA" dirty="0"/>
              <a:t>Use </a:t>
            </a:r>
            <a:r>
              <a:rPr lang="en-CA" b="1" dirty="0"/>
              <a:t>pickup/</a:t>
            </a:r>
            <a:r>
              <a:rPr lang="en-CA" b="1" dirty="0" err="1"/>
              <a:t>dropoff</a:t>
            </a:r>
            <a:r>
              <a:rPr lang="en-CA" b="1" dirty="0"/>
              <a:t> latitude and longitude</a:t>
            </a:r>
            <a:r>
              <a:rPr lang="en-CA" dirty="0"/>
              <a:t>.</a:t>
            </a:r>
          </a:p>
          <a:p>
            <a:r>
              <a:rPr lang="en-CA" dirty="0"/>
              <a:t>Morning → more pickups in residential areas, drop-offs downtown.</a:t>
            </a:r>
          </a:p>
          <a:p>
            <a:r>
              <a:rPr lang="en-CA" dirty="0"/>
              <a:t>Evening → reverse.</a:t>
            </a:r>
          </a:p>
          <a:p>
            <a:r>
              <a:rPr lang="en-CA" dirty="0"/>
              <a:t>Data science angle: </a:t>
            </a:r>
            <a:r>
              <a:rPr lang="en-CA" b="1" dirty="0"/>
              <a:t>spatial analysis, clustering, heatmaps</a:t>
            </a:r>
            <a:r>
              <a:rPr lang="en-CA" dirty="0"/>
              <a:t>.</a:t>
            </a:r>
          </a:p>
          <a:p>
            <a:r>
              <a:rPr lang="en-CA" b="1" dirty="0"/>
              <a:t>5. Do faster drivers get tipped better?</a:t>
            </a:r>
          </a:p>
          <a:p>
            <a:r>
              <a:rPr lang="en-CA" dirty="0"/>
              <a:t>Compare </a:t>
            </a:r>
            <a:r>
              <a:rPr lang="en-CA" b="1" dirty="0"/>
              <a:t>average speed (distance/time)</a:t>
            </a:r>
            <a:r>
              <a:rPr lang="en-CA" dirty="0"/>
              <a:t> with </a:t>
            </a:r>
            <a:r>
              <a:rPr lang="en-CA" b="1" dirty="0"/>
              <a:t>tip percentage</a:t>
            </a:r>
            <a:r>
              <a:rPr lang="en-CA" dirty="0"/>
              <a:t>.</a:t>
            </a:r>
          </a:p>
          <a:p>
            <a:r>
              <a:rPr lang="en-CA" dirty="0"/>
              <a:t>Question: </a:t>
            </a:r>
            <a:r>
              <a:rPr lang="en-CA" i="1" dirty="0"/>
              <a:t>“Do riders reward efficiency, or penalize reckless driving?”</a:t>
            </a:r>
            <a:endParaRPr lang="en-CA" dirty="0"/>
          </a:p>
          <a:p>
            <a:r>
              <a:rPr lang="en-CA" dirty="0"/>
              <a:t>Data science angle: </a:t>
            </a:r>
            <a:r>
              <a:rPr lang="en-CA" b="1" dirty="0"/>
              <a:t>correlation analysis</a:t>
            </a:r>
            <a:r>
              <a:rPr lang="en-CA" dirty="0"/>
              <a:t>.</a:t>
            </a:r>
          </a:p>
          <a:p>
            <a:r>
              <a:rPr lang="en-CA" b="1" dirty="0"/>
              <a:t>6. Where should drivers go to pick up their next fare?</a:t>
            </a:r>
          </a:p>
          <a:p>
            <a:r>
              <a:rPr lang="en-CA" dirty="0"/>
              <a:t>Analyze </a:t>
            </a:r>
            <a:r>
              <a:rPr lang="en-CA" b="1" dirty="0"/>
              <a:t>pickup hotspots</a:t>
            </a:r>
            <a:r>
              <a:rPr lang="en-CA" dirty="0"/>
              <a:t> by time of day.</a:t>
            </a:r>
          </a:p>
          <a:p>
            <a:r>
              <a:rPr lang="en-CA" dirty="0"/>
              <a:t>Suggest optimal locations for idle drivers.</a:t>
            </a:r>
          </a:p>
          <a:p>
            <a:r>
              <a:rPr lang="en-CA" dirty="0"/>
              <a:t>Data science angle: </a:t>
            </a:r>
            <a:r>
              <a:rPr lang="en-CA" b="1" dirty="0"/>
              <a:t>predictive modeling, recommendation systems</a:t>
            </a:r>
            <a:r>
              <a:rPr lang="en-CA" dirty="0"/>
              <a:t>.</a:t>
            </a:r>
          </a:p>
          <a:p>
            <a:r>
              <a:rPr lang="en-CA" b="1" dirty="0"/>
              <a:t>Teaching takeaway</a:t>
            </a:r>
          </a:p>
          <a:p>
            <a:r>
              <a:rPr lang="en-CA" dirty="0"/>
              <a:t>Say: </a:t>
            </a:r>
            <a:r>
              <a:rPr lang="en-CA" i="1" dirty="0"/>
              <a:t>“Notice how all these questions combine raw trip data with real-world behavior: economics, geography, and human decision-making.”</a:t>
            </a:r>
            <a:endParaRPr lang="en-CA" dirty="0"/>
          </a:p>
          <a:p>
            <a:r>
              <a:rPr lang="en-CA" dirty="0"/>
              <a:t>Add: </a:t>
            </a:r>
            <a:r>
              <a:rPr lang="en-CA" i="1" dirty="0"/>
              <a:t>“The best data science projects don’t stop at describing the past—they also guide future action, like where to find the next passenger.”</a:t>
            </a:r>
            <a:endParaRPr lang="en-CA" dirty="0"/>
          </a:p>
          <a:p>
            <a:pPr marL="0" lvl="0" indent="0" algn="l" rtl="0">
              <a:spcBef>
                <a:spcPts val="0"/>
              </a:spcBef>
              <a:spcAft>
                <a:spcPts val="0"/>
              </a:spcAft>
              <a:buNone/>
            </a:pPr>
            <a:endParaRPr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6C081E2D-1D4E-4CCB-8724-FE18D73A5F31}" type="slidenum">
              <a:rPr lang="en-CA" smtClean="0"/>
              <a:t>63</a:t>
            </a:fld>
            <a:endParaRPr lang="en-CA"/>
          </a:p>
        </p:txBody>
      </p:sp>
    </p:spTree>
    <p:extLst>
      <p:ext uri="{BB962C8B-B14F-4D97-AF65-F5344CB8AC3E}">
        <p14:creationId xmlns:p14="http://schemas.microsoft.com/office/powerpoint/2010/main" val="31817248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3A1EDE9-CE9B-4BD0-8126-1DB3EB07468C}" type="datetimeFigureOut">
              <a:rPr lang="en-CA" smtClean="0"/>
              <a:t>2026-09-09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2F7843B-FE91-4FA8-9AAC-7329C4517126}" type="slidenum">
              <a:rPr lang="en-CA" smtClean="0"/>
              <a:t>‹#›</a:t>
            </a:fld>
            <a:endParaRPr lang="en-CA"/>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2689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1EDE9-CE9B-4BD0-8126-1DB3EB07468C}" type="datetimeFigureOut">
              <a:rPr lang="en-CA" smtClean="0"/>
              <a:t>2026-09-09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2F7843B-FE91-4FA8-9AAC-7329C4517126}" type="slidenum">
              <a:rPr lang="en-CA" smtClean="0"/>
              <a:t>‹#›</a:t>
            </a:fld>
            <a:endParaRPr lang="en-CA"/>
          </a:p>
        </p:txBody>
      </p:sp>
    </p:spTree>
    <p:extLst>
      <p:ext uri="{BB962C8B-B14F-4D97-AF65-F5344CB8AC3E}">
        <p14:creationId xmlns:p14="http://schemas.microsoft.com/office/powerpoint/2010/main" val="1277269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EDE9-CE9B-4BD0-8126-1DB3EB07468C}" type="datetimeFigureOut">
              <a:rPr lang="en-CA" smtClean="0"/>
              <a:t>2026-09-09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2F7843B-FE91-4FA8-9AAC-7329C4517126}" type="slidenum">
              <a:rPr lang="en-CA" smtClean="0"/>
              <a:t>‹#›</a:t>
            </a:fld>
            <a:endParaRPr lang="en-CA"/>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4876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3A1EDE9-CE9B-4BD0-8126-1DB3EB07468C}" type="datetimeFigureOut">
              <a:rPr lang="en-CA" smtClean="0"/>
              <a:t>2026-09-09</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E2F7843B-FE91-4FA8-9AAC-7329C4517126}" type="slidenum">
              <a:rPr lang="en-CA" smtClean="0"/>
              <a:t>‹#›</a:t>
            </a:fld>
            <a:endParaRPr lang="en-CA"/>
          </a:p>
        </p:txBody>
      </p:sp>
    </p:spTree>
    <p:extLst>
      <p:ext uri="{BB962C8B-B14F-4D97-AF65-F5344CB8AC3E}">
        <p14:creationId xmlns:p14="http://schemas.microsoft.com/office/powerpoint/2010/main" val="4237916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3A1EDE9-CE9B-4BD0-8126-1DB3EB07468C}" type="datetimeFigureOut">
              <a:rPr lang="en-CA" smtClean="0"/>
              <a:t>2026-09-09</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E2F7843B-FE91-4FA8-9AAC-7329C4517126}" type="slidenum">
              <a:rPr lang="en-CA" smtClean="0"/>
              <a:t>‹#›</a:t>
            </a:fld>
            <a:endParaRPr lang="en-CA"/>
          </a:p>
        </p:txBody>
      </p:sp>
    </p:spTree>
    <p:extLst>
      <p:ext uri="{BB962C8B-B14F-4D97-AF65-F5344CB8AC3E}">
        <p14:creationId xmlns:p14="http://schemas.microsoft.com/office/powerpoint/2010/main" val="277584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3A1EDE9-CE9B-4BD0-8126-1DB3EB07468C}" type="datetimeFigureOut">
              <a:rPr lang="en-CA" smtClean="0"/>
              <a:t>2026-09-09</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E2F7843B-FE91-4FA8-9AAC-7329C4517126}" type="slidenum">
              <a:rPr lang="en-CA" smtClean="0"/>
              <a:t>‹#›</a:t>
            </a:fld>
            <a:endParaRPr lang="en-CA"/>
          </a:p>
        </p:txBody>
      </p:sp>
    </p:spTree>
    <p:extLst>
      <p:ext uri="{BB962C8B-B14F-4D97-AF65-F5344CB8AC3E}">
        <p14:creationId xmlns:p14="http://schemas.microsoft.com/office/powerpoint/2010/main" val="2339167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3A1EDE9-CE9B-4BD0-8126-1DB3EB07468C}" type="datetimeFigureOut">
              <a:rPr lang="en-CA" smtClean="0"/>
              <a:t>2026-09-09</a:t>
            </a:fld>
            <a:endParaRPr lang="en-CA"/>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CA"/>
          </a:p>
        </p:txBody>
      </p:sp>
      <p:sp>
        <p:nvSpPr>
          <p:cNvPr id="9" name="Slide Number Placeholder 8"/>
          <p:cNvSpPr>
            <a:spLocks noGrp="1"/>
          </p:cNvSpPr>
          <p:nvPr>
            <p:ph type="sldNum" sz="quarter" idx="12"/>
          </p:nvPr>
        </p:nvSpPr>
        <p:spPr/>
        <p:txBody>
          <a:bodyPr/>
          <a:lstStyle/>
          <a:p>
            <a:fld id="{E2F7843B-FE91-4FA8-9AAC-7329C4517126}" type="slidenum">
              <a:rPr lang="en-CA" smtClean="0"/>
              <a:t>‹#›</a:t>
            </a:fld>
            <a:endParaRPr lang="en-CA"/>
          </a:p>
        </p:txBody>
      </p:sp>
    </p:spTree>
    <p:extLst>
      <p:ext uri="{BB962C8B-B14F-4D97-AF65-F5344CB8AC3E}">
        <p14:creationId xmlns:p14="http://schemas.microsoft.com/office/powerpoint/2010/main" val="1504957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3A1EDE9-CE9B-4BD0-8126-1DB3EB07468C}" type="datetimeFigureOut">
              <a:rPr lang="en-CA" smtClean="0"/>
              <a:t>2026-09-09</a:t>
            </a:fld>
            <a:endParaRPr lang="en-CA"/>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CA"/>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2F7843B-FE91-4FA8-9AAC-7329C4517126}" type="slidenum">
              <a:rPr lang="en-CA" smtClean="0"/>
              <a:t>‹#›</a:t>
            </a:fld>
            <a:endParaRPr lang="en-CA"/>
          </a:p>
        </p:txBody>
      </p:sp>
    </p:spTree>
    <p:extLst>
      <p:ext uri="{BB962C8B-B14F-4D97-AF65-F5344CB8AC3E}">
        <p14:creationId xmlns:p14="http://schemas.microsoft.com/office/powerpoint/2010/main" val="4208516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A1EDE9-CE9B-4BD0-8126-1DB3EB07468C}" type="datetimeFigureOut">
              <a:rPr lang="en-CA" smtClean="0"/>
              <a:t>2026-09-09</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E2F7843B-FE91-4FA8-9AAC-7329C4517126}" type="slidenum">
              <a:rPr lang="en-CA" smtClean="0"/>
              <a:t>‹#›</a:t>
            </a:fld>
            <a:endParaRPr lang="en-CA"/>
          </a:p>
        </p:txBody>
      </p:sp>
    </p:spTree>
    <p:extLst>
      <p:ext uri="{BB962C8B-B14F-4D97-AF65-F5344CB8AC3E}">
        <p14:creationId xmlns:p14="http://schemas.microsoft.com/office/powerpoint/2010/main" val="3373360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1EDE9-CE9B-4BD0-8126-1DB3EB07468C}" type="datetimeFigureOut">
              <a:rPr lang="en-CA" smtClean="0"/>
              <a:t>2026-09-09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2F7843B-FE91-4FA8-9AAC-7329C4517126}" type="slidenum">
              <a:rPr lang="en-CA" smtClean="0"/>
              <a:t>‹#›</a:t>
            </a:fld>
            <a:endParaRPr lang="en-CA"/>
          </a:p>
        </p:txBody>
      </p:sp>
    </p:spTree>
    <p:extLst>
      <p:ext uri="{BB962C8B-B14F-4D97-AF65-F5344CB8AC3E}">
        <p14:creationId xmlns:p14="http://schemas.microsoft.com/office/powerpoint/2010/main" val="3209702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1EDE9-CE9B-4BD0-8126-1DB3EB07468C}" type="datetimeFigureOut">
              <a:rPr lang="en-CA" smtClean="0"/>
              <a:t>2026-09-09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2F7843B-FE91-4FA8-9AAC-7329C4517126}" type="slidenum">
              <a:rPr lang="en-CA" smtClean="0"/>
              <a:t>‹#›</a:t>
            </a:fld>
            <a:endParaRPr lang="en-CA"/>
          </a:p>
        </p:txBody>
      </p:sp>
    </p:spTree>
    <p:extLst>
      <p:ext uri="{BB962C8B-B14F-4D97-AF65-F5344CB8AC3E}">
        <p14:creationId xmlns:p14="http://schemas.microsoft.com/office/powerpoint/2010/main" val="15476935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800"/>
              <a:buNone/>
              <a:defRPr sz="5067" b="1"/>
            </a:lvl1pPr>
            <a:lvl2pPr lvl="1" algn="ctr">
              <a:spcBef>
                <a:spcPts val="0"/>
              </a:spcBef>
              <a:spcAft>
                <a:spcPts val="0"/>
              </a:spcAft>
              <a:buSzPts val="3800"/>
              <a:buNone/>
              <a:defRPr sz="5067"/>
            </a:lvl2pPr>
            <a:lvl3pPr lvl="2" algn="ctr">
              <a:spcBef>
                <a:spcPts val="0"/>
              </a:spcBef>
              <a:spcAft>
                <a:spcPts val="0"/>
              </a:spcAft>
              <a:buSzPts val="3800"/>
              <a:buNone/>
              <a:defRPr sz="5067"/>
            </a:lvl3pPr>
            <a:lvl4pPr lvl="3" algn="ctr">
              <a:spcBef>
                <a:spcPts val="0"/>
              </a:spcBef>
              <a:spcAft>
                <a:spcPts val="0"/>
              </a:spcAft>
              <a:buSzPts val="3800"/>
              <a:buNone/>
              <a:defRPr sz="5067"/>
            </a:lvl4pPr>
            <a:lvl5pPr lvl="4" algn="ctr">
              <a:spcBef>
                <a:spcPts val="0"/>
              </a:spcBef>
              <a:spcAft>
                <a:spcPts val="0"/>
              </a:spcAft>
              <a:buSzPts val="3800"/>
              <a:buNone/>
              <a:defRPr sz="5067"/>
            </a:lvl5pPr>
            <a:lvl6pPr lvl="5" algn="ctr">
              <a:spcBef>
                <a:spcPts val="0"/>
              </a:spcBef>
              <a:spcAft>
                <a:spcPts val="0"/>
              </a:spcAft>
              <a:buSzPts val="3800"/>
              <a:buNone/>
              <a:defRPr sz="5067"/>
            </a:lvl6pPr>
            <a:lvl7pPr lvl="6" algn="ctr">
              <a:spcBef>
                <a:spcPts val="0"/>
              </a:spcBef>
              <a:spcAft>
                <a:spcPts val="0"/>
              </a:spcAft>
              <a:buSzPts val="3800"/>
              <a:buNone/>
              <a:defRPr sz="5067"/>
            </a:lvl7pPr>
            <a:lvl8pPr lvl="7" algn="ctr">
              <a:spcBef>
                <a:spcPts val="0"/>
              </a:spcBef>
              <a:spcAft>
                <a:spcPts val="0"/>
              </a:spcAft>
              <a:buSzPts val="3800"/>
              <a:buNone/>
              <a:defRPr sz="5067"/>
            </a:lvl8pPr>
            <a:lvl9pPr lvl="8" algn="ctr">
              <a:spcBef>
                <a:spcPts val="0"/>
              </a:spcBef>
              <a:spcAft>
                <a:spcPts val="0"/>
              </a:spcAft>
              <a:buSzPts val="3800"/>
              <a:buNone/>
              <a:defRPr sz="5067"/>
            </a:lvl9pPr>
          </a:lstStyle>
          <a:p>
            <a:endParaRPr/>
          </a:p>
        </p:txBody>
      </p:sp>
      <p:sp>
        <p:nvSpPr>
          <p:cNvPr id="16" name="Google Shape;16;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4399193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415600" y="3901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3400"/>
              <a:buNone/>
              <a:defRPr sz="4533"/>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9" name="Google Shape;19;p4"/>
          <p:cNvSpPr txBox="1">
            <a:spLocks noGrp="1"/>
          </p:cNvSpPr>
          <p:nvPr>
            <p:ph type="body" idx="1"/>
          </p:nvPr>
        </p:nvSpPr>
        <p:spPr>
          <a:xfrm>
            <a:off x="415600" y="1333433"/>
            <a:ext cx="11360800" cy="4720400"/>
          </a:xfrm>
          <a:prstGeom prst="rect">
            <a:avLst/>
          </a:prstGeom>
        </p:spPr>
        <p:txBody>
          <a:bodyPr spcFirstLastPara="1" wrap="square" lIns="91425" tIns="91425" rIns="91425" bIns="91425" anchor="t" anchorCtr="0">
            <a:normAutofit/>
          </a:bodyPr>
          <a:lstStyle>
            <a:lvl1pPr marL="609585" lvl="0" indent="-491054">
              <a:spcBef>
                <a:spcPts val="0"/>
              </a:spcBef>
              <a:spcAft>
                <a:spcPts val="0"/>
              </a:spcAft>
              <a:buSzPts val="2200"/>
              <a:buChar char="●"/>
              <a:defRPr sz="2933"/>
            </a:lvl1pPr>
            <a:lvl2pPr marL="1219170" lvl="1" indent="-457189">
              <a:spcBef>
                <a:spcPts val="0"/>
              </a:spcBef>
              <a:spcAft>
                <a:spcPts val="0"/>
              </a:spcAft>
              <a:buSzPts val="1800"/>
              <a:buChar char="○"/>
              <a:defRPr sz="2400"/>
            </a:lvl2pPr>
            <a:lvl3pPr marL="1828754" lvl="2" indent="-457189">
              <a:spcBef>
                <a:spcPts val="0"/>
              </a:spcBef>
              <a:spcAft>
                <a:spcPts val="0"/>
              </a:spcAft>
              <a:buSzPts val="1800"/>
              <a:buChar char="■"/>
              <a:defRPr sz="2400"/>
            </a:lvl3pPr>
            <a:lvl4pPr marL="2438339" lvl="3" indent="-457189">
              <a:spcBef>
                <a:spcPts val="0"/>
              </a:spcBef>
              <a:spcAft>
                <a:spcPts val="0"/>
              </a:spcAft>
              <a:buSzPts val="1800"/>
              <a:buChar char="●"/>
              <a:defRPr sz="2400"/>
            </a:lvl4pPr>
            <a:lvl5pPr marL="3047924" lvl="4" indent="-457189">
              <a:spcBef>
                <a:spcPts val="0"/>
              </a:spcBef>
              <a:spcAft>
                <a:spcPts val="0"/>
              </a:spcAft>
              <a:buSzPts val="1800"/>
              <a:buChar char="○"/>
              <a:defRPr sz="2400"/>
            </a:lvl5pPr>
            <a:lvl6pPr marL="3657509" lvl="5" indent="-457189">
              <a:spcBef>
                <a:spcPts val="0"/>
              </a:spcBef>
              <a:spcAft>
                <a:spcPts val="0"/>
              </a:spcAft>
              <a:buSzPts val="1800"/>
              <a:buChar char="■"/>
              <a:defRPr sz="2400"/>
            </a:lvl6pPr>
            <a:lvl7pPr marL="4267093" lvl="6" indent="-457189">
              <a:spcBef>
                <a:spcPts val="0"/>
              </a:spcBef>
              <a:spcAft>
                <a:spcPts val="0"/>
              </a:spcAft>
              <a:buSzPts val="1800"/>
              <a:buChar char="●"/>
              <a:defRPr sz="2400"/>
            </a:lvl7pPr>
            <a:lvl8pPr marL="4876678" lvl="7" indent="-457189">
              <a:spcBef>
                <a:spcPts val="0"/>
              </a:spcBef>
              <a:spcAft>
                <a:spcPts val="0"/>
              </a:spcAft>
              <a:buSzPts val="1800"/>
              <a:buChar char="○"/>
              <a:defRPr sz="2400"/>
            </a:lvl8pPr>
            <a:lvl9pPr marL="5486263" lvl="8" indent="-457189">
              <a:spcBef>
                <a:spcPts val="0"/>
              </a:spcBef>
              <a:spcAft>
                <a:spcPts val="0"/>
              </a:spcAft>
              <a:buSzPts val="1800"/>
              <a:buChar char="■"/>
              <a:defRPr sz="2400"/>
            </a:lvl9pPr>
          </a:lstStyle>
          <a:p>
            <a:endParaRPr/>
          </a:p>
        </p:txBody>
      </p:sp>
      <p:sp>
        <p:nvSpPr>
          <p:cNvPr id="20" name="Google Shape;20;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1074063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415600" y="3901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 name="Google Shape;23;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4" name="Google Shape;24;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5" name="Google Shape;25;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776248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3A1EDE9-CE9B-4BD0-8126-1DB3EB07468C}" type="datetimeFigureOut">
              <a:rPr lang="en-CA" smtClean="0"/>
              <a:t>2026-09-09</a:t>
            </a:fld>
            <a:endParaRPr lang="en-CA"/>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CA"/>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2F7843B-FE91-4FA8-9AAC-7329C4517126}" type="slidenum">
              <a:rPr lang="en-CA" smtClean="0"/>
              <a:t>‹#›</a:t>
            </a:fld>
            <a:endParaRPr lang="en-CA"/>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962156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fif"/><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jfif"/><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43.xml"/><Relationship Id="rId1" Type="http://schemas.openxmlformats.org/officeDocument/2006/relationships/slideLayout" Target="../slideLayouts/slideLayout13.xml"/><Relationship Id="rId4" Type="http://schemas.openxmlformats.org/officeDocument/2006/relationships/image" Target="../media/image21.jpg"/></Relationships>
</file>

<file path=ppt/slides/_rels/slide5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47.xml"/><Relationship Id="rId1" Type="http://schemas.openxmlformats.org/officeDocument/2006/relationships/slideLayout" Target="../slideLayouts/slideLayout13.xml"/><Relationship Id="rId4" Type="http://schemas.openxmlformats.org/officeDocument/2006/relationships/image" Target="../media/image24.jpg"/></Relationships>
</file>

<file path=ppt/slides/_rels/slide56.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48.xml"/><Relationship Id="rId1" Type="http://schemas.openxmlformats.org/officeDocument/2006/relationships/slideLayout" Target="../slideLayouts/slideLayout13.xml"/><Relationship Id="rId4" Type="http://schemas.openxmlformats.org/officeDocument/2006/relationships/image" Target="../media/image26.jp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511ED-B0F7-FF89-F986-C74D56293B54}"/>
              </a:ext>
            </a:extLst>
          </p:cNvPr>
          <p:cNvSpPr>
            <a:spLocks noGrp="1"/>
          </p:cNvSpPr>
          <p:nvPr>
            <p:ph type="ctrTitle"/>
          </p:nvPr>
        </p:nvSpPr>
        <p:spPr/>
        <p:txBody>
          <a:bodyPr/>
          <a:lstStyle/>
          <a:p>
            <a:r>
              <a:rPr lang="en-CA" dirty="0"/>
              <a:t>Introduction</a:t>
            </a:r>
          </a:p>
        </p:txBody>
      </p:sp>
      <p:sp>
        <p:nvSpPr>
          <p:cNvPr id="3" name="Subtitle 2">
            <a:extLst>
              <a:ext uri="{FF2B5EF4-FFF2-40B4-BE49-F238E27FC236}">
                <a16:creationId xmlns:a16="http://schemas.microsoft.com/office/drawing/2014/main" id="{0CC3533B-2280-F9BA-56BD-72A2E62C21CA}"/>
              </a:ext>
            </a:extLst>
          </p:cNvPr>
          <p:cNvSpPr>
            <a:spLocks noGrp="1"/>
          </p:cNvSpPr>
          <p:nvPr>
            <p:ph type="subTitle" idx="1"/>
          </p:nvPr>
        </p:nvSpPr>
        <p:spPr/>
        <p:txBody>
          <a:bodyPr/>
          <a:lstStyle/>
          <a:p>
            <a:r>
              <a:rPr lang="en-CA" dirty="0"/>
              <a:t>Fatemeh Riahi</a:t>
            </a:r>
          </a:p>
          <a:p>
            <a:r>
              <a:rPr lang="en-CA" dirty="0"/>
              <a:t>BCIT</a:t>
            </a:r>
          </a:p>
        </p:txBody>
      </p:sp>
    </p:spTree>
    <p:extLst>
      <p:ext uri="{BB962C8B-B14F-4D97-AF65-F5344CB8AC3E}">
        <p14:creationId xmlns:p14="http://schemas.microsoft.com/office/powerpoint/2010/main" val="1176008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56001-12DD-2A5B-50C1-BA6E328B5906}"/>
              </a:ext>
            </a:extLst>
          </p:cNvPr>
          <p:cNvSpPr>
            <a:spLocks noGrp="1"/>
          </p:cNvSpPr>
          <p:nvPr>
            <p:ph type="title"/>
          </p:nvPr>
        </p:nvSpPr>
        <p:spPr/>
        <p:txBody>
          <a:bodyPr/>
          <a:lstStyle/>
          <a:p>
            <a:r>
              <a:rPr lang="en-CA" dirty="0"/>
              <a:t>My introduction</a:t>
            </a:r>
          </a:p>
        </p:txBody>
      </p:sp>
      <p:sp>
        <p:nvSpPr>
          <p:cNvPr id="3" name="Content Placeholder 2">
            <a:extLst>
              <a:ext uri="{FF2B5EF4-FFF2-40B4-BE49-F238E27FC236}">
                <a16:creationId xmlns:a16="http://schemas.microsoft.com/office/drawing/2014/main" id="{B5937183-225F-DD6A-91B0-E2191A6E87F2}"/>
              </a:ext>
            </a:extLst>
          </p:cNvPr>
          <p:cNvSpPr>
            <a:spLocks noGrp="1"/>
          </p:cNvSpPr>
          <p:nvPr>
            <p:ph idx="1"/>
          </p:nvPr>
        </p:nvSpPr>
        <p:spPr/>
        <p:txBody>
          <a:bodyPr/>
          <a:lstStyle/>
          <a:p>
            <a:r>
              <a:rPr lang="en-CA" dirty="0"/>
              <a:t>Who am I?</a:t>
            </a:r>
          </a:p>
          <a:p>
            <a:pPr lvl="1"/>
            <a:r>
              <a:rPr lang="en-CA" dirty="0"/>
              <a:t>24 years student!</a:t>
            </a:r>
          </a:p>
          <a:p>
            <a:pPr lvl="1"/>
            <a:r>
              <a:rPr lang="en-CA" dirty="0"/>
              <a:t>Software Engineer/ Data Scientist/ Team Lead</a:t>
            </a:r>
          </a:p>
        </p:txBody>
      </p:sp>
      <p:pic>
        <p:nvPicPr>
          <p:cNvPr id="5" name="Picture 4" descr="A blue and white logo&#10;&#10;Description automatically generated">
            <a:extLst>
              <a:ext uri="{FF2B5EF4-FFF2-40B4-BE49-F238E27FC236}">
                <a16:creationId xmlns:a16="http://schemas.microsoft.com/office/drawing/2014/main" id="{79A05B34-39FF-BAA9-0DC1-1E6241535D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2759" y="1777692"/>
            <a:ext cx="815851" cy="815851"/>
          </a:xfrm>
          <a:prstGeom prst="rect">
            <a:avLst/>
          </a:prstGeom>
        </p:spPr>
      </p:pic>
      <p:pic>
        <p:nvPicPr>
          <p:cNvPr id="7" name="Picture 6" descr="A yellow and white logo&#10;&#10;Description automatically generated">
            <a:extLst>
              <a:ext uri="{FF2B5EF4-FFF2-40B4-BE49-F238E27FC236}">
                <a16:creationId xmlns:a16="http://schemas.microsoft.com/office/drawing/2014/main" id="{380D5AC3-E114-9615-5CD1-07B8EB1D59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82121" y="1738621"/>
            <a:ext cx="902855" cy="902855"/>
          </a:xfrm>
          <a:prstGeom prst="rect">
            <a:avLst/>
          </a:prstGeom>
        </p:spPr>
      </p:pic>
      <p:pic>
        <p:nvPicPr>
          <p:cNvPr id="9" name="Picture 8" descr="A red circle with white text&#10;&#10;Description automatically generated">
            <a:extLst>
              <a:ext uri="{FF2B5EF4-FFF2-40B4-BE49-F238E27FC236}">
                <a16:creationId xmlns:a16="http://schemas.microsoft.com/office/drawing/2014/main" id="{C409748E-51C8-450A-A97C-D8482AB7D6B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8487" y="1738621"/>
            <a:ext cx="902855" cy="902855"/>
          </a:xfrm>
          <a:prstGeom prst="rect">
            <a:avLst/>
          </a:prstGeom>
        </p:spPr>
      </p:pic>
      <p:pic>
        <p:nvPicPr>
          <p:cNvPr id="11" name="Picture 10" descr="A blue and white logo&#10;&#10;Description automatically generated">
            <a:extLst>
              <a:ext uri="{FF2B5EF4-FFF2-40B4-BE49-F238E27FC236}">
                <a16:creationId xmlns:a16="http://schemas.microsoft.com/office/drawing/2014/main" id="{3904816C-68D3-FABC-A7FF-3209CFFAD00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33548" y="2741780"/>
            <a:ext cx="970626" cy="479247"/>
          </a:xfrm>
          <a:prstGeom prst="rect">
            <a:avLst/>
          </a:prstGeom>
        </p:spPr>
      </p:pic>
      <p:pic>
        <p:nvPicPr>
          <p:cNvPr id="13" name="Picture 12" descr="A black and white logo&#10;&#10;Description automatically generated">
            <a:extLst>
              <a:ext uri="{FF2B5EF4-FFF2-40B4-BE49-F238E27FC236}">
                <a16:creationId xmlns:a16="http://schemas.microsoft.com/office/drawing/2014/main" id="{814852DA-58AB-9F26-2570-A9BC338DF7C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461343" y="2689409"/>
            <a:ext cx="2426008" cy="668853"/>
          </a:xfrm>
          <a:prstGeom prst="rect">
            <a:avLst/>
          </a:prstGeom>
        </p:spPr>
      </p:pic>
      <p:sp>
        <p:nvSpPr>
          <p:cNvPr id="18" name="Slide Number Placeholder 17">
            <a:extLst>
              <a:ext uri="{FF2B5EF4-FFF2-40B4-BE49-F238E27FC236}">
                <a16:creationId xmlns:a16="http://schemas.microsoft.com/office/drawing/2014/main" id="{386CF56B-B453-869B-1218-53A459D62346}"/>
              </a:ext>
            </a:extLst>
          </p:cNvPr>
          <p:cNvSpPr>
            <a:spLocks noGrp="1"/>
          </p:cNvSpPr>
          <p:nvPr>
            <p:ph type="sldNum" sz="quarter" idx="12"/>
          </p:nvPr>
        </p:nvSpPr>
        <p:spPr/>
        <p:txBody>
          <a:bodyPr/>
          <a:lstStyle/>
          <a:p>
            <a:fld id="{98DE2FA5-89B7-4EB3-8609-F0895085DCC9}" type="slidenum">
              <a:rPr lang="en-CA" smtClean="0"/>
              <a:t>2</a:t>
            </a:fld>
            <a:endParaRPr lang="en-CA"/>
          </a:p>
        </p:txBody>
      </p:sp>
    </p:spTree>
    <p:extLst>
      <p:ext uri="{BB962C8B-B14F-4D97-AF65-F5344CB8AC3E}">
        <p14:creationId xmlns:p14="http://schemas.microsoft.com/office/powerpoint/2010/main" val="1539218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71"/>
          <p:cNvSpPr txBox="1">
            <a:spLocks noGrp="1"/>
          </p:cNvSpPr>
          <p:nvPr>
            <p:ph type="title"/>
          </p:nvPr>
        </p:nvSpPr>
        <p:spPr>
          <a:prstGeom prst="rect">
            <a:avLst/>
          </a:prstGeom>
        </p:spPr>
        <p:txBody>
          <a:bodyPr spcFirstLastPara="1" vert="horz" wrap="square" lIns="121900" tIns="121900" rIns="121900" bIns="121900" rtlCol="0" anchor="t" anchorCtr="0">
            <a:normAutofit fontScale="90000"/>
          </a:bodyPr>
          <a:lstStyle/>
          <a:p>
            <a:r>
              <a:rPr lang="en" dirty="0">
                <a:solidFill>
                  <a:srgbClr val="FF0000"/>
                </a:solidFill>
              </a:rPr>
              <a:t>Your Introduction!</a:t>
            </a:r>
            <a:endParaRPr dirty="0">
              <a:solidFill>
                <a:srgbClr val="FF0000"/>
              </a:solidFill>
            </a:endParaRPr>
          </a:p>
        </p:txBody>
      </p:sp>
      <p:sp>
        <p:nvSpPr>
          <p:cNvPr id="472" name="Google Shape;472;p71"/>
          <p:cNvSpPr txBox="1">
            <a:spLocks noGrp="1"/>
          </p:cNvSpPr>
          <p:nvPr>
            <p:ph type="body" idx="1"/>
          </p:nvPr>
        </p:nvSpPr>
        <p:spPr>
          <a:xfrm>
            <a:off x="415600" y="1934566"/>
            <a:ext cx="11360800" cy="4720400"/>
          </a:xfrm>
          <a:prstGeom prst="rect">
            <a:avLst/>
          </a:prstGeom>
        </p:spPr>
        <p:txBody>
          <a:bodyPr spcFirstLastPara="1" vert="horz" wrap="square" lIns="121900" tIns="121900" rIns="121900" bIns="121900" rtlCol="0" anchor="t" anchorCtr="0">
            <a:normAutofit/>
          </a:bodyPr>
          <a:lstStyle/>
          <a:p>
            <a:pPr>
              <a:spcBef>
                <a:spcPts val="1600"/>
              </a:spcBef>
            </a:pPr>
            <a:r>
              <a:rPr lang="en" dirty="0"/>
              <a:t>Your (preferred) name</a:t>
            </a:r>
            <a:endParaRPr dirty="0"/>
          </a:p>
          <a:p>
            <a:r>
              <a:rPr lang="en" dirty="0"/>
              <a:t>In 1-2 sentences, your data science background and goals (e.g., coursework, internships, work experience)</a:t>
            </a:r>
            <a:endParaRPr dirty="0"/>
          </a:p>
          <a:p>
            <a:r>
              <a:rPr lang="en" dirty="0"/>
              <a:t>In 1-2 sentences, your software engineering background, if any, and goals (e.g., coursework, internships, work experience)</a:t>
            </a:r>
            <a:endParaRPr dirty="0"/>
          </a:p>
          <a:p>
            <a:r>
              <a:rPr lang="en" dirty="0"/>
              <a:t>One topic you are particularly interested in learning during this course?</a:t>
            </a:r>
            <a:endParaRPr dirty="0"/>
          </a:p>
        </p:txBody>
      </p:sp>
      <p:sp>
        <p:nvSpPr>
          <p:cNvPr id="473" name="Google Shape;473;p71"/>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
              <a:pPr/>
              <a:t>3</a:t>
            </a:fld>
            <a:endParaRPr/>
          </a:p>
        </p:txBody>
      </p:sp>
    </p:spTree>
    <p:extLst>
      <p:ext uri="{BB962C8B-B14F-4D97-AF65-F5344CB8AC3E}">
        <p14:creationId xmlns:p14="http://schemas.microsoft.com/office/powerpoint/2010/main" val="693028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458C7-DAE8-D427-0F24-21D5C76CF40A}"/>
              </a:ext>
            </a:extLst>
          </p:cNvPr>
          <p:cNvSpPr>
            <a:spLocks noGrp="1"/>
          </p:cNvSpPr>
          <p:nvPr>
            <p:ph type="title"/>
          </p:nvPr>
        </p:nvSpPr>
        <p:spPr/>
        <p:txBody>
          <a:bodyPr/>
          <a:lstStyle/>
          <a:p>
            <a:r>
              <a:rPr lang="en-CA" dirty="0">
                <a:solidFill>
                  <a:srgbClr val="FF0000"/>
                </a:solidFill>
              </a:rPr>
              <a:t>What is Data Science? </a:t>
            </a:r>
          </a:p>
        </p:txBody>
      </p:sp>
      <p:sp>
        <p:nvSpPr>
          <p:cNvPr id="3" name="Content Placeholder 2">
            <a:extLst>
              <a:ext uri="{FF2B5EF4-FFF2-40B4-BE49-F238E27FC236}">
                <a16:creationId xmlns:a16="http://schemas.microsoft.com/office/drawing/2014/main" id="{77BFA42A-B8F8-245C-6971-D216D24D030A}"/>
              </a:ext>
            </a:extLst>
          </p:cNvPr>
          <p:cNvSpPr>
            <a:spLocks noGrp="1"/>
          </p:cNvSpPr>
          <p:nvPr>
            <p:ph idx="1"/>
          </p:nvPr>
        </p:nvSpPr>
        <p:spPr/>
        <p:txBody>
          <a:bodyPr/>
          <a:lstStyle/>
          <a:p>
            <a:pPr marL="0" lvl="0" indent="0">
              <a:spcBef>
                <a:spcPts val="600"/>
              </a:spcBef>
              <a:buNone/>
            </a:pPr>
            <a:r>
              <a:rPr lang="en-CA" dirty="0"/>
              <a:t>Like any emerging field, it isn’t well defined, but incorporates elements of:</a:t>
            </a:r>
          </a:p>
          <a:p>
            <a:pPr marL="457200" lvl="0" indent="-419100">
              <a:spcBef>
                <a:spcPts val="600"/>
              </a:spcBef>
              <a:buSzPts val="3000"/>
              <a:buChar char="●"/>
            </a:pPr>
            <a:r>
              <a:rPr lang="en-CA" dirty="0"/>
              <a:t>Exploratory Data Analysis and Visualization</a:t>
            </a:r>
          </a:p>
          <a:p>
            <a:pPr marL="457200" lvl="0" indent="-419100">
              <a:spcBef>
                <a:spcPts val="0"/>
              </a:spcBef>
              <a:buSzPts val="3000"/>
              <a:buChar char="●"/>
            </a:pPr>
            <a:r>
              <a:rPr lang="en-CA" dirty="0"/>
              <a:t>Machine Learning and Statistics</a:t>
            </a:r>
          </a:p>
          <a:p>
            <a:pPr marL="457200" lvl="0" indent="-419100">
              <a:spcBef>
                <a:spcPts val="0"/>
              </a:spcBef>
              <a:buSzPts val="3000"/>
              <a:buChar char="●"/>
            </a:pPr>
            <a:r>
              <a:rPr lang="en-CA" dirty="0"/>
              <a:t>High-Performance Computing technologies for dealing with scale.</a:t>
            </a:r>
          </a:p>
          <a:p>
            <a:pPr marL="0" lvl="0" indent="0">
              <a:spcBef>
                <a:spcPts val="600"/>
              </a:spcBef>
              <a:buNone/>
            </a:pPr>
            <a:endParaRPr lang="en-CA" dirty="0"/>
          </a:p>
          <a:p>
            <a:endParaRPr lang="en-CA" dirty="0"/>
          </a:p>
        </p:txBody>
      </p:sp>
    </p:spTree>
    <p:extLst>
      <p:ext uri="{BB962C8B-B14F-4D97-AF65-F5344CB8AC3E}">
        <p14:creationId xmlns:p14="http://schemas.microsoft.com/office/powerpoint/2010/main" val="4004782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1B63C-F544-799A-E79B-1253D9DE28F0}"/>
              </a:ext>
            </a:extLst>
          </p:cNvPr>
          <p:cNvSpPr>
            <a:spLocks noGrp="1"/>
          </p:cNvSpPr>
          <p:nvPr>
            <p:ph type="title"/>
          </p:nvPr>
        </p:nvSpPr>
        <p:spPr/>
        <p:txBody>
          <a:bodyPr/>
          <a:lstStyle/>
          <a:p>
            <a:r>
              <a:rPr lang="en-CA" dirty="0">
                <a:solidFill>
                  <a:srgbClr val="FF0000"/>
                </a:solidFill>
              </a:rPr>
              <a:t>Why Data Science?</a:t>
            </a:r>
          </a:p>
        </p:txBody>
      </p:sp>
      <p:sp>
        <p:nvSpPr>
          <p:cNvPr id="3" name="Content Placeholder 2">
            <a:extLst>
              <a:ext uri="{FF2B5EF4-FFF2-40B4-BE49-F238E27FC236}">
                <a16:creationId xmlns:a16="http://schemas.microsoft.com/office/drawing/2014/main" id="{FE976283-F795-4483-5792-7589EDD02062}"/>
              </a:ext>
            </a:extLst>
          </p:cNvPr>
          <p:cNvSpPr>
            <a:spLocks noGrp="1"/>
          </p:cNvSpPr>
          <p:nvPr>
            <p:ph idx="1"/>
          </p:nvPr>
        </p:nvSpPr>
        <p:spPr/>
        <p:txBody>
          <a:bodyPr/>
          <a:lstStyle/>
          <a:p>
            <a:pPr marL="457200" lvl="0" indent="-419100">
              <a:spcBef>
                <a:spcPts val="600"/>
              </a:spcBef>
              <a:buSzPts val="3000"/>
              <a:buChar char="●"/>
            </a:pPr>
            <a:r>
              <a:rPr lang="en-CA" dirty="0"/>
              <a:t>New technology makes it possible to capture vast amounts of logging / sensor data.</a:t>
            </a:r>
          </a:p>
          <a:p>
            <a:pPr marL="457200" lvl="0" indent="-419100">
              <a:spcBef>
                <a:spcPts val="0"/>
              </a:spcBef>
              <a:buSzPts val="3000"/>
              <a:buChar char="●"/>
            </a:pPr>
            <a:r>
              <a:rPr lang="en-CA" dirty="0"/>
              <a:t>Computing advances make it possible to analyze data on ever increasing scales.</a:t>
            </a:r>
          </a:p>
          <a:p>
            <a:pPr marL="457200" lvl="0" indent="-419100">
              <a:spcBef>
                <a:spcPts val="0"/>
              </a:spcBef>
              <a:buSzPts val="3000"/>
              <a:buChar char="●"/>
            </a:pPr>
            <a:r>
              <a:rPr lang="en-CA" dirty="0"/>
              <a:t>Prominent role models (Google, Moneyball, hedge funds, Nate Silver, ...) have proven the power of modern data analytics.</a:t>
            </a:r>
          </a:p>
          <a:p>
            <a:endParaRPr lang="en-CA" dirty="0"/>
          </a:p>
        </p:txBody>
      </p:sp>
    </p:spTree>
    <p:extLst>
      <p:ext uri="{BB962C8B-B14F-4D97-AF65-F5344CB8AC3E}">
        <p14:creationId xmlns:p14="http://schemas.microsoft.com/office/powerpoint/2010/main" val="429856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922CE-1E01-18C8-A2DD-4CA129B14317}"/>
              </a:ext>
            </a:extLst>
          </p:cNvPr>
          <p:cNvSpPr>
            <a:spLocks noGrp="1"/>
          </p:cNvSpPr>
          <p:nvPr>
            <p:ph type="title"/>
          </p:nvPr>
        </p:nvSpPr>
        <p:spPr/>
        <p:txBody>
          <a:bodyPr/>
          <a:lstStyle/>
          <a:p>
            <a:r>
              <a:rPr lang="en-CA" dirty="0">
                <a:solidFill>
                  <a:srgbClr val="FF0000"/>
                </a:solidFill>
              </a:rPr>
              <a:t>Data is not new to computing </a:t>
            </a:r>
          </a:p>
        </p:txBody>
      </p:sp>
      <p:pic>
        <p:nvPicPr>
          <p:cNvPr id="11" name="Content Placeholder 10">
            <a:extLst>
              <a:ext uri="{FF2B5EF4-FFF2-40B4-BE49-F238E27FC236}">
                <a16:creationId xmlns:a16="http://schemas.microsoft.com/office/drawing/2014/main" id="{DD2C6DFA-99CD-FC2A-5A07-696EDB8ABB73}"/>
              </a:ext>
            </a:extLst>
          </p:cNvPr>
          <p:cNvPicPr>
            <a:picLocks noGrp="1" noChangeAspect="1"/>
          </p:cNvPicPr>
          <p:nvPr>
            <p:ph idx="1"/>
          </p:nvPr>
        </p:nvPicPr>
        <p:blipFill>
          <a:blip r:embed="rId3"/>
          <a:stretch>
            <a:fillRect/>
          </a:stretch>
        </p:blipFill>
        <p:spPr>
          <a:xfrm>
            <a:off x="1096963" y="2032191"/>
            <a:ext cx="10058400" cy="3650868"/>
          </a:xfrm>
          <a:prstGeom prst="rect">
            <a:avLst/>
          </a:prstGeom>
        </p:spPr>
      </p:pic>
      <p:pic>
        <p:nvPicPr>
          <p:cNvPr id="13" name="Picture 12">
            <a:extLst>
              <a:ext uri="{FF2B5EF4-FFF2-40B4-BE49-F238E27FC236}">
                <a16:creationId xmlns:a16="http://schemas.microsoft.com/office/drawing/2014/main" id="{EDB4EB08-FD6E-24B3-A478-CBE6DF67C038}"/>
              </a:ext>
            </a:extLst>
          </p:cNvPr>
          <p:cNvPicPr>
            <a:picLocks noChangeAspect="1"/>
          </p:cNvPicPr>
          <p:nvPr/>
        </p:nvPicPr>
        <p:blipFill>
          <a:blip r:embed="rId3"/>
          <a:stretch>
            <a:fillRect/>
          </a:stretch>
        </p:blipFill>
        <p:spPr>
          <a:xfrm>
            <a:off x="30163" y="1737360"/>
            <a:ext cx="12192000" cy="4425295"/>
          </a:xfrm>
          <a:prstGeom prst="rect">
            <a:avLst/>
          </a:prstGeom>
        </p:spPr>
      </p:pic>
      <p:sp>
        <p:nvSpPr>
          <p:cNvPr id="14" name="Rectangle 13">
            <a:extLst>
              <a:ext uri="{FF2B5EF4-FFF2-40B4-BE49-F238E27FC236}">
                <a16:creationId xmlns:a16="http://schemas.microsoft.com/office/drawing/2014/main" id="{9B8295F7-2B22-C3F9-B2C0-AFFE0314F428}"/>
              </a:ext>
            </a:extLst>
          </p:cNvPr>
          <p:cNvSpPr/>
          <p:nvPr/>
        </p:nvSpPr>
        <p:spPr>
          <a:xfrm>
            <a:off x="4972833" y="5862181"/>
            <a:ext cx="1741118" cy="237994"/>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CA"/>
          </a:p>
        </p:txBody>
      </p:sp>
    </p:spTree>
    <p:extLst>
      <p:ext uri="{BB962C8B-B14F-4D97-AF65-F5344CB8AC3E}">
        <p14:creationId xmlns:p14="http://schemas.microsoft.com/office/powerpoint/2010/main" val="298993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BBB61-033E-D1D7-C5D1-8754161E39BA}"/>
              </a:ext>
            </a:extLst>
          </p:cNvPr>
          <p:cNvSpPr>
            <a:spLocks noGrp="1"/>
          </p:cNvSpPr>
          <p:nvPr>
            <p:ph type="title"/>
          </p:nvPr>
        </p:nvSpPr>
        <p:spPr/>
        <p:txBody>
          <a:bodyPr/>
          <a:lstStyle/>
          <a:p>
            <a:r>
              <a:rPr lang="en" dirty="0">
                <a:solidFill>
                  <a:srgbClr val="FF0000"/>
                </a:solidFill>
              </a:rPr>
              <a:t>Data Science is </a:t>
            </a:r>
            <a:r>
              <a:rPr lang="en" i="1" dirty="0">
                <a:solidFill>
                  <a:srgbClr val="FF0000"/>
                </a:solidFill>
              </a:rPr>
              <a:t>not</a:t>
            </a:r>
            <a:r>
              <a:rPr lang="en" dirty="0">
                <a:solidFill>
                  <a:srgbClr val="FF0000"/>
                </a:solidFill>
              </a:rPr>
              <a:t> Machine Learning</a:t>
            </a:r>
            <a:endParaRPr lang="en-CA" dirty="0">
              <a:solidFill>
                <a:srgbClr val="FF0000"/>
              </a:solidFill>
            </a:endParaRPr>
          </a:p>
        </p:txBody>
      </p:sp>
      <p:sp>
        <p:nvSpPr>
          <p:cNvPr id="3" name="Content Placeholder 2">
            <a:extLst>
              <a:ext uri="{FF2B5EF4-FFF2-40B4-BE49-F238E27FC236}">
                <a16:creationId xmlns:a16="http://schemas.microsoft.com/office/drawing/2014/main" id="{151686D5-2ADC-FCC1-ACBF-3198CF05B1D3}"/>
              </a:ext>
            </a:extLst>
          </p:cNvPr>
          <p:cNvSpPr>
            <a:spLocks noGrp="1"/>
          </p:cNvSpPr>
          <p:nvPr>
            <p:ph idx="1"/>
          </p:nvPr>
        </p:nvSpPr>
        <p:spPr/>
        <p:txBody>
          <a:bodyPr/>
          <a:lstStyle/>
          <a:p>
            <a:pPr marL="457200" lvl="0" indent="-419100">
              <a:spcBef>
                <a:spcPts val="600"/>
              </a:spcBef>
              <a:buSzPts val="3000"/>
              <a:buChar char="●"/>
            </a:pPr>
            <a:r>
              <a:rPr lang="en-CA" dirty="0"/>
              <a:t>Our primary goal here is to learn to think about data: understanding, cleaning, visualization -- not just building models.</a:t>
            </a:r>
          </a:p>
          <a:p>
            <a:pPr marL="457200" lvl="0" indent="-419100">
              <a:spcBef>
                <a:spcPts val="0"/>
              </a:spcBef>
              <a:buSzPts val="3000"/>
              <a:buChar char="●"/>
            </a:pPr>
            <a:r>
              <a:rPr lang="en-CA" dirty="0"/>
              <a:t>We will not be doing deep learning/Gen AI.</a:t>
            </a:r>
          </a:p>
          <a:p>
            <a:pPr marL="457200" lvl="0" indent="-419100">
              <a:spcBef>
                <a:spcPts val="0"/>
              </a:spcBef>
              <a:buSzPts val="3000"/>
              <a:buChar char="●"/>
            </a:pPr>
            <a:r>
              <a:rPr lang="en-CA" dirty="0"/>
              <a:t>We will be doing some applied machine learning, but this is not a machine learning course. </a:t>
            </a:r>
          </a:p>
          <a:p>
            <a:endParaRPr lang="en-CA" dirty="0"/>
          </a:p>
        </p:txBody>
      </p:sp>
    </p:spTree>
    <p:extLst>
      <p:ext uri="{BB962C8B-B14F-4D97-AF65-F5344CB8AC3E}">
        <p14:creationId xmlns:p14="http://schemas.microsoft.com/office/powerpoint/2010/main" val="3570356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233A3-CD43-A66B-C4FD-252A0740BD8F}"/>
              </a:ext>
            </a:extLst>
          </p:cNvPr>
          <p:cNvSpPr>
            <a:spLocks noGrp="1"/>
          </p:cNvSpPr>
          <p:nvPr>
            <p:ph type="title"/>
          </p:nvPr>
        </p:nvSpPr>
        <p:spPr/>
        <p:txBody>
          <a:bodyPr/>
          <a:lstStyle/>
          <a:p>
            <a:r>
              <a:rPr lang="en-CA" dirty="0">
                <a:solidFill>
                  <a:srgbClr val="FF0000"/>
                </a:solidFill>
              </a:rPr>
              <a:t>My experience with data </a:t>
            </a:r>
          </a:p>
        </p:txBody>
      </p:sp>
      <p:sp>
        <p:nvSpPr>
          <p:cNvPr id="3" name="Content Placeholder 2">
            <a:extLst>
              <a:ext uri="{FF2B5EF4-FFF2-40B4-BE49-F238E27FC236}">
                <a16:creationId xmlns:a16="http://schemas.microsoft.com/office/drawing/2014/main" id="{D1915923-58E6-E8B8-5A5F-61FA42DA6782}"/>
              </a:ext>
            </a:extLst>
          </p:cNvPr>
          <p:cNvSpPr>
            <a:spLocks noGrp="1"/>
          </p:cNvSpPr>
          <p:nvPr>
            <p:ph idx="1"/>
          </p:nvPr>
        </p:nvSpPr>
        <p:spPr/>
        <p:txBody>
          <a:bodyPr/>
          <a:lstStyle/>
          <a:p>
            <a:r>
              <a:rPr lang="en-CA" dirty="0"/>
              <a:t>Premier league data to find the expectational players. </a:t>
            </a:r>
          </a:p>
          <a:p>
            <a:r>
              <a:rPr lang="en-CA" dirty="0"/>
              <a:t>DNS data to find DNS tunneling.</a:t>
            </a:r>
          </a:p>
          <a:p>
            <a:r>
              <a:rPr lang="en-CA" dirty="0"/>
              <a:t>DNS data of IoT devices to find anomalous behaviours. </a:t>
            </a:r>
          </a:p>
          <a:p>
            <a:r>
              <a:rPr lang="en-CA" dirty="0"/>
              <a:t>Community Question answering data. </a:t>
            </a:r>
          </a:p>
          <a:p>
            <a:r>
              <a:rPr lang="en-CA" dirty="0"/>
              <a:t>Startup company focused on CRMs.</a:t>
            </a:r>
          </a:p>
          <a:p>
            <a:r>
              <a:rPr lang="en-CA" dirty="0">
                <a:solidFill>
                  <a:srgbClr val="FF0000"/>
                </a:solidFill>
              </a:rPr>
              <a:t>This drives what I will teach here.</a:t>
            </a:r>
          </a:p>
          <a:p>
            <a:pPr marL="0" indent="0">
              <a:buNone/>
            </a:pPr>
            <a:endParaRPr lang="en-CA" dirty="0"/>
          </a:p>
        </p:txBody>
      </p:sp>
    </p:spTree>
    <p:extLst>
      <p:ext uri="{BB962C8B-B14F-4D97-AF65-F5344CB8AC3E}">
        <p14:creationId xmlns:p14="http://schemas.microsoft.com/office/powerpoint/2010/main" val="3428414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90936-1F18-C2A3-0D06-8A7785776B16}"/>
              </a:ext>
            </a:extLst>
          </p:cNvPr>
          <p:cNvSpPr>
            <a:spLocks noGrp="1"/>
          </p:cNvSpPr>
          <p:nvPr>
            <p:ph type="title"/>
          </p:nvPr>
        </p:nvSpPr>
        <p:spPr/>
        <p:txBody>
          <a:bodyPr/>
          <a:lstStyle/>
          <a:p>
            <a:r>
              <a:rPr lang="en" dirty="0">
                <a:solidFill>
                  <a:srgbClr val="FF0000"/>
                </a:solidFill>
              </a:rPr>
              <a:t>Course Project</a:t>
            </a:r>
            <a:endParaRPr lang="en-CA" dirty="0">
              <a:solidFill>
                <a:srgbClr val="FF0000"/>
              </a:solidFill>
            </a:endParaRPr>
          </a:p>
        </p:txBody>
      </p:sp>
      <p:sp>
        <p:nvSpPr>
          <p:cNvPr id="3" name="Content Placeholder 2">
            <a:extLst>
              <a:ext uri="{FF2B5EF4-FFF2-40B4-BE49-F238E27FC236}">
                <a16:creationId xmlns:a16="http://schemas.microsoft.com/office/drawing/2014/main" id="{9E4A5F0E-2A06-914A-34BE-FE31FB437E0B}"/>
              </a:ext>
            </a:extLst>
          </p:cNvPr>
          <p:cNvSpPr>
            <a:spLocks noGrp="1"/>
          </p:cNvSpPr>
          <p:nvPr>
            <p:ph idx="1"/>
          </p:nvPr>
        </p:nvSpPr>
        <p:spPr/>
        <p:txBody>
          <a:bodyPr/>
          <a:lstStyle/>
          <a:p>
            <a:pPr marL="457200" lvl="0" indent="-419100">
              <a:spcBef>
                <a:spcPts val="600"/>
              </a:spcBef>
              <a:buSzPts val="3000"/>
              <a:buChar char="●"/>
            </a:pPr>
            <a:r>
              <a:rPr lang="en-CA" dirty="0"/>
              <a:t>This will be a small group project, where each team takes on a particular forecasting challenge and builds a predictive model.</a:t>
            </a:r>
          </a:p>
          <a:p>
            <a:pPr marL="457200" lvl="0" indent="-419100">
              <a:spcBef>
                <a:spcPts val="0"/>
              </a:spcBef>
              <a:buSzPts val="3000"/>
              <a:buChar char="●"/>
            </a:pPr>
            <a:r>
              <a:rPr lang="en-CA" dirty="0"/>
              <a:t>Each team will start from scratch, including finding/constructing the relevant data sets.</a:t>
            </a:r>
          </a:p>
          <a:p>
            <a:pPr marL="457200" lvl="0" indent="-419100">
              <a:spcBef>
                <a:spcPts val="0"/>
              </a:spcBef>
              <a:buSzPts val="3000"/>
              <a:buChar char="●"/>
            </a:pPr>
            <a:r>
              <a:rPr lang="en-CA" dirty="0">
                <a:solidFill>
                  <a:schemeClr val="tx1"/>
                </a:solidFill>
              </a:rPr>
              <a:t>Each team will choose from a list of 5-7 possible projects, released in a month or so.</a:t>
            </a:r>
          </a:p>
          <a:p>
            <a:endParaRPr lang="en-CA" dirty="0"/>
          </a:p>
        </p:txBody>
      </p:sp>
    </p:spTree>
    <p:extLst>
      <p:ext uri="{BB962C8B-B14F-4D97-AF65-F5344CB8AC3E}">
        <p14:creationId xmlns:p14="http://schemas.microsoft.com/office/powerpoint/2010/main" val="2820446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DCDC5-9CC2-C459-86ED-5D6D865A2CB3}"/>
              </a:ext>
            </a:extLst>
          </p:cNvPr>
          <p:cNvSpPr>
            <a:spLocks noGrp="1"/>
          </p:cNvSpPr>
          <p:nvPr>
            <p:ph type="title"/>
          </p:nvPr>
        </p:nvSpPr>
        <p:spPr/>
        <p:txBody>
          <a:bodyPr/>
          <a:lstStyle/>
          <a:p>
            <a:r>
              <a:rPr lang="en-CA" dirty="0">
                <a:solidFill>
                  <a:srgbClr val="FF0000"/>
                </a:solidFill>
              </a:rPr>
              <a:t>Course ChatGPT policy</a:t>
            </a:r>
          </a:p>
        </p:txBody>
      </p:sp>
      <p:sp>
        <p:nvSpPr>
          <p:cNvPr id="3" name="Content Placeholder 2">
            <a:extLst>
              <a:ext uri="{FF2B5EF4-FFF2-40B4-BE49-F238E27FC236}">
                <a16:creationId xmlns:a16="http://schemas.microsoft.com/office/drawing/2014/main" id="{270D8095-B34B-3251-391A-4A4B8DD9D661}"/>
              </a:ext>
            </a:extLst>
          </p:cNvPr>
          <p:cNvSpPr>
            <a:spLocks noGrp="1"/>
          </p:cNvSpPr>
          <p:nvPr>
            <p:ph idx="1"/>
          </p:nvPr>
        </p:nvSpPr>
        <p:spPr/>
        <p:txBody>
          <a:bodyPr/>
          <a:lstStyle/>
          <a:p>
            <a:pPr>
              <a:spcBef>
                <a:spcPts val="600"/>
              </a:spcBef>
            </a:pPr>
            <a:r>
              <a:rPr lang="en-CA" dirty="0"/>
              <a:t>ChatGPT can do amazing-</a:t>
            </a:r>
            <a:r>
              <a:rPr lang="en-CA" i="1" dirty="0"/>
              <a:t>looking</a:t>
            </a:r>
            <a:r>
              <a:rPr lang="en-CA" dirty="0"/>
              <a:t> data science things, particularly using Code Interpreter. </a:t>
            </a:r>
          </a:p>
          <a:p>
            <a:pPr marL="0" lvl="0" indent="0">
              <a:spcBef>
                <a:spcPts val="600"/>
              </a:spcBef>
              <a:buNone/>
            </a:pPr>
            <a:r>
              <a:rPr lang="en-CA" dirty="0">
                <a:solidFill>
                  <a:srgbClr val="FF0000"/>
                </a:solidFill>
              </a:rPr>
              <a:t>  You can use this and related tools provided you cite (#BEGIN[ChatGPT GPT-4]) giving prompts.</a:t>
            </a:r>
          </a:p>
          <a:p>
            <a:pPr>
              <a:spcBef>
                <a:spcPts val="600"/>
              </a:spcBef>
            </a:pPr>
            <a:r>
              <a:rPr lang="en-CA" dirty="0"/>
              <a:t>I look forward to learning what you can and cannot do with these tools.</a:t>
            </a:r>
          </a:p>
          <a:p>
            <a:endParaRPr lang="en-CA" dirty="0"/>
          </a:p>
        </p:txBody>
      </p:sp>
    </p:spTree>
    <p:extLst>
      <p:ext uri="{BB962C8B-B14F-4D97-AF65-F5344CB8AC3E}">
        <p14:creationId xmlns:p14="http://schemas.microsoft.com/office/powerpoint/2010/main" val="3574675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53430-C93A-BE6B-0CE2-5E77C075AC94}"/>
              </a:ext>
            </a:extLst>
          </p:cNvPr>
          <p:cNvSpPr>
            <a:spLocks noGrp="1"/>
          </p:cNvSpPr>
          <p:nvPr>
            <p:ph type="title"/>
          </p:nvPr>
        </p:nvSpPr>
        <p:spPr/>
        <p:txBody>
          <a:bodyPr/>
          <a:lstStyle/>
          <a:p>
            <a:r>
              <a:rPr lang="en-CA" dirty="0">
                <a:solidFill>
                  <a:srgbClr val="FF0000"/>
                </a:solidFill>
              </a:rPr>
              <a:t>Use it before you lose it!</a:t>
            </a:r>
          </a:p>
        </p:txBody>
      </p:sp>
      <p:sp>
        <p:nvSpPr>
          <p:cNvPr id="3" name="Content Placeholder 2">
            <a:extLst>
              <a:ext uri="{FF2B5EF4-FFF2-40B4-BE49-F238E27FC236}">
                <a16:creationId xmlns:a16="http://schemas.microsoft.com/office/drawing/2014/main" id="{A9D92002-50CB-DAE2-5BEB-47755B5EC000}"/>
              </a:ext>
            </a:extLst>
          </p:cNvPr>
          <p:cNvSpPr>
            <a:spLocks noGrp="1"/>
          </p:cNvSpPr>
          <p:nvPr>
            <p:ph idx="1"/>
          </p:nvPr>
        </p:nvSpPr>
        <p:spPr/>
        <p:txBody>
          <a:bodyPr/>
          <a:lstStyle/>
          <a:p>
            <a:r>
              <a:rPr lang="en-CA" dirty="0"/>
              <a:t>MIT researchers studied essay writing over 4 months using </a:t>
            </a:r>
            <a:r>
              <a:rPr lang="en-CA" b="1" dirty="0"/>
              <a:t>ChatGPT, Google Search, or no tools</a:t>
            </a:r>
            <a:r>
              <a:rPr lang="en-CA" dirty="0"/>
              <a:t>. ChatGPT users showed </a:t>
            </a:r>
            <a:r>
              <a:rPr lang="en-CA" b="1" dirty="0"/>
              <a:t>lower brain connectivity</a:t>
            </a:r>
            <a:r>
              <a:rPr lang="en-CA" dirty="0"/>
              <a:t>, weaker recall of their own writing, and less sense of ownership. </a:t>
            </a:r>
          </a:p>
          <a:p>
            <a:r>
              <a:rPr lang="en-CA" dirty="0"/>
              <a:t>The key lesson is </a:t>
            </a:r>
            <a:r>
              <a:rPr lang="en-CA" b="1" dirty="0"/>
              <a:t>not “AI is bad,”</a:t>
            </a:r>
            <a:r>
              <a:rPr lang="en-CA" dirty="0"/>
              <a:t> but: students should use AI to </a:t>
            </a:r>
            <a:r>
              <a:rPr lang="en-CA" b="1" dirty="0"/>
              <a:t>support thinking</a:t>
            </a:r>
            <a:r>
              <a:rPr lang="en-CA" dirty="0"/>
              <a:t>, not replace it.</a:t>
            </a:r>
          </a:p>
        </p:txBody>
      </p:sp>
      <p:pic>
        <p:nvPicPr>
          <p:cNvPr id="5" name="Picture 4">
            <a:extLst>
              <a:ext uri="{FF2B5EF4-FFF2-40B4-BE49-F238E27FC236}">
                <a16:creationId xmlns:a16="http://schemas.microsoft.com/office/drawing/2014/main" id="{79E9E7FE-F0CF-2C4B-898D-65DE483F01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7038" y="3298179"/>
            <a:ext cx="3667904" cy="2679289"/>
          </a:xfrm>
          <a:prstGeom prst="rect">
            <a:avLst/>
          </a:prstGeom>
        </p:spPr>
      </p:pic>
      <p:sp>
        <p:nvSpPr>
          <p:cNvPr id="7" name="TextBox 6">
            <a:extLst>
              <a:ext uri="{FF2B5EF4-FFF2-40B4-BE49-F238E27FC236}">
                <a16:creationId xmlns:a16="http://schemas.microsoft.com/office/drawing/2014/main" id="{F9C63F39-B484-0279-E1DB-42C2A442023C}"/>
              </a:ext>
            </a:extLst>
          </p:cNvPr>
          <p:cNvSpPr txBox="1"/>
          <p:nvPr/>
        </p:nvSpPr>
        <p:spPr>
          <a:xfrm>
            <a:off x="0" y="5120641"/>
            <a:ext cx="6096000" cy="369332"/>
          </a:xfrm>
          <a:prstGeom prst="rect">
            <a:avLst/>
          </a:prstGeom>
          <a:noFill/>
        </p:spPr>
        <p:txBody>
          <a:bodyPr wrap="square">
            <a:spAutoFit/>
          </a:bodyPr>
          <a:lstStyle/>
          <a:p>
            <a:r>
              <a:rPr lang="en-CA" dirty="0"/>
              <a:t>https://arxiv.org/pdf/2506.08872</a:t>
            </a:r>
          </a:p>
        </p:txBody>
      </p:sp>
    </p:spTree>
    <p:extLst>
      <p:ext uri="{BB962C8B-B14F-4D97-AF65-F5344CB8AC3E}">
        <p14:creationId xmlns:p14="http://schemas.microsoft.com/office/powerpoint/2010/main" val="1018597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D8D50-78C9-DC45-D8E0-506DB0B9FB5E}"/>
              </a:ext>
            </a:extLst>
          </p:cNvPr>
          <p:cNvSpPr>
            <a:spLocks noGrp="1"/>
          </p:cNvSpPr>
          <p:nvPr>
            <p:ph type="title"/>
          </p:nvPr>
        </p:nvSpPr>
        <p:spPr/>
        <p:txBody>
          <a:bodyPr/>
          <a:lstStyle/>
          <a:p>
            <a:r>
              <a:rPr lang="en" dirty="0">
                <a:solidFill>
                  <a:srgbClr val="FF0000"/>
                </a:solidFill>
              </a:rPr>
              <a:t>Generative AI and Data Science</a:t>
            </a:r>
            <a:endParaRPr lang="en-CA" dirty="0">
              <a:solidFill>
                <a:srgbClr val="FF0000"/>
              </a:solidFill>
            </a:endParaRPr>
          </a:p>
        </p:txBody>
      </p:sp>
      <p:sp>
        <p:nvSpPr>
          <p:cNvPr id="3" name="Content Placeholder 2">
            <a:extLst>
              <a:ext uri="{FF2B5EF4-FFF2-40B4-BE49-F238E27FC236}">
                <a16:creationId xmlns:a16="http://schemas.microsoft.com/office/drawing/2014/main" id="{671020FF-1015-F206-6A8E-CC9F2ACFAFF7}"/>
              </a:ext>
            </a:extLst>
          </p:cNvPr>
          <p:cNvSpPr>
            <a:spLocks noGrp="1"/>
          </p:cNvSpPr>
          <p:nvPr>
            <p:ph idx="1"/>
          </p:nvPr>
        </p:nvSpPr>
        <p:spPr/>
        <p:txBody>
          <a:bodyPr/>
          <a:lstStyle/>
          <a:p>
            <a:pPr marL="0" lvl="0" indent="0">
              <a:spcBef>
                <a:spcPts val="600"/>
              </a:spcBef>
              <a:buNone/>
            </a:pPr>
            <a:r>
              <a:rPr lang="en-CA" dirty="0"/>
              <a:t>GenAI is eating the world, including certain aspects of what I think of Data Science.</a:t>
            </a:r>
          </a:p>
          <a:p>
            <a:pPr marL="0" lvl="0" indent="0">
              <a:spcBef>
                <a:spcPts val="600"/>
              </a:spcBef>
              <a:buNone/>
            </a:pPr>
            <a:r>
              <a:rPr lang="en-CA" dirty="0"/>
              <a:t>That said, my focus is generally how to think correctly about mid-scale data analysis, to get the right understanding on important tasks.</a:t>
            </a:r>
          </a:p>
          <a:p>
            <a:pPr marL="0" lvl="0" indent="0">
              <a:spcBef>
                <a:spcPts val="600"/>
              </a:spcBef>
              <a:buNone/>
            </a:pPr>
            <a:r>
              <a:rPr lang="en-CA" dirty="0"/>
              <a:t>We will somewhat discuss and use but not build GenAI models.</a:t>
            </a:r>
          </a:p>
          <a:p>
            <a:pPr marL="0" lvl="0" indent="0">
              <a:spcBef>
                <a:spcPts val="600"/>
              </a:spcBef>
              <a:buNone/>
            </a:pPr>
            <a:endParaRPr lang="en-CA" dirty="0"/>
          </a:p>
          <a:p>
            <a:endParaRPr lang="en-CA" dirty="0"/>
          </a:p>
        </p:txBody>
      </p:sp>
    </p:spTree>
    <p:extLst>
      <p:ext uri="{BB962C8B-B14F-4D97-AF65-F5344CB8AC3E}">
        <p14:creationId xmlns:p14="http://schemas.microsoft.com/office/powerpoint/2010/main" val="1778337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EA70C-B45C-BECF-E26E-3D42C36965A2}"/>
              </a:ext>
            </a:extLst>
          </p:cNvPr>
          <p:cNvSpPr>
            <a:spLocks noGrp="1"/>
          </p:cNvSpPr>
          <p:nvPr>
            <p:ph type="title"/>
          </p:nvPr>
        </p:nvSpPr>
        <p:spPr/>
        <p:txBody>
          <a:bodyPr/>
          <a:lstStyle/>
          <a:p>
            <a:r>
              <a:rPr lang="en-CA" dirty="0">
                <a:solidFill>
                  <a:srgbClr val="FF0000"/>
                </a:solidFill>
              </a:rPr>
              <a:t>Academic Grading </a:t>
            </a:r>
          </a:p>
        </p:txBody>
      </p:sp>
      <p:graphicFrame>
        <p:nvGraphicFramePr>
          <p:cNvPr id="6" name="Content Placeholder 5">
            <a:extLst>
              <a:ext uri="{FF2B5EF4-FFF2-40B4-BE49-F238E27FC236}">
                <a16:creationId xmlns:a16="http://schemas.microsoft.com/office/drawing/2014/main" id="{00C3C289-21E5-CB87-4233-B0C94A184807}"/>
              </a:ext>
            </a:extLst>
          </p:cNvPr>
          <p:cNvGraphicFramePr>
            <a:graphicFrameLocks noGrp="1"/>
          </p:cNvGraphicFramePr>
          <p:nvPr>
            <p:ph idx="1"/>
            <p:extLst>
              <p:ext uri="{D42A27DB-BD31-4B8C-83A1-F6EECF244321}">
                <p14:modId xmlns:p14="http://schemas.microsoft.com/office/powerpoint/2010/main" val="3573844585"/>
              </p:ext>
            </p:extLst>
          </p:nvPr>
        </p:nvGraphicFramePr>
        <p:xfrm>
          <a:off x="847123" y="1846263"/>
          <a:ext cx="9155166" cy="4192450"/>
        </p:xfrm>
        <a:graphic>
          <a:graphicData uri="http://schemas.openxmlformats.org/drawingml/2006/table">
            <a:tbl>
              <a:tblPr/>
              <a:tblGrid>
                <a:gridCol w="3051722">
                  <a:extLst>
                    <a:ext uri="{9D8B030D-6E8A-4147-A177-3AD203B41FA5}">
                      <a16:colId xmlns:a16="http://schemas.microsoft.com/office/drawing/2014/main" val="1247243164"/>
                    </a:ext>
                  </a:extLst>
                </a:gridCol>
                <a:gridCol w="3051722">
                  <a:extLst>
                    <a:ext uri="{9D8B030D-6E8A-4147-A177-3AD203B41FA5}">
                      <a16:colId xmlns:a16="http://schemas.microsoft.com/office/drawing/2014/main" val="1607315699"/>
                    </a:ext>
                  </a:extLst>
                </a:gridCol>
                <a:gridCol w="3051722">
                  <a:extLst>
                    <a:ext uri="{9D8B030D-6E8A-4147-A177-3AD203B41FA5}">
                      <a16:colId xmlns:a16="http://schemas.microsoft.com/office/drawing/2014/main" val="866287040"/>
                    </a:ext>
                  </a:extLst>
                </a:gridCol>
              </a:tblGrid>
              <a:tr h="360658">
                <a:tc>
                  <a:txBody>
                    <a:bodyPr/>
                    <a:lstStyle/>
                    <a:p>
                      <a:pPr marL="0" marR="0" algn="l" fontAlgn="t">
                        <a:spcAft>
                          <a:spcPts val="3600"/>
                        </a:spcAft>
                        <a:buNone/>
                      </a:pPr>
                      <a:r>
                        <a:rPr lang="en-CA" sz="1200" b="1" i="0" dirty="0">
                          <a:solidFill>
                            <a:srgbClr val="003C71"/>
                          </a:solidFill>
                          <a:effectLst/>
                          <a:latin typeface="Nunito Sans" panose="020F0502020204030204" pitchFamily="2" charset="0"/>
                        </a:rPr>
                        <a:t>Criteria</a:t>
                      </a:r>
                      <a:endParaRPr lang="en-CA" sz="1200" b="0" i="0" dirty="0">
                        <a:solidFill>
                          <a:srgbClr val="003C71"/>
                        </a:solidFill>
                        <a:effectLst/>
                        <a:latin typeface="Nunito Sans" panose="020F0502020204030204" pitchFamily="2" charset="0"/>
                      </a:endParaRPr>
                    </a:p>
                  </a:txBody>
                  <a:tcPr marL="92476" marR="92476" marT="92476" marB="809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lgn="l" fontAlgn="t">
                        <a:spcAft>
                          <a:spcPts val="3600"/>
                        </a:spcAft>
                        <a:buNone/>
                      </a:pPr>
                      <a:r>
                        <a:rPr lang="en-CA" sz="1200" b="1" i="0">
                          <a:solidFill>
                            <a:srgbClr val="003C71"/>
                          </a:solidFill>
                          <a:effectLst/>
                          <a:latin typeface="Nunito Sans" panose="020F0502020204030204" pitchFamily="2" charset="0"/>
                        </a:rPr>
                        <a:t>%</a:t>
                      </a:r>
                      <a:endParaRPr lang="en-CA" sz="1200" b="0" i="0">
                        <a:solidFill>
                          <a:srgbClr val="003C71"/>
                        </a:solidFill>
                        <a:effectLst/>
                        <a:latin typeface="Nunito Sans" panose="020F0502020204030204" pitchFamily="2" charset="0"/>
                      </a:endParaRPr>
                    </a:p>
                  </a:txBody>
                  <a:tcPr marL="92476" marR="92476" marT="92476" marB="809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lgn="l" fontAlgn="t">
                        <a:spcAft>
                          <a:spcPts val="3600"/>
                        </a:spcAft>
                        <a:buNone/>
                      </a:pPr>
                      <a:r>
                        <a:rPr lang="en-CA" sz="1200" b="1" i="0">
                          <a:solidFill>
                            <a:srgbClr val="003C71"/>
                          </a:solidFill>
                          <a:effectLst/>
                          <a:latin typeface="Nunito Sans" panose="020F0502020204030204" pitchFamily="2" charset="0"/>
                        </a:rPr>
                        <a:t>Comments</a:t>
                      </a:r>
                      <a:endParaRPr lang="en-CA" sz="1200" b="0" i="0">
                        <a:solidFill>
                          <a:srgbClr val="003C71"/>
                        </a:solidFill>
                        <a:effectLst/>
                        <a:latin typeface="Nunito Sans" panose="020F0502020204030204" pitchFamily="2" charset="0"/>
                      </a:endParaRPr>
                    </a:p>
                  </a:txBody>
                  <a:tcPr marL="92476" marR="92476" marT="92476" marB="809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69170876"/>
                  </a:ext>
                </a:extLst>
              </a:tr>
              <a:tr h="735188">
                <a:tc>
                  <a:txBody>
                    <a:bodyPr/>
                    <a:lstStyle/>
                    <a:p>
                      <a:pPr marL="0" marR="0" algn="l" fontAlgn="t">
                        <a:spcAft>
                          <a:spcPts val="3600"/>
                        </a:spcAft>
                        <a:buNone/>
                      </a:pPr>
                      <a:r>
                        <a:rPr lang="en-CA" sz="1200" b="0" i="0">
                          <a:solidFill>
                            <a:srgbClr val="003C71"/>
                          </a:solidFill>
                          <a:effectLst/>
                          <a:latin typeface="Nunito Sans" panose="020F0502020204030204" pitchFamily="2" charset="0"/>
                        </a:rPr>
                        <a:t>Assignments</a:t>
                      </a:r>
                    </a:p>
                  </a:txBody>
                  <a:tcPr marL="92476" marR="92476" marT="92476" marB="809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lgn="l" fontAlgn="t">
                        <a:spcAft>
                          <a:spcPts val="3600"/>
                        </a:spcAft>
                        <a:buNone/>
                      </a:pPr>
                      <a:r>
                        <a:rPr lang="en-CA" sz="1200" b="0" i="0">
                          <a:solidFill>
                            <a:srgbClr val="003C71"/>
                          </a:solidFill>
                          <a:effectLst/>
                          <a:latin typeface="Nunito Sans" panose="020F0502020204030204" pitchFamily="2" charset="0"/>
                        </a:rPr>
                        <a:t>15</a:t>
                      </a:r>
                    </a:p>
                  </a:txBody>
                  <a:tcPr marL="92476" marR="92476" marT="92476" marB="809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lgn="l" fontAlgn="t">
                        <a:spcAft>
                          <a:spcPts val="1200"/>
                        </a:spcAft>
                        <a:buNone/>
                      </a:pPr>
                      <a:r>
                        <a:rPr lang="en-CA" sz="1200" b="0" i="0">
                          <a:solidFill>
                            <a:srgbClr val="003C71"/>
                          </a:solidFill>
                          <a:effectLst/>
                          <a:latin typeface="Nunito Sans" panose="020F0502020204030204" pitchFamily="2" charset="0"/>
                        </a:rPr>
                        <a:t>(1) Python data manipulation (5%), (2) experimental analysis (5%), and (3) machine learning (5%) (total 15% of course grade)</a:t>
                      </a:r>
                    </a:p>
                  </a:txBody>
                  <a:tcPr marL="92476" marR="92476" marT="92476" marB="809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370797822"/>
                  </a:ext>
                </a:extLst>
              </a:tr>
              <a:tr h="360658">
                <a:tc>
                  <a:txBody>
                    <a:bodyPr/>
                    <a:lstStyle/>
                    <a:p>
                      <a:pPr marL="0" marR="0" algn="l" fontAlgn="t">
                        <a:spcAft>
                          <a:spcPts val="3600"/>
                        </a:spcAft>
                        <a:buNone/>
                      </a:pPr>
                      <a:r>
                        <a:rPr lang="en-CA" sz="1200" b="0" i="0" dirty="0">
                          <a:solidFill>
                            <a:srgbClr val="003C71"/>
                          </a:solidFill>
                          <a:effectLst/>
                          <a:latin typeface="Nunito Sans" panose="020F0502020204030204" pitchFamily="2" charset="0"/>
                        </a:rPr>
                        <a:t>Labs and quizzes </a:t>
                      </a:r>
                    </a:p>
                  </a:txBody>
                  <a:tcPr marL="92476" marR="92476" marT="92476" marB="809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lgn="l" fontAlgn="t">
                        <a:spcAft>
                          <a:spcPts val="3600"/>
                        </a:spcAft>
                        <a:buNone/>
                      </a:pPr>
                      <a:r>
                        <a:rPr lang="en-CA" sz="1200" b="0" i="0">
                          <a:solidFill>
                            <a:srgbClr val="003C71"/>
                          </a:solidFill>
                          <a:effectLst/>
                          <a:latin typeface="Nunito Sans" panose="020F0502020204030204" pitchFamily="2" charset="0"/>
                        </a:rPr>
                        <a:t>15</a:t>
                      </a:r>
                    </a:p>
                  </a:txBody>
                  <a:tcPr marL="92476" marR="92476" marT="92476" marB="809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lgn="l" fontAlgn="t">
                        <a:spcAft>
                          <a:spcPts val="3600"/>
                        </a:spcAft>
                        <a:buNone/>
                      </a:pPr>
                      <a:r>
                        <a:rPr lang="en-CA" sz="1200" b="0" i="0" dirty="0">
                          <a:solidFill>
                            <a:srgbClr val="003C71"/>
                          </a:solidFill>
                          <a:effectLst/>
                          <a:latin typeface="Nunito Sans" panose="020F0502020204030204" pitchFamily="2" charset="0"/>
                        </a:rPr>
                        <a:t>8 labs, and 10 quizzes </a:t>
                      </a:r>
                    </a:p>
                  </a:txBody>
                  <a:tcPr marL="92476" marR="92476" marT="92476" marB="809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298945984"/>
                  </a:ext>
                </a:extLst>
              </a:tr>
              <a:tr h="1296982">
                <a:tc>
                  <a:txBody>
                    <a:bodyPr/>
                    <a:lstStyle/>
                    <a:p>
                      <a:pPr marL="0" marR="0" algn="l" fontAlgn="t">
                        <a:spcAft>
                          <a:spcPts val="3600"/>
                        </a:spcAft>
                        <a:buNone/>
                      </a:pPr>
                      <a:r>
                        <a:rPr lang="en-CA" sz="1200" b="0" i="0">
                          <a:solidFill>
                            <a:srgbClr val="003C71"/>
                          </a:solidFill>
                          <a:effectLst/>
                          <a:latin typeface="Nunito Sans" panose="020F0502020204030204" pitchFamily="2" charset="0"/>
                        </a:rPr>
                        <a:t>Code Walk</a:t>
                      </a:r>
                    </a:p>
                  </a:txBody>
                  <a:tcPr marL="92476" marR="92476" marT="92476" marB="809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lgn="l" fontAlgn="t">
                        <a:spcAft>
                          <a:spcPts val="3600"/>
                        </a:spcAft>
                        <a:buNone/>
                      </a:pPr>
                      <a:r>
                        <a:rPr lang="en-CA" sz="1200" b="0" i="0" dirty="0">
                          <a:solidFill>
                            <a:srgbClr val="003C71"/>
                          </a:solidFill>
                          <a:effectLst/>
                          <a:latin typeface="Nunito Sans" panose="020F0502020204030204" pitchFamily="2" charset="0"/>
                        </a:rPr>
                        <a:t>10</a:t>
                      </a:r>
                    </a:p>
                  </a:txBody>
                  <a:tcPr marL="92476" marR="92476" marT="92476" marB="809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lgn="l" fontAlgn="t">
                        <a:spcAft>
                          <a:spcPts val="1200"/>
                        </a:spcAft>
                        <a:buNone/>
                      </a:pPr>
                      <a:r>
                        <a:rPr lang="en-CA" sz="1200" b="0" i="0" dirty="0">
                          <a:solidFill>
                            <a:srgbClr val="003C71"/>
                          </a:solidFill>
                          <a:effectLst/>
                          <a:latin typeface="Nunito Sans" panose="020F0502020204030204" pitchFamily="2" charset="0"/>
                        </a:rPr>
                        <a:t>Each student is required to complete two code walkthroughs over the semester. During each walkthrough, the student will explain and discuss their lab work. The specific lab to be reviewed will be selected randomly.</a:t>
                      </a:r>
                    </a:p>
                  </a:txBody>
                  <a:tcPr marL="92476" marR="92476" marT="92476" marB="809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594014003"/>
                  </a:ext>
                </a:extLst>
              </a:tr>
              <a:tr h="547923">
                <a:tc>
                  <a:txBody>
                    <a:bodyPr/>
                    <a:lstStyle/>
                    <a:p>
                      <a:pPr marL="0" marR="0" algn="l" fontAlgn="t">
                        <a:spcAft>
                          <a:spcPts val="3600"/>
                        </a:spcAft>
                        <a:buNone/>
                      </a:pPr>
                      <a:r>
                        <a:rPr lang="en-CA" sz="1200" b="0" i="0">
                          <a:solidFill>
                            <a:srgbClr val="003C71"/>
                          </a:solidFill>
                          <a:effectLst/>
                          <a:latin typeface="Nunito Sans" panose="020F0502020204030204" pitchFamily="2" charset="0"/>
                        </a:rPr>
                        <a:t>Project</a:t>
                      </a:r>
                    </a:p>
                  </a:txBody>
                  <a:tcPr marL="92476" marR="92476" marT="92476" marB="809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lgn="l" fontAlgn="t">
                        <a:spcAft>
                          <a:spcPts val="3600"/>
                        </a:spcAft>
                        <a:buNone/>
                      </a:pPr>
                      <a:r>
                        <a:rPr lang="en-CA" sz="1200" b="0" i="0" dirty="0">
                          <a:solidFill>
                            <a:srgbClr val="003C71"/>
                          </a:solidFill>
                          <a:effectLst/>
                          <a:latin typeface="Nunito Sans" panose="020F0502020204030204" pitchFamily="2" charset="0"/>
                        </a:rPr>
                        <a:t>20</a:t>
                      </a:r>
                    </a:p>
                  </a:txBody>
                  <a:tcPr marL="92476" marR="92476" marT="92476" marB="809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lgn="l" fontAlgn="t">
                        <a:spcAft>
                          <a:spcPts val="1200"/>
                        </a:spcAft>
                        <a:buNone/>
                      </a:pPr>
                      <a:r>
                        <a:rPr lang="en-CA" sz="1200" b="0" i="0">
                          <a:solidFill>
                            <a:srgbClr val="003C71"/>
                          </a:solidFill>
                          <a:effectLst/>
                          <a:latin typeface="Nunito Sans" panose="020F0502020204030204" pitchFamily="2" charset="0"/>
                        </a:rPr>
                        <a:t>Project proposal (5% of grade), Final project report (15% of grade)</a:t>
                      </a:r>
                    </a:p>
                  </a:txBody>
                  <a:tcPr marL="92476" marR="92476" marT="92476" marB="809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262021814"/>
                  </a:ext>
                </a:extLst>
              </a:tr>
              <a:tr h="360658">
                <a:tc>
                  <a:txBody>
                    <a:bodyPr/>
                    <a:lstStyle/>
                    <a:p>
                      <a:pPr marL="0" marR="0" algn="l" fontAlgn="t">
                        <a:spcAft>
                          <a:spcPts val="3600"/>
                        </a:spcAft>
                        <a:buNone/>
                      </a:pPr>
                      <a:r>
                        <a:rPr lang="en-CA" sz="1200" b="0" i="0">
                          <a:solidFill>
                            <a:srgbClr val="003C71"/>
                          </a:solidFill>
                          <a:effectLst/>
                          <a:latin typeface="Nunito Sans" panose="020F0502020204030204" pitchFamily="2" charset="0"/>
                        </a:rPr>
                        <a:t>Midterm</a:t>
                      </a:r>
                    </a:p>
                  </a:txBody>
                  <a:tcPr marL="92476" marR="92476" marT="92476" marB="809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lgn="l" fontAlgn="t">
                        <a:spcAft>
                          <a:spcPts val="3600"/>
                        </a:spcAft>
                        <a:buNone/>
                      </a:pPr>
                      <a:r>
                        <a:rPr lang="en-CA" sz="1200" b="0" i="0">
                          <a:solidFill>
                            <a:srgbClr val="003C71"/>
                          </a:solidFill>
                          <a:effectLst/>
                          <a:latin typeface="Nunito Sans" panose="020F0502020204030204" pitchFamily="2" charset="0"/>
                        </a:rPr>
                        <a:t>20</a:t>
                      </a:r>
                    </a:p>
                  </a:txBody>
                  <a:tcPr marL="92476" marR="92476" marT="92476" marB="809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lgn="l" fontAlgn="t">
                        <a:spcAft>
                          <a:spcPts val="3600"/>
                        </a:spcAft>
                        <a:buNone/>
                      </a:pPr>
                      <a:r>
                        <a:rPr lang="en-CA" sz="1200" b="0" i="0">
                          <a:solidFill>
                            <a:srgbClr val="003C71"/>
                          </a:solidFill>
                          <a:effectLst/>
                          <a:latin typeface="Nunito Sans" panose="020F0502020204030204" pitchFamily="2" charset="0"/>
                        </a:rPr>
                        <a:t>Paper based</a:t>
                      </a:r>
                    </a:p>
                  </a:txBody>
                  <a:tcPr marL="92476" marR="92476" marT="92476" marB="809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308422921"/>
                  </a:ext>
                </a:extLst>
              </a:tr>
              <a:tr h="360658">
                <a:tc>
                  <a:txBody>
                    <a:bodyPr/>
                    <a:lstStyle/>
                    <a:p>
                      <a:pPr marL="0" marR="0" algn="l" fontAlgn="t">
                        <a:spcAft>
                          <a:spcPts val="3600"/>
                        </a:spcAft>
                        <a:buNone/>
                      </a:pPr>
                      <a:r>
                        <a:rPr lang="en-CA" sz="1200" b="0" i="0">
                          <a:solidFill>
                            <a:srgbClr val="003C71"/>
                          </a:solidFill>
                          <a:effectLst/>
                          <a:latin typeface="Nunito Sans" panose="020F0502020204030204" pitchFamily="2" charset="0"/>
                        </a:rPr>
                        <a:t>Final</a:t>
                      </a:r>
                    </a:p>
                  </a:txBody>
                  <a:tcPr marL="92476" marR="92476" marT="92476" marB="809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lgn="l" fontAlgn="t">
                        <a:spcAft>
                          <a:spcPts val="3600"/>
                        </a:spcAft>
                        <a:buNone/>
                      </a:pPr>
                      <a:r>
                        <a:rPr lang="en-CA" sz="1200" b="0" i="0">
                          <a:solidFill>
                            <a:srgbClr val="003C71"/>
                          </a:solidFill>
                          <a:effectLst/>
                          <a:latin typeface="Nunito Sans" panose="020F0502020204030204" pitchFamily="2" charset="0"/>
                        </a:rPr>
                        <a:t>20</a:t>
                      </a:r>
                    </a:p>
                  </a:txBody>
                  <a:tcPr marL="92476" marR="92476" marT="92476" marB="809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algn="l" fontAlgn="t">
                        <a:spcAft>
                          <a:spcPts val="3600"/>
                        </a:spcAft>
                        <a:buNone/>
                      </a:pPr>
                      <a:r>
                        <a:rPr lang="en-CA" sz="1200" b="0" i="0" dirty="0">
                          <a:solidFill>
                            <a:srgbClr val="003C71"/>
                          </a:solidFill>
                          <a:effectLst/>
                          <a:latin typeface="Nunito Sans" panose="020F0502020204030204" pitchFamily="2" charset="0"/>
                        </a:rPr>
                        <a:t>Paper based</a:t>
                      </a:r>
                    </a:p>
                  </a:txBody>
                  <a:tcPr marL="92476" marR="92476" marT="92476" marB="8091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379479215"/>
                  </a:ext>
                </a:extLst>
              </a:tr>
            </a:tbl>
          </a:graphicData>
        </a:graphic>
      </p:graphicFrame>
    </p:spTree>
    <p:extLst>
      <p:ext uri="{BB962C8B-B14F-4D97-AF65-F5344CB8AC3E}">
        <p14:creationId xmlns:p14="http://schemas.microsoft.com/office/powerpoint/2010/main" val="33450072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50"/>
          <p:cNvSpPr txBox="1">
            <a:spLocks noGrp="1"/>
          </p:cNvSpPr>
          <p:nvPr>
            <p:ph type="title"/>
          </p:nvPr>
        </p:nvSpPr>
        <p:spPr>
          <a:prstGeom prst="rect">
            <a:avLst/>
          </a:prstGeom>
        </p:spPr>
        <p:txBody>
          <a:bodyPr spcFirstLastPara="1" vert="horz" wrap="square" lIns="121900" tIns="121900" rIns="121900" bIns="121900" rtlCol="0" anchor="t" anchorCtr="0">
            <a:normAutofit fontScale="90000"/>
          </a:bodyPr>
          <a:lstStyle/>
          <a:p>
            <a:r>
              <a:rPr lang="en" dirty="0">
                <a:solidFill>
                  <a:srgbClr val="FF0000"/>
                </a:solidFill>
              </a:rPr>
              <a:t>Assignments</a:t>
            </a:r>
            <a:endParaRPr dirty="0">
              <a:solidFill>
                <a:srgbClr val="FF0000"/>
              </a:solidFill>
            </a:endParaRPr>
          </a:p>
        </p:txBody>
      </p:sp>
      <p:sp>
        <p:nvSpPr>
          <p:cNvPr id="321" name="Google Shape;321;p50"/>
          <p:cNvSpPr txBox="1">
            <a:spLocks noGrp="1"/>
          </p:cNvSpPr>
          <p:nvPr>
            <p:ph type="body" idx="1"/>
          </p:nvPr>
        </p:nvSpPr>
        <p:spPr>
          <a:xfrm>
            <a:off x="667411" y="1680567"/>
            <a:ext cx="11360800" cy="4884400"/>
          </a:xfrm>
          <a:prstGeom prst="rect">
            <a:avLst/>
          </a:prstGeom>
        </p:spPr>
        <p:txBody>
          <a:bodyPr spcFirstLastPara="1" vert="horz" wrap="square" lIns="121900" tIns="121900" rIns="121900" bIns="121900" rtlCol="0" anchor="t" anchorCtr="0">
            <a:normAutofit/>
          </a:bodyPr>
          <a:lstStyle/>
          <a:p>
            <a:pPr marL="0" indent="0">
              <a:spcBef>
                <a:spcPts val="1600"/>
              </a:spcBef>
              <a:buNone/>
            </a:pPr>
            <a:r>
              <a:rPr lang="en" dirty="0"/>
              <a:t>Series of 3 small to medium sized </a:t>
            </a:r>
            <a:r>
              <a:rPr lang="en" b="1" dirty="0"/>
              <a:t>individual assignments</a:t>
            </a:r>
            <a:endParaRPr b="1" dirty="0"/>
          </a:p>
          <a:p>
            <a:pPr indent="-449145">
              <a:spcBef>
                <a:spcPts val="1600"/>
              </a:spcBef>
              <a:buSzPct val="100000"/>
            </a:pPr>
            <a:r>
              <a:rPr lang="en" dirty="0"/>
              <a:t>Engage with practical challenges</a:t>
            </a:r>
            <a:endParaRPr dirty="0"/>
          </a:p>
          <a:p>
            <a:pPr indent="-449145">
              <a:buSzPct val="100000"/>
            </a:pPr>
            <a:r>
              <a:rPr lang="en" dirty="0"/>
              <a:t>Reason about tradeoffs and justify your decisions</a:t>
            </a:r>
            <a:endParaRPr dirty="0"/>
          </a:p>
          <a:p>
            <a:pPr indent="-449145">
              <a:buSzPct val="100000"/>
            </a:pPr>
            <a:r>
              <a:rPr lang="en" dirty="0"/>
              <a:t>Integrate models and explanations into end-user products</a:t>
            </a:r>
            <a:endParaRPr dirty="0"/>
          </a:p>
          <a:p>
            <a:pPr indent="-449145">
              <a:buSzPct val="100000"/>
            </a:pPr>
            <a:r>
              <a:rPr lang="en" dirty="0"/>
              <a:t>Written reports, a little modeling, some coding</a:t>
            </a:r>
            <a:endParaRPr dirty="0"/>
          </a:p>
        </p:txBody>
      </p:sp>
      <p:sp>
        <p:nvSpPr>
          <p:cNvPr id="322" name="Google Shape;322;p50"/>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
              <a:pPr/>
              <a:t>14</a:t>
            </a:fld>
            <a:endParaRPr/>
          </a:p>
        </p:txBody>
      </p:sp>
    </p:spTree>
    <p:extLst>
      <p:ext uri="{BB962C8B-B14F-4D97-AF65-F5344CB8AC3E}">
        <p14:creationId xmlns:p14="http://schemas.microsoft.com/office/powerpoint/2010/main" val="2954175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53"/>
          <p:cNvSpPr txBox="1">
            <a:spLocks noGrp="1"/>
          </p:cNvSpPr>
          <p:nvPr>
            <p:ph type="title"/>
          </p:nvPr>
        </p:nvSpPr>
        <p:spPr>
          <a:prstGeom prst="rect">
            <a:avLst/>
          </a:prstGeom>
        </p:spPr>
        <p:txBody>
          <a:bodyPr spcFirstLastPara="1" vert="horz" wrap="square" lIns="121900" tIns="121900" rIns="121900" bIns="121900" rtlCol="0" anchor="t" anchorCtr="0">
            <a:normAutofit fontScale="90000"/>
          </a:bodyPr>
          <a:lstStyle/>
          <a:p>
            <a:r>
              <a:rPr lang="en" dirty="0">
                <a:solidFill>
                  <a:srgbClr val="FF0000"/>
                </a:solidFill>
              </a:rPr>
              <a:t>Labs</a:t>
            </a:r>
            <a:endParaRPr dirty="0">
              <a:solidFill>
                <a:srgbClr val="FF0000"/>
              </a:solidFill>
            </a:endParaRPr>
          </a:p>
        </p:txBody>
      </p:sp>
      <p:sp>
        <p:nvSpPr>
          <p:cNvPr id="343" name="Google Shape;343;p53"/>
          <p:cNvSpPr txBox="1">
            <a:spLocks noGrp="1"/>
          </p:cNvSpPr>
          <p:nvPr>
            <p:ph type="body" idx="1"/>
          </p:nvPr>
        </p:nvSpPr>
        <p:spPr>
          <a:xfrm>
            <a:off x="415600" y="1900700"/>
            <a:ext cx="11360800" cy="4720400"/>
          </a:xfrm>
          <a:prstGeom prst="rect">
            <a:avLst/>
          </a:prstGeom>
        </p:spPr>
        <p:txBody>
          <a:bodyPr spcFirstLastPara="1" vert="horz" wrap="square" lIns="121900" tIns="121900" rIns="121900" bIns="121900" rtlCol="0" anchor="t" anchorCtr="0">
            <a:normAutofit/>
          </a:bodyPr>
          <a:lstStyle/>
          <a:p>
            <a:pPr marL="457200" indent="-457200">
              <a:spcBef>
                <a:spcPts val="1600"/>
              </a:spcBef>
              <a:buClr>
                <a:schemeClr val="dk1"/>
              </a:buClr>
            </a:pPr>
            <a:r>
              <a:rPr lang="en" dirty="0"/>
              <a:t>Introducing various tools, </a:t>
            </a:r>
            <a:r>
              <a:rPr lang="en-CA" dirty="0"/>
              <a:t>or a hands-on experience on what we have learned that week.</a:t>
            </a:r>
            <a:endParaRPr dirty="0"/>
          </a:p>
          <a:p>
            <a:pPr marL="457200" indent="-457200">
              <a:spcBef>
                <a:spcPts val="1600"/>
              </a:spcBef>
              <a:buClr>
                <a:schemeClr val="dk1"/>
              </a:buClr>
            </a:pPr>
            <a:r>
              <a:rPr lang="en" dirty="0"/>
              <a:t>About 1h of work, low stakes, you may have to show your work to me.</a:t>
            </a:r>
          </a:p>
          <a:p>
            <a:pPr marL="0" indent="0">
              <a:spcBef>
                <a:spcPts val="1600"/>
              </a:spcBef>
              <a:buClr>
                <a:schemeClr val="dk1"/>
              </a:buClr>
              <a:buNone/>
            </a:pPr>
            <a:endParaRPr dirty="0"/>
          </a:p>
          <a:p>
            <a:pPr marL="0" indent="0">
              <a:spcBef>
                <a:spcPts val="1600"/>
              </a:spcBef>
              <a:spcAft>
                <a:spcPts val="1600"/>
              </a:spcAft>
              <a:buNone/>
            </a:pPr>
            <a:endParaRPr dirty="0"/>
          </a:p>
        </p:txBody>
      </p:sp>
      <p:sp>
        <p:nvSpPr>
          <p:cNvPr id="342" name="Google Shape;342;p53"/>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
              <a:pPr/>
              <a:t>15</a:t>
            </a:fld>
            <a:endParaRPr/>
          </a:p>
        </p:txBody>
      </p:sp>
    </p:spTree>
    <p:extLst>
      <p:ext uri="{BB962C8B-B14F-4D97-AF65-F5344CB8AC3E}">
        <p14:creationId xmlns:p14="http://schemas.microsoft.com/office/powerpoint/2010/main" val="7500889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F07DB-78FC-3AF9-7B62-2D95112E04A4}"/>
              </a:ext>
            </a:extLst>
          </p:cNvPr>
          <p:cNvSpPr>
            <a:spLocks noGrp="1"/>
          </p:cNvSpPr>
          <p:nvPr>
            <p:ph type="title"/>
          </p:nvPr>
        </p:nvSpPr>
        <p:spPr/>
        <p:txBody>
          <a:bodyPr>
            <a:normAutofit fontScale="90000"/>
          </a:bodyPr>
          <a:lstStyle/>
          <a:p>
            <a:r>
              <a:rPr lang="en" dirty="0">
                <a:solidFill>
                  <a:srgbClr val="FF0000"/>
                </a:solidFill>
              </a:rPr>
              <a:t>Quiz</a:t>
            </a:r>
            <a:endParaRPr lang="en-CA" dirty="0"/>
          </a:p>
        </p:txBody>
      </p:sp>
      <p:sp>
        <p:nvSpPr>
          <p:cNvPr id="3" name="Text Placeholder 2">
            <a:extLst>
              <a:ext uri="{FF2B5EF4-FFF2-40B4-BE49-F238E27FC236}">
                <a16:creationId xmlns:a16="http://schemas.microsoft.com/office/drawing/2014/main" id="{EDFA993E-2101-ADA2-53C3-D9C8E6015C7D}"/>
              </a:ext>
            </a:extLst>
          </p:cNvPr>
          <p:cNvSpPr>
            <a:spLocks noGrp="1"/>
          </p:cNvSpPr>
          <p:nvPr>
            <p:ph type="body" idx="1"/>
          </p:nvPr>
        </p:nvSpPr>
        <p:spPr/>
        <p:txBody>
          <a:bodyPr/>
          <a:lstStyle/>
          <a:p>
            <a:endParaRPr lang="en-CA" dirty="0"/>
          </a:p>
          <a:p>
            <a:r>
              <a:rPr lang="en-CA" dirty="0"/>
              <a:t>One quiz per session, consisting of </a:t>
            </a:r>
            <a:r>
              <a:rPr lang="en-CA" b="1" dirty="0"/>
              <a:t>6 questions</a:t>
            </a:r>
            <a:r>
              <a:rPr lang="en-CA" dirty="0"/>
              <a:t>.</a:t>
            </a:r>
          </a:p>
          <a:p>
            <a:r>
              <a:rPr lang="en-CA" dirty="0"/>
              <a:t> </a:t>
            </a:r>
            <a:r>
              <a:rPr lang="en-CA" b="1" dirty="0"/>
              <a:t>3 questions</a:t>
            </a:r>
            <a:r>
              <a:rPr lang="en-CA" dirty="0"/>
              <a:t> will be based on the </a:t>
            </a:r>
            <a:r>
              <a:rPr lang="en-CA" b="1" dirty="0"/>
              <a:t>previous lecture</a:t>
            </a:r>
            <a:r>
              <a:rPr lang="en-CA" dirty="0"/>
              <a:t>, which you are expected to review.</a:t>
            </a:r>
          </a:p>
          <a:p>
            <a:r>
              <a:rPr lang="en-CA" dirty="0"/>
              <a:t> </a:t>
            </a:r>
            <a:r>
              <a:rPr lang="en-CA" b="1" dirty="0"/>
              <a:t>3 questions</a:t>
            </a:r>
            <a:r>
              <a:rPr lang="en-CA" dirty="0"/>
              <a:t> will be based on the </a:t>
            </a:r>
            <a:r>
              <a:rPr lang="en-CA" b="1" dirty="0"/>
              <a:t>current lecture material</a:t>
            </a:r>
            <a:r>
              <a:rPr lang="en-CA" dirty="0"/>
              <a:t>, before we cover it in class.</a:t>
            </a:r>
          </a:p>
          <a:p>
            <a:r>
              <a:rPr lang="en-CA" dirty="0"/>
              <a:t>Reading material will be provided at the </a:t>
            </a:r>
            <a:r>
              <a:rPr lang="en-CA" b="1" dirty="0"/>
              <a:t>beginning of each week</a:t>
            </a:r>
            <a:r>
              <a:rPr lang="en-CA" dirty="0"/>
              <a:t> so you can review it in advance and prepare for the quiz.</a:t>
            </a:r>
          </a:p>
        </p:txBody>
      </p:sp>
    </p:spTree>
    <p:extLst>
      <p:ext uri="{BB962C8B-B14F-4D97-AF65-F5344CB8AC3E}">
        <p14:creationId xmlns:p14="http://schemas.microsoft.com/office/powerpoint/2010/main" val="2163472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59"/>
          <p:cNvSpPr txBox="1">
            <a:spLocks noGrp="1"/>
          </p:cNvSpPr>
          <p:nvPr>
            <p:ph type="title"/>
          </p:nvPr>
        </p:nvSpPr>
        <p:spPr>
          <a:xfrm>
            <a:off x="415600" y="610300"/>
            <a:ext cx="11360800" cy="763600"/>
          </a:xfrm>
          <a:prstGeom prst="rect">
            <a:avLst/>
          </a:prstGeom>
        </p:spPr>
        <p:txBody>
          <a:bodyPr spcFirstLastPara="1" vert="horz" wrap="square" lIns="121900" tIns="121900" rIns="121900" bIns="121900" rtlCol="0" anchor="t" anchorCtr="0">
            <a:normAutofit fontScale="90000"/>
          </a:bodyPr>
          <a:lstStyle/>
          <a:p>
            <a:r>
              <a:rPr lang="en" dirty="0">
                <a:solidFill>
                  <a:srgbClr val="FF0000"/>
                </a:solidFill>
              </a:rPr>
              <a:t>Group project</a:t>
            </a:r>
            <a:endParaRPr dirty="0">
              <a:solidFill>
                <a:srgbClr val="FF0000"/>
              </a:solidFill>
            </a:endParaRPr>
          </a:p>
        </p:txBody>
      </p:sp>
      <p:sp>
        <p:nvSpPr>
          <p:cNvPr id="384" name="Google Shape;384;p59"/>
          <p:cNvSpPr txBox="1">
            <a:spLocks noGrp="1"/>
          </p:cNvSpPr>
          <p:nvPr>
            <p:ph type="body" idx="1"/>
          </p:nvPr>
        </p:nvSpPr>
        <p:spPr>
          <a:xfrm>
            <a:off x="517200" y="1951500"/>
            <a:ext cx="11360800" cy="4720400"/>
          </a:xfrm>
          <a:prstGeom prst="rect">
            <a:avLst/>
          </a:prstGeom>
        </p:spPr>
        <p:txBody>
          <a:bodyPr spcFirstLastPara="1" vert="horz" wrap="square" lIns="121900" tIns="121900" rIns="121900" bIns="121900" rtlCol="0" anchor="t" anchorCtr="0">
            <a:normAutofit/>
          </a:bodyPr>
          <a:lstStyle/>
          <a:p>
            <a:r>
              <a:rPr lang="en" dirty="0"/>
              <a:t>Student Choose their team with some interventions form me! </a:t>
            </a:r>
          </a:p>
          <a:p>
            <a:r>
              <a:rPr lang="en" dirty="0"/>
              <a:t>Teams stay together for project throughout semester.</a:t>
            </a:r>
            <a:endParaRPr dirty="0"/>
          </a:p>
          <a:p>
            <a:r>
              <a:rPr lang="en" dirty="0"/>
              <a:t>There will be a Peer review for the group project</a:t>
            </a:r>
          </a:p>
        </p:txBody>
      </p:sp>
      <p:sp>
        <p:nvSpPr>
          <p:cNvPr id="385" name="Google Shape;385;p59"/>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
              <a:pPr/>
              <a:t>17</a:t>
            </a:fld>
            <a:endParaRPr/>
          </a:p>
        </p:txBody>
      </p:sp>
    </p:spTree>
    <p:extLst>
      <p:ext uri="{BB962C8B-B14F-4D97-AF65-F5344CB8AC3E}">
        <p14:creationId xmlns:p14="http://schemas.microsoft.com/office/powerpoint/2010/main" val="503064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1"/>
          <p:cNvSpPr txBox="1">
            <a:spLocks noGrp="1"/>
          </p:cNvSpPr>
          <p:nvPr>
            <p:ph type="title"/>
          </p:nvPr>
        </p:nvSpPr>
        <p:spPr>
          <a:xfrm>
            <a:off x="415600" y="601833"/>
            <a:ext cx="11360800" cy="763600"/>
          </a:xfrm>
          <a:prstGeom prst="rect">
            <a:avLst/>
          </a:prstGeom>
        </p:spPr>
        <p:txBody>
          <a:bodyPr spcFirstLastPara="1" vert="horz" wrap="square" lIns="121900" tIns="121900" rIns="121900" bIns="121900" rtlCol="0" anchor="t" anchorCtr="0">
            <a:normAutofit fontScale="90000"/>
          </a:bodyPr>
          <a:lstStyle/>
          <a:p>
            <a:r>
              <a:rPr lang="en" dirty="0">
                <a:solidFill>
                  <a:srgbClr val="FF0000"/>
                </a:solidFill>
              </a:rPr>
              <a:t>Prerequisites</a:t>
            </a:r>
            <a:endParaRPr dirty="0">
              <a:solidFill>
                <a:srgbClr val="FF0000"/>
              </a:solidFill>
            </a:endParaRPr>
          </a:p>
        </p:txBody>
      </p:sp>
      <p:sp>
        <p:nvSpPr>
          <p:cNvPr id="255" name="Google Shape;255;p41"/>
          <p:cNvSpPr txBox="1">
            <a:spLocks noGrp="1"/>
          </p:cNvSpPr>
          <p:nvPr>
            <p:ph type="body" idx="1"/>
          </p:nvPr>
        </p:nvSpPr>
        <p:spPr>
          <a:xfrm>
            <a:off x="347867" y="1832966"/>
            <a:ext cx="5333200" cy="4555200"/>
          </a:xfrm>
          <a:prstGeom prst="rect">
            <a:avLst/>
          </a:prstGeom>
        </p:spPr>
        <p:txBody>
          <a:bodyPr spcFirstLastPara="1" vert="horz" wrap="square" lIns="121900" tIns="121900" rIns="121900" bIns="121900" rtlCol="0" anchor="t" anchorCtr="0">
            <a:normAutofit/>
          </a:bodyPr>
          <a:lstStyle/>
          <a:p>
            <a:pPr marL="0" indent="0">
              <a:buNone/>
            </a:pPr>
            <a:r>
              <a:rPr lang="en" dirty="0"/>
              <a:t>Some machine learning experience required</a:t>
            </a:r>
            <a:endParaRPr dirty="0"/>
          </a:p>
          <a:p>
            <a:pPr>
              <a:spcBef>
                <a:spcPts val="1600"/>
              </a:spcBef>
            </a:pPr>
            <a:r>
              <a:rPr lang="en" dirty="0"/>
              <a:t>Basic understanding of data science process, incl. data cleaning, feature engineering, using ML libraries</a:t>
            </a:r>
            <a:endParaRPr dirty="0"/>
          </a:p>
          <a:p>
            <a:r>
              <a:rPr lang="en" dirty="0"/>
              <a:t>High level understanding of machine-learning approaches</a:t>
            </a:r>
            <a:endParaRPr dirty="0"/>
          </a:p>
          <a:p>
            <a:pPr lvl="1"/>
            <a:r>
              <a:rPr lang="en" dirty="0"/>
              <a:t>Supervised learning</a:t>
            </a:r>
            <a:endParaRPr dirty="0"/>
          </a:p>
          <a:p>
            <a:pPr lvl="1"/>
            <a:r>
              <a:rPr lang="en" dirty="0"/>
              <a:t>Regression, decision trees, neural networks</a:t>
            </a:r>
            <a:endParaRPr dirty="0"/>
          </a:p>
          <a:p>
            <a:pPr lvl="1"/>
            <a:r>
              <a:rPr lang="en" dirty="0"/>
              <a:t>Accuracy, recall, precision, ROC curve</a:t>
            </a:r>
            <a:endParaRPr dirty="0"/>
          </a:p>
          <a:p>
            <a:r>
              <a:rPr lang="en" dirty="0"/>
              <a:t>Ideally, some experience with notebooks, sklearn, or other frameworks</a:t>
            </a:r>
            <a:endParaRPr dirty="0"/>
          </a:p>
        </p:txBody>
      </p:sp>
      <p:sp>
        <p:nvSpPr>
          <p:cNvPr id="257" name="Google Shape;257;p41"/>
          <p:cNvSpPr txBox="1">
            <a:spLocks noGrp="1"/>
          </p:cNvSpPr>
          <p:nvPr>
            <p:ph type="body" idx="2"/>
          </p:nvPr>
        </p:nvSpPr>
        <p:spPr>
          <a:xfrm>
            <a:off x="6443200" y="1832966"/>
            <a:ext cx="5333200" cy="4555200"/>
          </a:xfrm>
          <a:prstGeom prst="rect">
            <a:avLst/>
          </a:prstGeom>
        </p:spPr>
        <p:txBody>
          <a:bodyPr spcFirstLastPara="1" vert="horz" wrap="square" lIns="121900" tIns="121900" rIns="121900" bIns="121900" rtlCol="0" anchor="t" anchorCtr="0">
            <a:normAutofit/>
          </a:bodyPr>
          <a:lstStyle/>
          <a:p>
            <a:pPr marL="0" indent="0">
              <a:buNone/>
            </a:pPr>
            <a:r>
              <a:rPr lang="en" dirty="0"/>
              <a:t>Basic programming and command-line skills will be needed</a:t>
            </a:r>
            <a:endParaRPr dirty="0"/>
          </a:p>
          <a:p>
            <a:pPr marL="0" indent="0">
              <a:spcBef>
                <a:spcPts val="1600"/>
              </a:spcBef>
              <a:buNone/>
            </a:pPr>
            <a:r>
              <a:rPr lang="en" dirty="0"/>
              <a:t>No further software-engineering knowledge required</a:t>
            </a:r>
            <a:endParaRPr dirty="0"/>
          </a:p>
          <a:p>
            <a:pPr>
              <a:spcBef>
                <a:spcPts val="1600"/>
              </a:spcBef>
            </a:pPr>
            <a:r>
              <a:rPr lang="en" dirty="0"/>
              <a:t>Teamwork experience in product team is useful but not required</a:t>
            </a:r>
            <a:endParaRPr dirty="0"/>
          </a:p>
          <a:p>
            <a:r>
              <a:rPr lang="en" dirty="0"/>
              <a:t>No required exposure to requirements, software testing, software design, continuous integration, containers, process management, etc.</a:t>
            </a:r>
            <a:endParaRPr dirty="0"/>
          </a:p>
          <a:p>
            <a:pPr lvl="1"/>
            <a:r>
              <a:rPr lang="en" dirty="0"/>
              <a:t>If you are familiar with these, there will be some redundancy – sorry!</a:t>
            </a:r>
            <a:endParaRPr dirty="0"/>
          </a:p>
        </p:txBody>
      </p:sp>
      <p:sp>
        <p:nvSpPr>
          <p:cNvPr id="256" name="Google Shape;256;p41"/>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
              <a:pPr/>
              <a:t>18</a:t>
            </a:fld>
            <a:endParaRPr/>
          </a:p>
        </p:txBody>
      </p:sp>
    </p:spTree>
    <p:extLst>
      <p:ext uri="{BB962C8B-B14F-4D97-AF65-F5344CB8AC3E}">
        <p14:creationId xmlns:p14="http://schemas.microsoft.com/office/powerpoint/2010/main" val="35922455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60"/>
          <p:cNvSpPr txBox="1">
            <a:spLocks noGrp="1"/>
          </p:cNvSpPr>
          <p:nvPr>
            <p:ph type="title"/>
          </p:nvPr>
        </p:nvSpPr>
        <p:spPr>
          <a:prstGeom prst="rect">
            <a:avLst/>
          </a:prstGeom>
        </p:spPr>
        <p:txBody>
          <a:bodyPr spcFirstLastPara="1" vert="horz" wrap="square" lIns="121900" tIns="121900" rIns="121900" bIns="121900" rtlCol="0" anchor="t" anchorCtr="0">
            <a:normAutofit fontScale="90000"/>
          </a:bodyPr>
          <a:lstStyle/>
          <a:p>
            <a:r>
              <a:rPr lang="en" dirty="0">
                <a:solidFill>
                  <a:srgbClr val="FF0000"/>
                </a:solidFill>
              </a:rPr>
              <a:t>Academic honesty</a:t>
            </a:r>
            <a:endParaRPr dirty="0">
              <a:solidFill>
                <a:srgbClr val="FF0000"/>
              </a:solidFill>
            </a:endParaRPr>
          </a:p>
        </p:txBody>
      </p:sp>
      <p:sp>
        <p:nvSpPr>
          <p:cNvPr id="391" name="Google Shape;391;p60"/>
          <p:cNvSpPr txBox="1">
            <a:spLocks noGrp="1"/>
          </p:cNvSpPr>
          <p:nvPr>
            <p:ph type="body" idx="1"/>
          </p:nvPr>
        </p:nvSpPr>
        <p:spPr>
          <a:xfrm>
            <a:off x="415600" y="2022023"/>
            <a:ext cx="11360800" cy="4720400"/>
          </a:xfrm>
          <a:prstGeom prst="rect">
            <a:avLst/>
          </a:prstGeom>
        </p:spPr>
        <p:txBody>
          <a:bodyPr spcFirstLastPara="1" vert="horz" wrap="square" lIns="121900" tIns="121900" rIns="121900" bIns="121900" rtlCol="0" anchor="t" anchorCtr="0">
            <a:normAutofit/>
          </a:bodyPr>
          <a:lstStyle/>
          <a:p>
            <a:r>
              <a:rPr lang="en" dirty="0"/>
              <a:t>In a nutshell: do not copy from other students, do not lie, do not share or publicly release your solutions</a:t>
            </a:r>
            <a:endParaRPr dirty="0"/>
          </a:p>
          <a:p>
            <a:r>
              <a:rPr lang="en" dirty="0"/>
              <a:t>In group work, be honest about contributions of team members, do not cover for others</a:t>
            </a:r>
            <a:endParaRPr dirty="0"/>
          </a:p>
          <a:p>
            <a:r>
              <a:rPr lang="en" dirty="0"/>
              <a:t>Collaboration okay on labs, but not quizzes, individual assignments or exams</a:t>
            </a:r>
            <a:endParaRPr dirty="0"/>
          </a:p>
          <a:p>
            <a:r>
              <a:rPr lang="en" dirty="0"/>
              <a:t>If you feel overwhelmed or stressed, please come and talk to use (see course outline for other support opportunities)</a:t>
            </a:r>
            <a:endParaRPr dirty="0"/>
          </a:p>
        </p:txBody>
      </p:sp>
      <p:sp>
        <p:nvSpPr>
          <p:cNvPr id="392" name="Google Shape;392;p60"/>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
              <a:pPr/>
              <a:t>19</a:t>
            </a:fld>
            <a:endParaRPr/>
          </a:p>
        </p:txBody>
      </p:sp>
    </p:spTree>
    <p:extLst>
      <p:ext uri="{BB962C8B-B14F-4D97-AF65-F5344CB8AC3E}">
        <p14:creationId xmlns:p14="http://schemas.microsoft.com/office/powerpoint/2010/main" val="6090498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7"/>
          <p:cNvSpPr txBox="1">
            <a:spLocks noGrp="1"/>
          </p:cNvSpPr>
          <p:nvPr>
            <p:ph type="title"/>
          </p:nvPr>
        </p:nvSpPr>
        <p:spPr>
          <a:prstGeom prst="rect">
            <a:avLst/>
          </a:prstGeom>
        </p:spPr>
        <p:txBody>
          <a:bodyPr spcFirstLastPara="1" vert="horz" wrap="square" lIns="121900" tIns="121900" rIns="121900" bIns="121900" rtlCol="0" anchor="ctr" anchorCtr="0">
            <a:normAutofit/>
          </a:bodyPr>
          <a:lstStyle/>
          <a:p>
            <a:r>
              <a:rPr lang="en" b="1" dirty="0">
                <a:solidFill>
                  <a:srgbClr val="FF0000"/>
                </a:solidFill>
              </a:rPr>
              <a:t>Case Study: Music Generation</a:t>
            </a:r>
            <a:endParaRPr b="1" dirty="0">
              <a:solidFill>
                <a:srgbClr val="FF0000"/>
              </a:solidFill>
            </a:endParaRPr>
          </a:p>
        </p:txBody>
      </p:sp>
      <p:sp>
        <p:nvSpPr>
          <p:cNvPr id="84" name="Google Shape;84;p17"/>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
              <a:pPr/>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8"/>
          <p:cNvSpPr txBox="1">
            <a:spLocks noGrp="1"/>
          </p:cNvSpPr>
          <p:nvPr>
            <p:ph type="title"/>
          </p:nvPr>
        </p:nvSpPr>
        <p:spPr>
          <a:prstGeom prst="rect">
            <a:avLst/>
          </a:prstGeom>
        </p:spPr>
        <p:txBody>
          <a:bodyPr spcFirstLastPara="1" vert="horz" wrap="square" lIns="121900" tIns="121900" rIns="121900" bIns="121900" rtlCol="0" anchor="t" anchorCtr="0">
            <a:normAutofit fontScale="90000"/>
          </a:bodyPr>
          <a:lstStyle/>
          <a:p>
            <a:r>
              <a:rPr lang="en" dirty="0">
                <a:solidFill>
                  <a:srgbClr val="FF0000"/>
                </a:solidFill>
              </a:rPr>
              <a:t>Context: Music Generation Research</a:t>
            </a:r>
            <a:endParaRPr dirty="0">
              <a:solidFill>
                <a:srgbClr val="FF0000"/>
              </a:solidFill>
            </a:endParaRPr>
          </a:p>
        </p:txBody>
      </p:sp>
      <p:sp>
        <p:nvSpPr>
          <p:cNvPr id="90" name="Google Shape;90;p18"/>
          <p:cNvSpPr txBox="1">
            <a:spLocks noGrp="1"/>
          </p:cNvSpPr>
          <p:nvPr>
            <p:ph type="body" idx="1"/>
          </p:nvPr>
        </p:nvSpPr>
        <p:spPr>
          <a:xfrm>
            <a:off x="525667" y="1747433"/>
            <a:ext cx="11360800" cy="4720400"/>
          </a:xfrm>
          <a:prstGeom prst="rect">
            <a:avLst/>
          </a:prstGeom>
        </p:spPr>
        <p:txBody>
          <a:bodyPr spcFirstLastPara="1" vert="horz" wrap="square" lIns="121900" tIns="121900" rIns="121900" bIns="121900" rtlCol="0" anchor="t" anchorCtr="0">
            <a:normAutofit/>
          </a:bodyPr>
          <a:lstStyle/>
          <a:p>
            <a:pPr marL="0" indent="0">
              <a:buNone/>
            </a:pPr>
            <a:r>
              <a:rPr lang="en" sz="2000" i="1" dirty="0"/>
              <a:t>Lam, Max WY, et al. "Efficient neural music generation." Advances in Neural Information Processing Systems 36 (2024).</a:t>
            </a:r>
            <a:endParaRPr sz="2000" i="1" dirty="0"/>
          </a:p>
          <a:p>
            <a:pPr marL="0" indent="0">
              <a:spcBef>
                <a:spcPts val="1600"/>
              </a:spcBef>
              <a:spcAft>
                <a:spcPts val="1600"/>
              </a:spcAft>
              <a:buNone/>
            </a:pPr>
            <a:endParaRPr sz="2400" dirty="0"/>
          </a:p>
        </p:txBody>
      </p:sp>
      <p:sp>
        <p:nvSpPr>
          <p:cNvPr id="92" name="Google Shape;92;p18"/>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
              <a:pPr/>
              <a:t>21</a:t>
            </a:fld>
            <a:endParaRPr/>
          </a:p>
        </p:txBody>
      </p:sp>
      <p:sp>
        <p:nvSpPr>
          <p:cNvPr id="91" name="Google Shape;91;p18"/>
          <p:cNvSpPr txBox="1"/>
          <p:nvPr/>
        </p:nvSpPr>
        <p:spPr>
          <a:xfrm>
            <a:off x="404600" y="2420267"/>
            <a:ext cx="11114000" cy="4215200"/>
          </a:xfrm>
          <a:prstGeom prst="rect">
            <a:avLst/>
          </a:prstGeom>
          <a:solidFill>
            <a:srgbClr val="434343"/>
          </a:solidFill>
          <a:ln>
            <a:noFill/>
          </a:ln>
        </p:spPr>
        <p:txBody>
          <a:bodyPr spcFirstLastPara="1" wrap="square" lIns="121900" tIns="121900" rIns="121900" bIns="121900" anchor="t" anchorCtr="0">
            <a:noAutofit/>
          </a:bodyPr>
          <a:lstStyle/>
          <a:p>
            <a:pPr>
              <a:lnSpc>
                <a:spcPct val="150000"/>
              </a:lnSpc>
              <a:buClr>
                <a:schemeClr val="dk1"/>
              </a:buClr>
              <a:buSzPts val="1100"/>
            </a:pPr>
            <a:r>
              <a:rPr lang="en" sz="1467" dirty="0">
                <a:solidFill>
                  <a:schemeClr val="lt1"/>
                </a:solidFill>
              </a:rPr>
              <a:t>Recent progress in music generation has been remarkably advanced by the state-of-the-art MusicLM, which comprises a hierarchy of three LMs, respectively, for semantic, coarse acoustic, and fine acoustic modelings. Yet, sampling with the MusicLM requires processing through these LMs one by one to obtain the fine-grained acoustic tokens, making it computationally expensive and prohibitive for a real-time generation. Efficient music generation with a quality on par with MusicLM remains a significant challenge.In this paper, we present MeLoDy (M for music; L for LM; D for diffusion), an LM-guided diffusion model that generates music audios of state-of-the-art quality meanwhile reducing 95.7% to 99.6% forward passes in MusicLM, respectively, for sampling 10s to 30s music. MeLoDy inherits the highest-level LM from MusicLM for semantic modeling, and applies a novel dual-path diffusion (DPD) model and an audio VAE-GAN to efficiently decode the conditioning semantic tokens into waveform. DPD is proposed to simultaneously model the coarse and fine acoustics by incorporating the semantic information into segments of latents effectively via cross-attention at each denoising step. Our experimental results suggest the superiority of MeLoDy, not only in its practical advantages on sampling speed and infinitely continuable generation, but also in its state-of-the-art musicality, audio quality, and text correlation. Our samples are available at https://Efficient-MeLoDy.github.io/.</a:t>
            </a:r>
            <a:endParaRPr sz="1467" dirty="0">
              <a:solidFill>
                <a:schemeClr val="l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9"/>
          <p:cNvSpPr txBox="1">
            <a:spLocks noGrp="1"/>
          </p:cNvSpPr>
          <p:nvPr>
            <p:ph type="title"/>
          </p:nvPr>
        </p:nvSpPr>
        <p:spPr>
          <a:prstGeom prst="rect">
            <a:avLst/>
          </a:prstGeom>
        </p:spPr>
        <p:txBody>
          <a:bodyPr spcFirstLastPara="1" vert="horz" wrap="square" lIns="121900" tIns="121900" rIns="121900" bIns="121900" rtlCol="0" anchor="t" anchorCtr="0">
            <a:normAutofit fontScale="90000"/>
          </a:bodyPr>
          <a:lstStyle/>
          <a:p>
            <a:r>
              <a:rPr lang="en" dirty="0">
                <a:solidFill>
                  <a:srgbClr val="FF0000"/>
                </a:solidFill>
              </a:rPr>
              <a:t>The Startup Idea</a:t>
            </a:r>
            <a:endParaRPr dirty="0">
              <a:solidFill>
                <a:srgbClr val="FF0000"/>
              </a:solidFill>
            </a:endParaRPr>
          </a:p>
        </p:txBody>
      </p:sp>
      <p:sp>
        <p:nvSpPr>
          <p:cNvPr id="98" name="Google Shape;98;p19"/>
          <p:cNvSpPr txBox="1">
            <a:spLocks noGrp="1"/>
          </p:cNvSpPr>
          <p:nvPr>
            <p:ph type="body" idx="1"/>
          </p:nvPr>
        </p:nvSpPr>
        <p:spPr>
          <a:xfrm>
            <a:off x="415600" y="2022023"/>
            <a:ext cx="11360800" cy="4720400"/>
          </a:xfrm>
          <a:prstGeom prst="rect">
            <a:avLst/>
          </a:prstGeom>
        </p:spPr>
        <p:txBody>
          <a:bodyPr spcFirstLastPara="1" vert="horz" wrap="square" lIns="121900" tIns="121900" rIns="121900" bIns="121900" rtlCol="0" anchor="t" anchorCtr="0">
            <a:normAutofit/>
          </a:bodyPr>
          <a:lstStyle/>
          <a:p>
            <a:pPr marL="0" indent="0">
              <a:buNone/>
            </a:pPr>
            <a:r>
              <a:rPr lang="en" dirty="0"/>
              <a:t>You just completed a research thesis as part of your Master’s/PhD degree about making deep learning for generative AI more energy efficient</a:t>
            </a:r>
            <a:endParaRPr dirty="0"/>
          </a:p>
          <a:p>
            <a:pPr marL="0" indent="0">
              <a:spcBef>
                <a:spcPts val="1600"/>
              </a:spcBef>
              <a:buNone/>
            </a:pPr>
            <a:r>
              <a:rPr lang="en" dirty="0"/>
              <a:t>Your recent project was using music generation as a case study. You showed 30% energy improvements with similar quality of generated music on benchmark prompts.</a:t>
            </a:r>
            <a:endParaRPr dirty="0"/>
          </a:p>
          <a:p>
            <a:pPr marL="0" indent="0">
              <a:spcBef>
                <a:spcPts val="1600"/>
              </a:spcBef>
              <a:buNone/>
            </a:pPr>
            <a:r>
              <a:rPr lang="en" dirty="0"/>
              <a:t>Two friends are excited about the application of music generation.</a:t>
            </a:r>
            <a:endParaRPr dirty="0"/>
          </a:p>
          <a:p>
            <a:pPr marL="0" indent="0">
              <a:spcBef>
                <a:spcPts val="1600"/>
              </a:spcBef>
              <a:spcAft>
                <a:spcPts val="1600"/>
              </a:spcAft>
              <a:buNone/>
            </a:pPr>
            <a:r>
              <a:rPr lang="en" dirty="0"/>
              <a:t>Idea: Let’s commercialize the idea and sell it to end users or music producers.</a:t>
            </a:r>
            <a:endParaRPr dirty="0"/>
          </a:p>
        </p:txBody>
      </p:sp>
      <p:sp>
        <p:nvSpPr>
          <p:cNvPr id="99" name="Google Shape;99;p19"/>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
              <a:pPr/>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0"/>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
              <a:pPr/>
              <a:t>23</a:t>
            </a:fld>
            <a:endParaRPr/>
          </a:p>
        </p:txBody>
      </p:sp>
      <p:pic>
        <p:nvPicPr>
          <p:cNvPr id="105" name="Google Shape;105;p20"/>
          <p:cNvPicPr preferRelativeResize="0"/>
          <p:nvPr/>
        </p:nvPicPr>
        <p:blipFill>
          <a:blip r:embed="rId3">
            <a:alphaModFix/>
          </a:blip>
          <a:stretch>
            <a:fillRect/>
          </a:stretch>
        </p:blipFill>
        <p:spPr>
          <a:xfrm>
            <a:off x="973667" y="296333"/>
            <a:ext cx="10322944" cy="592130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1"/>
          <p:cNvSpPr txBox="1">
            <a:spLocks noGrp="1"/>
          </p:cNvSpPr>
          <p:nvPr>
            <p:ph type="title"/>
          </p:nvPr>
        </p:nvSpPr>
        <p:spPr>
          <a:prstGeom prst="rect">
            <a:avLst/>
          </a:prstGeom>
        </p:spPr>
        <p:txBody>
          <a:bodyPr spcFirstLastPara="1" vert="horz" wrap="square" lIns="121900" tIns="121900" rIns="121900" bIns="121900" rtlCol="0" anchor="t" anchorCtr="0">
            <a:normAutofit fontScale="90000"/>
          </a:bodyPr>
          <a:lstStyle/>
          <a:p>
            <a:r>
              <a:rPr lang="en" dirty="0">
                <a:solidFill>
                  <a:srgbClr val="FF0000"/>
                </a:solidFill>
              </a:rPr>
              <a:t>Breakout: Likely challenges in building commercial product?</a:t>
            </a:r>
            <a:endParaRPr dirty="0">
              <a:solidFill>
                <a:srgbClr val="FF0000"/>
              </a:solidFill>
            </a:endParaRPr>
          </a:p>
        </p:txBody>
      </p:sp>
      <p:sp>
        <p:nvSpPr>
          <p:cNvPr id="111" name="Google Shape;111;p21"/>
          <p:cNvSpPr txBox="1">
            <a:spLocks noGrp="1"/>
          </p:cNvSpPr>
          <p:nvPr>
            <p:ph type="body" idx="1"/>
          </p:nvPr>
        </p:nvSpPr>
        <p:spPr>
          <a:prstGeom prst="rect">
            <a:avLst/>
          </a:prstGeom>
        </p:spPr>
        <p:txBody>
          <a:bodyPr spcFirstLastPara="1" vert="horz" wrap="square" lIns="121900" tIns="121900" rIns="121900" bIns="121900" rtlCol="0" anchor="t" anchorCtr="0">
            <a:normAutofit/>
          </a:bodyPr>
          <a:lstStyle/>
          <a:p>
            <a:pPr marL="0" indent="0">
              <a:buNone/>
            </a:pPr>
            <a:endParaRPr dirty="0"/>
          </a:p>
          <a:p>
            <a:pPr marL="0" indent="0">
              <a:spcBef>
                <a:spcPts val="1600"/>
              </a:spcBef>
              <a:buNone/>
            </a:pPr>
            <a:r>
              <a:rPr lang="en" dirty="0"/>
              <a:t>As a group, think about challenges that the team will likely face when turning their research into a product:</a:t>
            </a:r>
            <a:endParaRPr dirty="0"/>
          </a:p>
          <a:p>
            <a:pPr indent="-449145">
              <a:spcBef>
                <a:spcPts val="1600"/>
              </a:spcBef>
              <a:buSzPct val="100000"/>
            </a:pPr>
            <a:r>
              <a:rPr lang="en" dirty="0"/>
              <a:t>One machine-learning challenge</a:t>
            </a:r>
            <a:endParaRPr dirty="0"/>
          </a:p>
          <a:p>
            <a:pPr indent="-449145">
              <a:buSzPct val="100000"/>
            </a:pPr>
            <a:r>
              <a:rPr lang="en" dirty="0"/>
              <a:t>One engineering challenge in building the product</a:t>
            </a:r>
            <a:endParaRPr dirty="0"/>
          </a:p>
          <a:p>
            <a:pPr indent="-449145">
              <a:buSzPct val="100000"/>
            </a:pPr>
            <a:r>
              <a:rPr lang="en" dirty="0"/>
              <a:t>One challenge from operating and updating the product</a:t>
            </a:r>
            <a:endParaRPr dirty="0"/>
          </a:p>
          <a:p>
            <a:pPr indent="-449145">
              <a:buSzPct val="100000"/>
            </a:pPr>
            <a:r>
              <a:rPr lang="en" dirty="0"/>
              <a:t>One team or management challenge</a:t>
            </a:r>
            <a:endParaRPr dirty="0"/>
          </a:p>
          <a:p>
            <a:pPr indent="-449145">
              <a:buSzPct val="100000"/>
            </a:pPr>
            <a:r>
              <a:rPr lang="en" dirty="0"/>
              <a:t>One business challenge</a:t>
            </a:r>
            <a:endParaRPr dirty="0"/>
          </a:p>
          <a:p>
            <a:pPr indent="-449145">
              <a:buSzPct val="100000"/>
            </a:pPr>
            <a:r>
              <a:rPr lang="en" dirty="0"/>
              <a:t>One safety or ethics challenge</a:t>
            </a:r>
            <a:endParaRPr dirty="0"/>
          </a:p>
        </p:txBody>
      </p:sp>
      <p:sp>
        <p:nvSpPr>
          <p:cNvPr id="112" name="Google Shape;112;p21"/>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
              <a:pPr/>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2"/>
          <p:cNvSpPr txBox="1">
            <a:spLocks noGrp="1"/>
          </p:cNvSpPr>
          <p:nvPr>
            <p:ph type="title"/>
          </p:nvPr>
        </p:nvSpPr>
        <p:spPr>
          <a:prstGeom prst="rect">
            <a:avLst/>
          </a:prstGeom>
        </p:spPr>
        <p:txBody>
          <a:bodyPr spcFirstLastPara="1" vert="horz" wrap="square" lIns="121900" tIns="121900" rIns="121900" bIns="121900" rtlCol="0" anchor="t" anchorCtr="0">
            <a:normAutofit fontScale="90000"/>
          </a:bodyPr>
          <a:lstStyle/>
          <a:p>
            <a:r>
              <a:rPr lang="en" dirty="0">
                <a:solidFill>
                  <a:srgbClr val="FF0000"/>
                </a:solidFill>
              </a:rPr>
              <a:t>Examples for discussion</a:t>
            </a:r>
            <a:endParaRPr dirty="0">
              <a:solidFill>
                <a:srgbClr val="FF0000"/>
              </a:solidFill>
            </a:endParaRPr>
          </a:p>
        </p:txBody>
      </p:sp>
      <p:sp>
        <p:nvSpPr>
          <p:cNvPr id="118" name="Google Shape;118;p22"/>
          <p:cNvSpPr txBox="1">
            <a:spLocks noGrp="1"/>
          </p:cNvSpPr>
          <p:nvPr>
            <p:ph type="body" idx="1"/>
          </p:nvPr>
        </p:nvSpPr>
        <p:spPr>
          <a:xfrm>
            <a:off x="301611" y="1759623"/>
            <a:ext cx="11360800" cy="4720400"/>
          </a:xfrm>
          <a:prstGeom prst="rect">
            <a:avLst/>
          </a:prstGeom>
        </p:spPr>
        <p:txBody>
          <a:bodyPr spcFirstLastPara="1" vert="horz" wrap="square" lIns="121900" tIns="121900" rIns="121900" bIns="121900" rtlCol="0" anchor="t" anchorCtr="0">
            <a:normAutofit fontScale="92500" lnSpcReduction="20000"/>
          </a:bodyPr>
          <a:lstStyle/>
          <a:p>
            <a:pPr indent="-435176">
              <a:buSzPct val="100000"/>
            </a:pPr>
            <a:r>
              <a:rPr lang="en" dirty="0"/>
              <a:t>What does correctness or accuracy really mean? What accuracy do customers care about?</a:t>
            </a:r>
            <a:endParaRPr dirty="0"/>
          </a:p>
          <a:p>
            <a:pPr indent="-435176">
              <a:buSzPct val="100000"/>
            </a:pPr>
            <a:r>
              <a:rPr lang="en" dirty="0"/>
              <a:t>How can we see how well we are doing in practice? How much feedback are customers going to give us before they leave?</a:t>
            </a:r>
            <a:endParaRPr dirty="0"/>
          </a:p>
          <a:p>
            <a:pPr indent="-435176">
              <a:buSzPct val="100000"/>
            </a:pPr>
            <a:r>
              <a:rPr lang="en" dirty="0"/>
              <a:t>Can we estimate how good our generated music is? How are we doing for different customers or different genres? </a:t>
            </a:r>
            <a:endParaRPr dirty="0"/>
          </a:p>
          <a:p>
            <a:pPr indent="-435176">
              <a:buSzPct val="100000"/>
            </a:pPr>
            <a:r>
              <a:rPr lang="en" dirty="0"/>
              <a:t>How to present results to the customers?</a:t>
            </a:r>
            <a:endParaRPr dirty="0"/>
          </a:p>
          <a:p>
            <a:pPr indent="-435176">
              <a:buSzPct val="100000"/>
            </a:pPr>
            <a:r>
              <a:rPr lang="en" dirty="0"/>
              <a:t>When customers complain about poor output, how to prioritize and what to do?</a:t>
            </a:r>
            <a:endParaRPr dirty="0"/>
          </a:p>
          <a:p>
            <a:pPr indent="-435176">
              <a:buSzPct val="100000"/>
            </a:pPr>
            <a:r>
              <a:rPr lang="en" dirty="0"/>
              <a:t>What are unacceptable mistakes and how can they be avoided? Is there a safety risk?</a:t>
            </a:r>
            <a:endParaRPr dirty="0"/>
          </a:p>
          <a:p>
            <a:pPr indent="-435176">
              <a:buSzPct val="100000"/>
            </a:pPr>
            <a:r>
              <a:rPr lang="en" dirty="0"/>
              <a:t>Can we cope with an influx of customers?</a:t>
            </a:r>
            <a:endParaRPr dirty="0"/>
          </a:p>
          <a:p>
            <a:pPr indent="-435176">
              <a:buSzPct val="100000"/>
            </a:pPr>
            <a:r>
              <a:rPr lang="en" dirty="0"/>
              <a:t>Will responding to the same prompt twice produce the same result? Does it matter?</a:t>
            </a:r>
            <a:endParaRPr dirty="0"/>
          </a:p>
          <a:p>
            <a:pPr indent="-435176">
              <a:buSzPct val="100000"/>
            </a:pPr>
            <a:r>
              <a:rPr lang="en" dirty="0"/>
              <a:t>How can we debug and fix problems? How quickly?</a:t>
            </a:r>
            <a:endParaRPr dirty="0"/>
          </a:p>
        </p:txBody>
      </p:sp>
      <p:sp>
        <p:nvSpPr>
          <p:cNvPr id="119" name="Google Shape;119;p22"/>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
              <a:pPr/>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3"/>
          <p:cNvSpPr txBox="1">
            <a:spLocks noGrp="1"/>
          </p:cNvSpPr>
          <p:nvPr>
            <p:ph type="title"/>
          </p:nvPr>
        </p:nvSpPr>
        <p:spPr>
          <a:prstGeom prst="rect">
            <a:avLst/>
          </a:prstGeom>
        </p:spPr>
        <p:txBody>
          <a:bodyPr spcFirstLastPara="1" vert="horz" wrap="square" lIns="121900" tIns="121900" rIns="121900" bIns="121900" rtlCol="0" anchor="t" anchorCtr="0">
            <a:normAutofit fontScale="90000"/>
          </a:bodyPr>
          <a:lstStyle/>
          <a:p>
            <a:r>
              <a:rPr lang="en" dirty="0">
                <a:solidFill>
                  <a:srgbClr val="FF0000"/>
                </a:solidFill>
              </a:rPr>
              <a:t>Examples for discussion 2</a:t>
            </a:r>
            <a:endParaRPr dirty="0">
              <a:solidFill>
                <a:srgbClr val="FF0000"/>
              </a:solidFill>
            </a:endParaRPr>
          </a:p>
        </p:txBody>
      </p:sp>
      <p:sp>
        <p:nvSpPr>
          <p:cNvPr id="125" name="Google Shape;125;p23"/>
          <p:cNvSpPr txBox="1">
            <a:spLocks noGrp="1"/>
          </p:cNvSpPr>
          <p:nvPr>
            <p:ph type="body" idx="1"/>
          </p:nvPr>
        </p:nvSpPr>
        <p:spPr>
          <a:xfrm>
            <a:off x="415600" y="1747433"/>
            <a:ext cx="11360800" cy="4720400"/>
          </a:xfrm>
          <a:prstGeom prst="rect">
            <a:avLst/>
          </a:prstGeom>
        </p:spPr>
        <p:txBody>
          <a:bodyPr spcFirstLastPara="1" vert="horz" wrap="square" lIns="121900" tIns="121900" rIns="121900" bIns="121900" rtlCol="0" anchor="t" anchorCtr="0">
            <a:normAutofit fontScale="92500" lnSpcReduction="20000"/>
          </a:bodyPr>
          <a:lstStyle/>
          <a:p>
            <a:pPr indent="-449145">
              <a:buSzPct val="100000"/>
            </a:pPr>
            <a:r>
              <a:rPr lang="en" dirty="0"/>
              <a:t>With more customers, generation is taking longer and longer – what can we do?</a:t>
            </a:r>
            <a:endParaRPr dirty="0"/>
          </a:p>
          <a:p>
            <a:pPr indent="-449145">
              <a:buSzPct val="100000"/>
            </a:pPr>
            <a:r>
              <a:rPr lang="en" dirty="0"/>
              <a:t>Generation sometimes crashes. What to do?</a:t>
            </a:r>
            <a:endParaRPr dirty="0"/>
          </a:p>
          <a:p>
            <a:pPr indent="-449145">
              <a:buSzPct val="100000"/>
            </a:pPr>
            <a:r>
              <a:rPr lang="en" dirty="0"/>
              <a:t>How do we achieve high availability?</a:t>
            </a:r>
            <a:endParaRPr dirty="0"/>
          </a:p>
          <a:p>
            <a:pPr indent="-449145">
              <a:buSzPct val="100000"/>
            </a:pPr>
            <a:r>
              <a:rPr lang="en" dirty="0"/>
              <a:t>How can we see that everything is going fine and page somebody if it is not?</a:t>
            </a:r>
            <a:endParaRPr dirty="0"/>
          </a:p>
          <a:p>
            <a:pPr indent="-449145">
              <a:buSzPct val="100000"/>
            </a:pPr>
            <a:r>
              <a:rPr lang="en" dirty="0"/>
              <a:t>We improve our model but somehow system behavior degrades… Why?</a:t>
            </a:r>
            <a:endParaRPr dirty="0"/>
          </a:p>
          <a:p>
            <a:pPr indent="-449145">
              <a:buSzPct val="100000"/>
            </a:pPr>
            <a:r>
              <a:rPr lang="en" dirty="0"/>
              <a:t>Tensorflow update; does our infrastructure still work?</a:t>
            </a:r>
            <a:endParaRPr dirty="0"/>
          </a:p>
          <a:p>
            <a:pPr indent="-449145">
              <a:buSzPct val="100000"/>
            </a:pPr>
            <a:r>
              <a:rPr lang="en" dirty="0"/>
              <a:t>Once somewhat successful, how to handle large amounts of data per day?</a:t>
            </a:r>
            <a:endParaRPr dirty="0"/>
          </a:p>
          <a:p>
            <a:pPr indent="-449145">
              <a:buSzPct val="100000"/>
            </a:pPr>
            <a:r>
              <a:rPr lang="en" dirty="0"/>
              <a:t>Buy more machines or move to the cloud?</a:t>
            </a:r>
            <a:endParaRPr dirty="0"/>
          </a:p>
          <a:p>
            <a:pPr indent="-449145">
              <a:buSzPct val="100000"/>
            </a:pPr>
            <a:r>
              <a:rPr lang="en" dirty="0"/>
              <a:t>Models are continuously improved. When to deploy? Can we roll back?</a:t>
            </a:r>
            <a:endParaRPr dirty="0"/>
          </a:p>
          <a:p>
            <a:pPr indent="-449145">
              <a:buSzPct val="100000"/>
            </a:pPr>
            <a:r>
              <a:rPr lang="en" dirty="0"/>
              <a:t>Can we offer live music generation as an app? As a web service?</a:t>
            </a:r>
            <a:endParaRPr dirty="0"/>
          </a:p>
          <a:p>
            <a:pPr indent="-449145">
              <a:buSzPct val="100000"/>
            </a:pPr>
            <a:r>
              <a:rPr lang="en" dirty="0"/>
              <a:t>Can we get better the longer a user interacts with us? Will this benefit the next song they generate as well?</a:t>
            </a:r>
            <a:endParaRPr dirty="0"/>
          </a:p>
        </p:txBody>
      </p:sp>
      <p:sp>
        <p:nvSpPr>
          <p:cNvPr id="126" name="Google Shape;126;p23"/>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
              <a:pPr/>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4"/>
          <p:cNvSpPr txBox="1">
            <a:spLocks noGrp="1"/>
          </p:cNvSpPr>
          <p:nvPr>
            <p:ph type="title"/>
          </p:nvPr>
        </p:nvSpPr>
        <p:spPr>
          <a:prstGeom prst="rect">
            <a:avLst/>
          </a:prstGeom>
        </p:spPr>
        <p:txBody>
          <a:bodyPr spcFirstLastPara="1" vert="horz" wrap="square" lIns="121900" tIns="121900" rIns="121900" bIns="121900" rtlCol="0" anchor="t" anchorCtr="0">
            <a:normAutofit fontScale="90000"/>
          </a:bodyPr>
          <a:lstStyle/>
          <a:p>
            <a:r>
              <a:rPr lang="en" dirty="0">
                <a:solidFill>
                  <a:srgbClr val="FF0000"/>
                </a:solidFill>
              </a:rPr>
              <a:t>Examples for discussion 3</a:t>
            </a:r>
            <a:endParaRPr dirty="0">
              <a:solidFill>
                <a:srgbClr val="FF0000"/>
              </a:solidFill>
            </a:endParaRPr>
          </a:p>
        </p:txBody>
      </p:sp>
      <p:sp>
        <p:nvSpPr>
          <p:cNvPr id="132" name="Google Shape;132;p24"/>
          <p:cNvSpPr txBox="1">
            <a:spLocks noGrp="1"/>
          </p:cNvSpPr>
          <p:nvPr>
            <p:ph type="body" idx="1"/>
          </p:nvPr>
        </p:nvSpPr>
        <p:spPr>
          <a:xfrm>
            <a:off x="301611" y="1747433"/>
            <a:ext cx="11360800" cy="4720400"/>
          </a:xfrm>
          <a:prstGeom prst="rect">
            <a:avLst/>
          </a:prstGeom>
        </p:spPr>
        <p:txBody>
          <a:bodyPr spcFirstLastPara="1" vert="horz" wrap="square" lIns="121900" tIns="121900" rIns="121900" bIns="121900" rtlCol="0" anchor="t" anchorCtr="0">
            <a:normAutofit/>
          </a:bodyPr>
          <a:lstStyle/>
          <a:p>
            <a:r>
              <a:rPr lang="en" dirty="0"/>
              <a:t>How many genres can be supported? Do we have the server capacity?</a:t>
            </a:r>
            <a:endParaRPr dirty="0"/>
          </a:p>
          <a:p>
            <a:r>
              <a:rPr lang="en" dirty="0"/>
              <a:t>Can and should we learn from customer data?</a:t>
            </a:r>
            <a:endParaRPr dirty="0"/>
          </a:p>
          <a:p>
            <a:r>
              <a:rPr lang="en" dirty="0"/>
              <a:t>How can we debug problems files we are not allowed to see?</a:t>
            </a:r>
            <a:endParaRPr dirty="0"/>
          </a:p>
          <a:p>
            <a:r>
              <a:rPr lang="en" dirty="0"/>
              <a:t>Any chance we might leak private data?</a:t>
            </a:r>
            <a:endParaRPr dirty="0"/>
          </a:p>
          <a:p>
            <a:r>
              <a:rPr lang="en" dirty="0"/>
              <a:t>Can competitors or bad actors attack our system?</a:t>
            </a:r>
            <a:endParaRPr dirty="0"/>
          </a:p>
        </p:txBody>
      </p:sp>
      <p:sp>
        <p:nvSpPr>
          <p:cNvPr id="133" name="Google Shape;133;p24"/>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
              <a:pPr/>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9"/>
          <p:cNvSpPr txBox="1">
            <a:spLocks noGrp="1"/>
          </p:cNvSpPr>
          <p:nvPr>
            <p:ph type="title"/>
          </p:nvPr>
        </p:nvSpPr>
        <p:spPr>
          <a:prstGeom prst="rect">
            <a:avLst/>
          </a:prstGeom>
        </p:spPr>
        <p:txBody>
          <a:bodyPr spcFirstLastPara="1" vert="horz" wrap="square" lIns="121900" tIns="121900" rIns="121900" bIns="121900" rtlCol="0" anchor="ctr" anchorCtr="0">
            <a:normAutofit/>
          </a:bodyPr>
          <a:lstStyle/>
          <a:p>
            <a:r>
              <a:rPr lang="en"/>
              <a:t>Development Teams</a:t>
            </a:r>
            <a:endParaRPr/>
          </a:p>
        </p:txBody>
      </p:sp>
      <p:sp>
        <p:nvSpPr>
          <p:cNvPr id="167" name="Google Shape;167;p29"/>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
              <a:pPr/>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30"/>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
              <a:pPr/>
              <a:t>29</a:t>
            </a:fld>
            <a:endParaRPr/>
          </a:p>
        </p:txBody>
      </p:sp>
      <p:pic>
        <p:nvPicPr>
          <p:cNvPr id="173" name="Google Shape;173;p30"/>
          <p:cNvPicPr preferRelativeResize="0"/>
          <p:nvPr/>
        </p:nvPicPr>
        <p:blipFill>
          <a:blip r:embed="rId3">
            <a:alphaModFix/>
          </a:blip>
          <a:stretch>
            <a:fillRect/>
          </a:stretch>
        </p:blipFill>
        <p:spPr>
          <a:xfrm>
            <a:off x="1345118" y="0"/>
            <a:ext cx="9501767" cy="5407600"/>
          </a:xfrm>
          <a:prstGeom prst="rect">
            <a:avLst/>
          </a:prstGeom>
          <a:noFill/>
          <a:ln>
            <a:noFill/>
          </a:ln>
        </p:spPr>
      </p:pic>
      <p:sp>
        <p:nvSpPr>
          <p:cNvPr id="174" name="Google Shape;174;p30"/>
          <p:cNvSpPr txBox="1"/>
          <p:nvPr/>
        </p:nvSpPr>
        <p:spPr>
          <a:xfrm>
            <a:off x="273600" y="5256534"/>
            <a:ext cx="11918400" cy="943936"/>
          </a:xfrm>
          <a:prstGeom prst="rect">
            <a:avLst/>
          </a:prstGeom>
          <a:noFill/>
          <a:ln>
            <a:noFill/>
          </a:ln>
        </p:spPr>
        <p:txBody>
          <a:bodyPr spcFirstLastPara="1" wrap="square" lIns="121900" tIns="121900" rIns="121900" bIns="121900" anchor="t" anchorCtr="0">
            <a:spAutoFit/>
          </a:bodyPr>
          <a:lstStyle/>
          <a:p>
            <a:r>
              <a:rPr lang="en" sz="2267">
                <a:solidFill>
                  <a:schemeClr val="dk1"/>
                </a:solidFill>
              </a:rPr>
              <a:t>and Data engineers + Domain specialists + Operators + Business team + Project managers + Designers, UI Experts + Safety, security specialists + Lawyers + Social Scientists + … </a:t>
            </a:r>
            <a:endParaRPr sz="2267">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1"/>
          <p:cNvSpPr txBox="1">
            <a:spLocks noGrp="1"/>
          </p:cNvSpPr>
          <p:nvPr>
            <p:ph type="title"/>
          </p:nvPr>
        </p:nvSpPr>
        <p:spPr>
          <a:prstGeom prst="rect">
            <a:avLst/>
          </a:prstGeom>
        </p:spPr>
        <p:txBody>
          <a:bodyPr spcFirstLastPara="1" vert="horz" wrap="square" lIns="121900" tIns="121900" rIns="121900" bIns="121900" rtlCol="0" anchor="t" anchorCtr="0">
            <a:normAutofit fontScale="90000"/>
          </a:bodyPr>
          <a:lstStyle/>
          <a:p>
            <a:r>
              <a:rPr lang="en" dirty="0">
                <a:solidFill>
                  <a:srgbClr val="FF0000"/>
                </a:solidFill>
              </a:rPr>
              <a:t>Data scientist				Software engineer</a:t>
            </a:r>
            <a:endParaRPr dirty="0">
              <a:solidFill>
                <a:srgbClr val="FF0000"/>
              </a:solidFill>
            </a:endParaRPr>
          </a:p>
        </p:txBody>
      </p:sp>
      <p:sp>
        <p:nvSpPr>
          <p:cNvPr id="180" name="Google Shape;180;p31"/>
          <p:cNvSpPr txBox="1">
            <a:spLocks noGrp="1"/>
          </p:cNvSpPr>
          <p:nvPr>
            <p:ph type="body" idx="1"/>
          </p:nvPr>
        </p:nvSpPr>
        <p:spPr>
          <a:xfrm>
            <a:off x="297067" y="1945923"/>
            <a:ext cx="5333200" cy="4555200"/>
          </a:xfrm>
          <a:prstGeom prst="rect">
            <a:avLst/>
          </a:prstGeom>
        </p:spPr>
        <p:txBody>
          <a:bodyPr spcFirstLastPara="1" vert="horz" wrap="square" lIns="121900" tIns="121900" rIns="121900" bIns="121900" rtlCol="0" anchor="t" anchorCtr="0">
            <a:normAutofit/>
          </a:bodyPr>
          <a:lstStyle/>
          <a:p>
            <a:r>
              <a:rPr lang="en" dirty="0"/>
              <a:t>Often fixed dataset for training and evaluation </a:t>
            </a:r>
            <a:endParaRPr dirty="0"/>
          </a:p>
          <a:p>
            <a:r>
              <a:rPr lang="en" dirty="0"/>
              <a:t>Focused on accuracy</a:t>
            </a:r>
            <a:endParaRPr dirty="0"/>
          </a:p>
          <a:p>
            <a:r>
              <a:rPr lang="en" dirty="0"/>
              <a:t>Prototyping, often Jupyter notebooks or similar</a:t>
            </a:r>
            <a:endParaRPr dirty="0"/>
          </a:p>
          <a:p>
            <a:r>
              <a:rPr lang="en" dirty="0"/>
              <a:t>Expert in modeling techniques and feature engineering</a:t>
            </a:r>
            <a:endParaRPr dirty="0"/>
          </a:p>
          <a:p>
            <a:r>
              <a:rPr lang="en" dirty="0"/>
              <a:t>Model size, updateability, implementation stability typically does not matter</a:t>
            </a:r>
            <a:endParaRPr dirty="0"/>
          </a:p>
        </p:txBody>
      </p:sp>
      <p:sp>
        <p:nvSpPr>
          <p:cNvPr id="182" name="Google Shape;182;p31"/>
          <p:cNvSpPr txBox="1">
            <a:spLocks noGrp="1"/>
          </p:cNvSpPr>
          <p:nvPr>
            <p:ph type="body" idx="2"/>
          </p:nvPr>
        </p:nvSpPr>
        <p:spPr>
          <a:xfrm>
            <a:off x="6443200" y="2061566"/>
            <a:ext cx="5333200" cy="4555200"/>
          </a:xfrm>
          <a:prstGeom prst="rect">
            <a:avLst/>
          </a:prstGeom>
        </p:spPr>
        <p:txBody>
          <a:bodyPr spcFirstLastPara="1" vert="horz" wrap="square" lIns="121900" tIns="121900" rIns="121900" bIns="121900" rtlCol="0" anchor="t" anchorCtr="0">
            <a:normAutofit/>
          </a:bodyPr>
          <a:lstStyle/>
          <a:p>
            <a:r>
              <a:rPr lang="en" dirty="0"/>
              <a:t>Builds a product</a:t>
            </a:r>
            <a:endParaRPr dirty="0"/>
          </a:p>
          <a:p>
            <a:r>
              <a:rPr lang="en" dirty="0"/>
              <a:t>Concerned about performance, stability, release time</a:t>
            </a:r>
            <a:endParaRPr dirty="0"/>
          </a:p>
          <a:p>
            <a:r>
              <a:rPr lang="en" dirty="0"/>
              <a:t>Identify quality through customer satisfaction</a:t>
            </a:r>
            <a:endParaRPr dirty="0"/>
          </a:p>
          <a:p>
            <a:r>
              <a:rPr lang="en" dirty="0"/>
              <a:t>Must scale solution, handle large amounts of data</a:t>
            </a:r>
            <a:endParaRPr dirty="0"/>
          </a:p>
          <a:p>
            <a:r>
              <a:rPr lang="en" dirty="0"/>
              <a:t>Detect and handle mistakes, preferably automatically</a:t>
            </a:r>
            <a:endParaRPr dirty="0"/>
          </a:p>
          <a:p>
            <a:r>
              <a:rPr lang="en" dirty="0"/>
              <a:t>Maintain, evolve, and extend the product over long periods</a:t>
            </a:r>
            <a:endParaRPr dirty="0"/>
          </a:p>
          <a:p>
            <a:r>
              <a:rPr lang="en" dirty="0"/>
              <a:t>Consider requirements for security, safety, fairness</a:t>
            </a:r>
            <a:endParaRPr dirty="0"/>
          </a:p>
        </p:txBody>
      </p:sp>
      <p:sp>
        <p:nvSpPr>
          <p:cNvPr id="181" name="Google Shape;181;p31"/>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
              <a:pPr/>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2"/>
          <p:cNvSpPr txBox="1">
            <a:spLocks noGrp="1"/>
          </p:cNvSpPr>
          <p:nvPr>
            <p:ph type="title"/>
          </p:nvPr>
        </p:nvSpPr>
        <p:spPr>
          <a:prstGeom prst="rect">
            <a:avLst/>
          </a:prstGeom>
        </p:spPr>
        <p:txBody>
          <a:bodyPr spcFirstLastPara="1" vert="horz" wrap="square" lIns="121900" tIns="121900" rIns="121900" bIns="121900" rtlCol="0" anchor="t" anchorCtr="0">
            <a:normAutofit fontScale="90000"/>
          </a:bodyPr>
          <a:lstStyle/>
          <a:p>
            <a:r>
              <a:rPr lang="en" dirty="0">
                <a:solidFill>
                  <a:srgbClr val="FF0000"/>
                </a:solidFill>
              </a:rPr>
              <a:t>Likely collaboration challenges?</a:t>
            </a:r>
            <a:endParaRPr dirty="0">
              <a:solidFill>
                <a:srgbClr val="FF0000"/>
              </a:solidFill>
            </a:endParaRPr>
          </a:p>
        </p:txBody>
      </p:sp>
      <p:sp>
        <p:nvSpPr>
          <p:cNvPr id="188" name="Google Shape;188;p32"/>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
              <a:pPr/>
              <a:t>31</a:t>
            </a:fld>
            <a:endParaRPr/>
          </a:p>
        </p:txBody>
      </p:sp>
      <p:pic>
        <p:nvPicPr>
          <p:cNvPr id="189" name="Google Shape;189;p32"/>
          <p:cNvPicPr preferRelativeResize="0"/>
          <p:nvPr/>
        </p:nvPicPr>
        <p:blipFill>
          <a:blip r:embed="rId3">
            <a:alphaModFix/>
          </a:blip>
          <a:stretch>
            <a:fillRect/>
          </a:stretch>
        </p:blipFill>
        <p:spPr>
          <a:xfrm>
            <a:off x="2574200" y="1911367"/>
            <a:ext cx="6774968" cy="400146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3"/>
          <p:cNvSpPr txBox="1">
            <a:spLocks noGrp="1"/>
          </p:cNvSpPr>
          <p:nvPr>
            <p:ph type="title"/>
          </p:nvPr>
        </p:nvSpPr>
        <p:spPr>
          <a:prstGeom prst="rect">
            <a:avLst/>
          </a:prstGeom>
        </p:spPr>
        <p:txBody>
          <a:bodyPr spcFirstLastPara="1" vert="horz" wrap="square" lIns="121900" tIns="121900" rIns="121900" bIns="121900" rtlCol="0" anchor="t" anchorCtr="0">
            <a:normAutofit fontScale="90000"/>
          </a:bodyPr>
          <a:lstStyle/>
          <a:p>
            <a:r>
              <a:rPr lang="en" dirty="0">
                <a:solidFill>
                  <a:srgbClr val="FF0000"/>
                </a:solidFill>
              </a:rPr>
              <a:t>What might Software Engineers and Data Scientists focus on?</a:t>
            </a:r>
            <a:endParaRPr dirty="0">
              <a:solidFill>
                <a:srgbClr val="FF0000"/>
              </a:solidFill>
            </a:endParaRPr>
          </a:p>
        </p:txBody>
      </p:sp>
      <p:sp>
        <p:nvSpPr>
          <p:cNvPr id="195" name="Google Shape;195;p33"/>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
              <a:pPr/>
              <a:t>32</a:t>
            </a:fld>
            <a:endParaRPr/>
          </a:p>
        </p:txBody>
      </p:sp>
      <p:pic>
        <p:nvPicPr>
          <p:cNvPr id="196" name="Google Shape;196;p33"/>
          <p:cNvPicPr preferRelativeResize="0"/>
          <p:nvPr/>
        </p:nvPicPr>
        <p:blipFill>
          <a:blip r:embed="rId3">
            <a:alphaModFix/>
          </a:blip>
          <a:stretch>
            <a:fillRect/>
          </a:stretch>
        </p:blipFill>
        <p:spPr>
          <a:xfrm>
            <a:off x="2875402" y="1708667"/>
            <a:ext cx="5531998" cy="464869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64"/>
          <p:cNvSpPr txBox="1">
            <a:spLocks noGrp="1"/>
          </p:cNvSpPr>
          <p:nvPr>
            <p:ph type="title"/>
          </p:nvPr>
        </p:nvSpPr>
        <p:spPr>
          <a:prstGeom prst="rect">
            <a:avLst/>
          </a:prstGeom>
        </p:spPr>
        <p:txBody>
          <a:bodyPr spcFirstLastPara="1" vert="horz" wrap="square" lIns="121900" tIns="121900" rIns="121900" bIns="121900" rtlCol="0" anchor="t" anchorCtr="0">
            <a:normAutofit fontScale="90000"/>
          </a:bodyPr>
          <a:lstStyle/>
          <a:p>
            <a:r>
              <a:rPr lang="en" dirty="0"/>
              <a:t>What makes software with ML challenging?</a:t>
            </a:r>
            <a:endParaRPr dirty="0"/>
          </a:p>
        </p:txBody>
      </p:sp>
      <p:sp>
        <p:nvSpPr>
          <p:cNvPr id="420" name="Google Shape;420;p64"/>
          <p:cNvSpPr txBox="1">
            <a:spLocks noGrp="1"/>
          </p:cNvSpPr>
          <p:nvPr>
            <p:ph type="body" idx="1"/>
          </p:nvPr>
        </p:nvSpPr>
        <p:spPr>
          <a:xfrm>
            <a:off x="534133" y="1951499"/>
            <a:ext cx="11360800" cy="4720400"/>
          </a:xfrm>
          <a:prstGeom prst="rect">
            <a:avLst/>
          </a:prstGeom>
        </p:spPr>
        <p:txBody>
          <a:bodyPr spcFirstLastPara="1" vert="horz" wrap="square" lIns="121900" tIns="121900" rIns="121900" bIns="121900" rtlCol="0" anchor="t" anchorCtr="0">
            <a:normAutofit/>
          </a:bodyPr>
          <a:lstStyle/>
          <a:p>
            <a:r>
              <a:rPr lang="en" dirty="0"/>
              <a:t>Traditional SE: specify what to do &amp; how to test</a:t>
            </a:r>
            <a:endParaRPr dirty="0"/>
          </a:p>
          <a:p>
            <a:r>
              <a:rPr lang="en" dirty="0"/>
              <a:t>MLs are usually black boxes (maybe justified, for their complexity…)</a:t>
            </a:r>
            <a:endParaRPr dirty="0"/>
          </a:p>
          <a:p>
            <a:r>
              <a:rPr lang="en" dirty="0"/>
              <a:t>Even if you put specs in, e.g., LLM prompts, unclear if they will follow</a:t>
            </a:r>
            <a:endParaRPr dirty="0"/>
          </a:p>
        </p:txBody>
      </p:sp>
      <p:sp>
        <p:nvSpPr>
          <p:cNvPr id="419" name="Google Shape;419;p64"/>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
              <a:pPr/>
              <a:t>33</a:t>
            </a:fld>
            <a:endParaRPr/>
          </a:p>
        </p:txBody>
      </p:sp>
      <p:pic>
        <p:nvPicPr>
          <p:cNvPr id="421" name="Google Shape;421;p64"/>
          <p:cNvPicPr preferRelativeResize="0"/>
          <p:nvPr/>
        </p:nvPicPr>
        <p:blipFill>
          <a:blip r:embed="rId3">
            <a:alphaModFix/>
          </a:blip>
          <a:stretch>
            <a:fillRect/>
          </a:stretch>
        </p:blipFill>
        <p:spPr>
          <a:xfrm>
            <a:off x="740584" y="3429000"/>
            <a:ext cx="10710832" cy="2253733"/>
          </a:xfrm>
          <a:prstGeom prst="rect">
            <a:avLst/>
          </a:prstGeom>
          <a:noFill/>
          <a:ln>
            <a:noFill/>
          </a:ln>
        </p:spPr>
      </p:pic>
    </p:spTree>
    <p:extLst>
      <p:ext uri="{BB962C8B-B14F-4D97-AF65-F5344CB8AC3E}">
        <p14:creationId xmlns:p14="http://schemas.microsoft.com/office/powerpoint/2010/main" val="36844100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65"/>
          <p:cNvSpPr txBox="1">
            <a:spLocks noGrp="1"/>
          </p:cNvSpPr>
          <p:nvPr>
            <p:ph type="title"/>
          </p:nvPr>
        </p:nvSpPr>
        <p:spPr>
          <a:prstGeom prst="rect">
            <a:avLst/>
          </a:prstGeom>
        </p:spPr>
        <p:txBody>
          <a:bodyPr spcFirstLastPara="1" vert="horz" wrap="square" lIns="121900" tIns="121900" rIns="121900" bIns="121900" rtlCol="0" anchor="t" anchorCtr="0">
            <a:normAutofit fontScale="90000"/>
          </a:bodyPr>
          <a:lstStyle/>
          <a:p>
            <a:r>
              <a:rPr lang="en"/>
              <a:t>Data Focused and Scalable</a:t>
            </a:r>
            <a:endParaRPr/>
          </a:p>
        </p:txBody>
      </p:sp>
      <p:sp>
        <p:nvSpPr>
          <p:cNvPr id="427" name="Google Shape;427;p65"/>
          <p:cNvSpPr txBox="1">
            <a:spLocks noGrp="1"/>
          </p:cNvSpPr>
          <p:nvPr>
            <p:ph type="body" idx="1"/>
          </p:nvPr>
        </p:nvSpPr>
        <p:spPr>
          <a:xfrm>
            <a:off x="415600" y="1333433"/>
            <a:ext cx="5829200" cy="4720400"/>
          </a:xfrm>
          <a:prstGeom prst="rect">
            <a:avLst/>
          </a:prstGeom>
        </p:spPr>
        <p:txBody>
          <a:bodyPr spcFirstLastPara="1" vert="horz" wrap="square" lIns="121900" tIns="121900" rIns="121900" bIns="121900" rtlCol="0" anchor="t" anchorCtr="0">
            <a:normAutofit/>
          </a:bodyPr>
          <a:lstStyle/>
          <a:p>
            <a:pPr indent="-457189">
              <a:buSzPts val="1800"/>
            </a:pPr>
            <a:r>
              <a:rPr lang="en" sz="2400" dirty="0"/>
              <a:t>MLs get the “specs” from data; Larger the better</a:t>
            </a:r>
            <a:endParaRPr sz="2400" dirty="0"/>
          </a:p>
          <a:p>
            <a:pPr indent="-457189">
              <a:buSzPts val="1800"/>
            </a:pPr>
            <a:r>
              <a:rPr lang="en" sz="2400" i="1" dirty="0"/>
              <a:t>Deductive reasoning </a:t>
            </a:r>
            <a:r>
              <a:rPr lang="en" sz="2400" dirty="0"/>
              <a:t>(applying logic rules) to </a:t>
            </a:r>
            <a:r>
              <a:rPr lang="en" sz="2400" i="1" dirty="0"/>
              <a:t>Inductive Reasoning </a:t>
            </a:r>
            <a:r>
              <a:rPr lang="en" sz="2400" dirty="0"/>
              <a:t>(generalizing from observation)</a:t>
            </a:r>
            <a:endParaRPr sz="2400" dirty="0"/>
          </a:p>
          <a:p>
            <a:pPr indent="-457189">
              <a:buSzPts val="1800"/>
            </a:pPr>
            <a:r>
              <a:rPr lang="en" sz="2400" dirty="0"/>
              <a:t>Cause scalability issues</a:t>
            </a:r>
            <a:endParaRPr sz="2400" dirty="0"/>
          </a:p>
        </p:txBody>
      </p:sp>
      <p:sp>
        <p:nvSpPr>
          <p:cNvPr id="428" name="Google Shape;428;p65"/>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
              <a:pPr/>
              <a:t>34</a:t>
            </a:fld>
            <a:endParaRPr/>
          </a:p>
        </p:txBody>
      </p:sp>
      <p:pic>
        <p:nvPicPr>
          <p:cNvPr id="429" name="Google Shape;429;p65"/>
          <p:cNvPicPr preferRelativeResize="0"/>
          <p:nvPr/>
        </p:nvPicPr>
        <p:blipFill>
          <a:blip r:embed="rId3">
            <a:alphaModFix/>
          </a:blip>
          <a:stretch>
            <a:fillRect/>
          </a:stretch>
        </p:blipFill>
        <p:spPr>
          <a:xfrm>
            <a:off x="5966568" y="1470167"/>
            <a:ext cx="6061633" cy="3455133"/>
          </a:xfrm>
          <a:prstGeom prst="rect">
            <a:avLst/>
          </a:prstGeom>
          <a:noFill/>
          <a:ln>
            <a:noFill/>
          </a:ln>
        </p:spPr>
      </p:pic>
    </p:spTree>
    <p:extLst>
      <p:ext uri="{BB962C8B-B14F-4D97-AF65-F5344CB8AC3E}">
        <p14:creationId xmlns:p14="http://schemas.microsoft.com/office/powerpoint/2010/main" val="9773827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66"/>
          <p:cNvSpPr txBox="1">
            <a:spLocks noGrp="1"/>
          </p:cNvSpPr>
          <p:nvPr>
            <p:ph type="title"/>
          </p:nvPr>
        </p:nvSpPr>
        <p:spPr>
          <a:prstGeom prst="rect">
            <a:avLst/>
          </a:prstGeom>
        </p:spPr>
        <p:txBody>
          <a:bodyPr spcFirstLastPara="1" vert="horz" wrap="square" lIns="121900" tIns="121900" rIns="121900" bIns="121900" rtlCol="0" anchor="t" anchorCtr="0">
            <a:normAutofit fontScale="90000"/>
          </a:bodyPr>
          <a:lstStyle/>
          <a:p>
            <a:r>
              <a:rPr lang="en"/>
              <a:t>ML Models Make Mistakes</a:t>
            </a:r>
            <a:endParaRPr/>
          </a:p>
        </p:txBody>
      </p:sp>
      <p:sp>
        <p:nvSpPr>
          <p:cNvPr id="435" name="Google Shape;435;p66"/>
          <p:cNvSpPr txBox="1">
            <a:spLocks noGrp="1"/>
          </p:cNvSpPr>
          <p:nvPr>
            <p:ph type="body" idx="1"/>
          </p:nvPr>
        </p:nvSpPr>
        <p:spPr>
          <a:xfrm>
            <a:off x="508733" y="2137600"/>
            <a:ext cx="5829200" cy="4720400"/>
          </a:xfrm>
          <a:prstGeom prst="rect">
            <a:avLst/>
          </a:prstGeom>
        </p:spPr>
        <p:txBody>
          <a:bodyPr spcFirstLastPara="1" vert="horz" wrap="square" lIns="121900" tIns="121900" rIns="121900" bIns="121900" rtlCol="0" anchor="t" anchorCtr="0">
            <a:normAutofit/>
          </a:bodyPr>
          <a:lstStyle/>
          <a:p>
            <a:pPr indent="-457189">
              <a:buSzPts val="1800"/>
            </a:pPr>
            <a:r>
              <a:rPr lang="en-CA" sz="2400" dirty="0"/>
              <a:t>…Often in unexpected ways</a:t>
            </a:r>
          </a:p>
          <a:p>
            <a:pPr lvl="1"/>
            <a:r>
              <a:rPr lang="en-CA" sz="1867" b="1" dirty="0"/>
              <a:t>What happened:</a:t>
            </a:r>
            <a:r>
              <a:rPr lang="en-CA" sz="1867" dirty="0"/>
              <a:t> During a live-streamed match featuring Inverness Caledonian Thistle in Scotland, an AI-powered camera designed to track the ball repeatedly focused on the linesman’s bald head instead—and not the actual soccer ball. </a:t>
            </a:r>
          </a:p>
          <a:p>
            <a:pPr indent="-457189">
              <a:buSzPts val="1800"/>
            </a:pPr>
            <a:endParaRPr lang="en-CA" sz="2400" dirty="0"/>
          </a:p>
          <a:p>
            <a:pPr indent="-457189">
              <a:buSzPts val="1800"/>
            </a:pPr>
            <a:r>
              <a:rPr lang="en-CA" sz="2400" dirty="0"/>
              <a:t>Hard to foresee and capture because no spec</a:t>
            </a:r>
          </a:p>
          <a:p>
            <a:pPr indent="-457189">
              <a:buSzPts val="1800"/>
            </a:pPr>
            <a:r>
              <a:rPr lang="en-CA" sz="2400" dirty="0"/>
              <a:t>What does it mean to be correct? Can only evaluate whether it works well enough (on average) on some test data!</a:t>
            </a:r>
          </a:p>
        </p:txBody>
      </p:sp>
      <p:sp>
        <p:nvSpPr>
          <p:cNvPr id="436" name="Google Shape;436;p66"/>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
              <a:pPr/>
              <a:t>35</a:t>
            </a:fld>
            <a:endParaRPr/>
          </a:p>
        </p:txBody>
      </p:sp>
      <p:sp>
        <p:nvSpPr>
          <p:cNvPr id="3" name="TextBox 2">
            <a:extLst>
              <a:ext uri="{FF2B5EF4-FFF2-40B4-BE49-F238E27FC236}">
                <a16:creationId xmlns:a16="http://schemas.microsoft.com/office/drawing/2014/main" id="{0D1A110A-E831-3413-6581-414C0ACF5DB8}"/>
              </a:ext>
            </a:extLst>
          </p:cNvPr>
          <p:cNvSpPr txBox="1"/>
          <p:nvPr/>
        </p:nvSpPr>
        <p:spPr>
          <a:xfrm>
            <a:off x="1196623" y="4088135"/>
            <a:ext cx="6096000" cy="369332"/>
          </a:xfrm>
          <a:prstGeom prst="rect">
            <a:avLst/>
          </a:prstGeom>
          <a:noFill/>
        </p:spPr>
        <p:txBody>
          <a:bodyPr wrap="square">
            <a:spAutoFit/>
          </a:bodyPr>
          <a:lstStyle/>
          <a:p>
            <a:r>
              <a:rPr lang="en-CA" dirty="0"/>
              <a:t>https://www.youtube.com/watch?v=SPbTKfu0zUY</a:t>
            </a:r>
          </a:p>
        </p:txBody>
      </p:sp>
      <p:pic>
        <p:nvPicPr>
          <p:cNvPr id="6" name="Picture 5">
            <a:extLst>
              <a:ext uri="{FF2B5EF4-FFF2-40B4-BE49-F238E27FC236}">
                <a16:creationId xmlns:a16="http://schemas.microsoft.com/office/drawing/2014/main" id="{A0F4A1AB-56FC-3090-14B5-5B37DD8A61C6}"/>
              </a:ext>
            </a:extLst>
          </p:cNvPr>
          <p:cNvPicPr>
            <a:picLocks noChangeAspect="1"/>
          </p:cNvPicPr>
          <p:nvPr/>
        </p:nvPicPr>
        <p:blipFill>
          <a:blip r:embed="rId3"/>
          <a:stretch>
            <a:fillRect/>
          </a:stretch>
        </p:blipFill>
        <p:spPr>
          <a:xfrm>
            <a:off x="6657486" y="2568582"/>
            <a:ext cx="5370725" cy="2477272"/>
          </a:xfrm>
          <a:prstGeom prst="rect">
            <a:avLst/>
          </a:prstGeom>
        </p:spPr>
      </p:pic>
    </p:spTree>
    <p:extLst>
      <p:ext uri="{BB962C8B-B14F-4D97-AF65-F5344CB8AC3E}">
        <p14:creationId xmlns:p14="http://schemas.microsoft.com/office/powerpoint/2010/main" val="6838134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67"/>
          <p:cNvSpPr txBox="1">
            <a:spLocks noGrp="1"/>
          </p:cNvSpPr>
          <p:nvPr>
            <p:ph type="title"/>
          </p:nvPr>
        </p:nvSpPr>
        <p:spPr>
          <a:prstGeom prst="rect">
            <a:avLst/>
          </a:prstGeom>
        </p:spPr>
        <p:txBody>
          <a:bodyPr spcFirstLastPara="1" vert="horz" wrap="square" lIns="121900" tIns="121900" rIns="121900" bIns="121900" rtlCol="0" anchor="t" anchorCtr="0">
            <a:normAutofit fontScale="90000"/>
          </a:bodyPr>
          <a:lstStyle/>
          <a:p>
            <a:r>
              <a:rPr lang="en" dirty="0">
                <a:solidFill>
                  <a:srgbClr val="FF0000"/>
                </a:solidFill>
              </a:rPr>
              <a:t>Interaction with the environment</a:t>
            </a:r>
            <a:endParaRPr dirty="0">
              <a:solidFill>
                <a:srgbClr val="FF0000"/>
              </a:solidFill>
            </a:endParaRPr>
          </a:p>
        </p:txBody>
      </p:sp>
      <p:sp>
        <p:nvSpPr>
          <p:cNvPr id="445" name="Google Shape;445;p67"/>
          <p:cNvSpPr txBox="1">
            <a:spLocks noGrp="1"/>
          </p:cNvSpPr>
          <p:nvPr>
            <p:ph type="body" idx="1"/>
          </p:nvPr>
        </p:nvSpPr>
        <p:spPr>
          <a:xfrm>
            <a:off x="667411" y="1632703"/>
            <a:ext cx="11360800" cy="4720400"/>
          </a:xfrm>
          <a:prstGeom prst="rect">
            <a:avLst/>
          </a:prstGeom>
        </p:spPr>
        <p:txBody>
          <a:bodyPr spcFirstLastPara="1" vert="horz" wrap="square" lIns="121900" tIns="121900" rIns="121900" bIns="121900" rtlCol="0" anchor="t" anchorCtr="0">
            <a:normAutofit/>
          </a:bodyPr>
          <a:lstStyle/>
          <a:p>
            <a:pPr marL="0" indent="0">
              <a:spcAft>
                <a:spcPts val="1600"/>
              </a:spcAft>
              <a:buNone/>
            </a:pPr>
            <a:r>
              <a:rPr lang="en" sz="2667" dirty="0"/>
              <a:t>Our system must be able to tolerate some incorrect predictions, and be aware of how it might influence the world…	</a:t>
            </a:r>
            <a:endParaRPr sz="2667" dirty="0"/>
          </a:p>
        </p:txBody>
      </p:sp>
      <p:sp>
        <p:nvSpPr>
          <p:cNvPr id="443" name="Google Shape;443;p67"/>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
              <a:pPr/>
              <a:t>36</a:t>
            </a:fld>
            <a:endParaRPr/>
          </a:p>
        </p:txBody>
      </p:sp>
      <p:pic>
        <p:nvPicPr>
          <p:cNvPr id="444" name="Google Shape;444;p67"/>
          <p:cNvPicPr preferRelativeResize="0"/>
          <p:nvPr/>
        </p:nvPicPr>
        <p:blipFill>
          <a:blip r:embed="rId3">
            <a:alphaModFix/>
          </a:blip>
          <a:stretch>
            <a:fillRect/>
          </a:stretch>
        </p:blipFill>
        <p:spPr>
          <a:xfrm>
            <a:off x="2438400" y="2573867"/>
            <a:ext cx="6621227" cy="3254302"/>
          </a:xfrm>
          <a:prstGeom prst="rect">
            <a:avLst/>
          </a:prstGeom>
          <a:noFill/>
          <a:ln>
            <a:noFill/>
          </a:ln>
        </p:spPr>
      </p:pic>
    </p:spTree>
    <p:extLst>
      <p:ext uri="{BB962C8B-B14F-4D97-AF65-F5344CB8AC3E}">
        <p14:creationId xmlns:p14="http://schemas.microsoft.com/office/powerpoint/2010/main" val="19615534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69"/>
          <p:cNvSpPr txBox="1">
            <a:spLocks noGrp="1"/>
          </p:cNvSpPr>
          <p:nvPr>
            <p:ph type="title"/>
          </p:nvPr>
        </p:nvSpPr>
        <p:spPr>
          <a:prstGeom prst="rect">
            <a:avLst/>
          </a:prstGeom>
        </p:spPr>
        <p:txBody>
          <a:bodyPr spcFirstLastPara="1" vert="horz" wrap="square" lIns="121900" tIns="121900" rIns="121900" bIns="121900" rtlCol="0" anchor="t" anchorCtr="0">
            <a:normAutofit fontScale="90000"/>
          </a:bodyPr>
          <a:lstStyle/>
          <a:p>
            <a:r>
              <a:rPr lang="en" dirty="0">
                <a:solidFill>
                  <a:srgbClr val="FF0000"/>
                </a:solidFill>
              </a:rPr>
              <a:t>Complexity</a:t>
            </a:r>
            <a:endParaRPr dirty="0">
              <a:solidFill>
                <a:srgbClr val="FF0000"/>
              </a:solidFill>
            </a:endParaRPr>
          </a:p>
        </p:txBody>
      </p:sp>
      <p:sp>
        <p:nvSpPr>
          <p:cNvPr id="458" name="Google Shape;458;p69"/>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
              <a:pPr/>
              <a:t>37</a:t>
            </a:fld>
            <a:endParaRPr/>
          </a:p>
        </p:txBody>
      </p:sp>
      <p:pic>
        <p:nvPicPr>
          <p:cNvPr id="459" name="Google Shape;459;p69"/>
          <p:cNvPicPr preferRelativeResize="0"/>
          <p:nvPr/>
        </p:nvPicPr>
        <p:blipFill>
          <a:blip r:embed="rId3">
            <a:alphaModFix/>
          </a:blip>
          <a:stretch>
            <a:fillRect/>
          </a:stretch>
        </p:blipFill>
        <p:spPr>
          <a:xfrm>
            <a:off x="1139985" y="1897152"/>
            <a:ext cx="9912033" cy="3266901"/>
          </a:xfrm>
          <a:prstGeom prst="rect">
            <a:avLst/>
          </a:prstGeom>
          <a:noFill/>
          <a:ln>
            <a:noFill/>
          </a:ln>
        </p:spPr>
      </p:pic>
    </p:spTree>
    <p:extLst>
      <p:ext uri="{BB962C8B-B14F-4D97-AF65-F5344CB8AC3E}">
        <p14:creationId xmlns:p14="http://schemas.microsoft.com/office/powerpoint/2010/main" val="38075298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70"/>
          <p:cNvSpPr txBox="1">
            <a:spLocks noGrp="1"/>
          </p:cNvSpPr>
          <p:nvPr>
            <p:ph type="title"/>
          </p:nvPr>
        </p:nvSpPr>
        <p:spPr>
          <a:prstGeom prst="rect">
            <a:avLst/>
          </a:prstGeom>
        </p:spPr>
        <p:txBody>
          <a:bodyPr spcFirstLastPara="1" vert="horz" wrap="square" lIns="121900" tIns="121900" rIns="121900" bIns="121900" rtlCol="0" anchor="t" anchorCtr="0">
            <a:normAutofit fontScale="90000"/>
          </a:bodyPr>
          <a:lstStyle/>
          <a:p>
            <a:r>
              <a:rPr lang="en" dirty="0">
                <a:solidFill>
                  <a:srgbClr val="FF0000"/>
                </a:solidFill>
              </a:rPr>
              <a:t>Complexity</a:t>
            </a:r>
            <a:endParaRPr dirty="0">
              <a:solidFill>
                <a:srgbClr val="FF0000"/>
              </a:solidFill>
            </a:endParaRPr>
          </a:p>
        </p:txBody>
      </p:sp>
      <p:sp>
        <p:nvSpPr>
          <p:cNvPr id="465" name="Google Shape;465;p70"/>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
              <a:pPr/>
              <a:t>38</a:t>
            </a:fld>
            <a:endParaRPr/>
          </a:p>
        </p:txBody>
      </p:sp>
      <p:pic>
        <p:nvPicPr>
          <p:cNvPr id="466" name="Google Shape;466;p70"/>
          <p:cNvPicPr preferRelativeResize="0"/>
          <p:nvPr/>
        </p:nvPicPr>
        <p:blipFill rotWithShape="1">
          <a:blip r:embed="rId3">
            <a:alphaModFix/>
          </a:blip>
          <a:srcRect t="6055" b="6055"/>
          <a:stretch/>
        </p:blipFill>
        <p:spPr>
          <a:xfrm>
            <a:off x="1139983" y="2201953"/>
            <a:ext cx="9912033" cy="3266900"/>
          </a:xfrm>
          <a:prstGeom prst="rect">
            <a:avLst/>
          </a:prstGeom>
          <a:noFill/>
          <a:ln>
            <a:noFill/>
          </a:ln>
        </p:spPr>
      </p:pic>
    </p:spTree>
    <p:extLst>
      <p:ext uri="{BB962C8B-B14F-4D97-AF65-F5344CB8AC3E}">
        <p14:creationId xmlns:p14="http://schemas.microsoft.com/office/powerpoint/2010/main" val="36564864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0"/>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Skill Sets for Data Science</a:t>
            </a:r>
            <a:endParaRPr/>
          </a:p>
        </p:txBody>
      </p:sp>
      <p:sp>
        <p:nvSpPr>
          <p:cNvPr id="48" name="Google Shape;48;p10"/>
          <p:cNvSpPr txBox="1">
            <a:spLocks noGrp="1"/>
          </p:cNvSpPr>
          <p:nvPr>
            <p:ph type="body" idx="1"/>
          </p:nvPr>
        </p:nvSpPr>
        <p:spPr>
          <a:prstGeom prst="rect">
            <a:avLst/>
          </a:prstGeom>
        </p:spPr>
        <p:txBody>
          <a:bodyPr spcFirstLastPara="1" vert="horz" wrap="square" lIns="121900" tIns="121900" rIns="121900" bIns="121900" rtlCol="0" anchor="t" anchorCtr="0">
            <a:noAutofit/>
          </a:bodyPr>
          <a:lstStyle/>
          <a:p>
            <a:pPr marL="0" indent="0">
              <a:buNone/>
            </a:pPr>
            <a:r>
              <a:rPr lang="en"/>
              <a:t> </a:t>
            </a:r>
            <a:endParaRPr/>
          </a:p>
        </p:txBody>
      </p:sp>
      <p:pic>
        <p:nvPicPr>
          <p:cNvPr id="49" name="Google Shape;49;p10" descr="venn.jpg"/>
          <p:cNvPicPr preferRelativeResize="0"/>
          <p:nvPr/>
        </p:nvPicPr>
        <p:blipFill>
          <a:blip r:embed="rId3">
            <a:alphaModFix/>
          </a:blip>
          <a:stretch>
            <a:fillRect/>
          </a:stretch>
        </p:blipFill>
        <p:spPr>
          <a:xfrm>
            <a:off x="2671950" y="1841499"/>
            <a:ext cx="6848099" cy="448500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11" name="Google Shape;211;p35"/>
          <p:cNvSpPr txBox="1">
            <a:spLocks noGrp="1"/>
          </p:cNvSpPr>
          <p:nvPr>
            <p:ph type="title"/>
          </p:nvPr>
        </p:nvSpPr>
        <p:spPr>
          <a:xfrm>
            <a:off x="415600" y="671292"/>
            <a:ext cx="11360800" cy="763600"/>
          </a:xfrm>
          <a:prstGeom prst="rect">
            <a:avLst/>
          </a:prstGeom>
        </p:spPr>
        <p:txBody>
          <a:bodyPr spcFirstLastPara="1" vert="horz" wrap="square" lIns="121900" tIns="121900" rIns="121900" bIns="121900" rtlCol="0" anchor="t" anchorCtr="0">
            <a:normAutofit fontScale="90000"/>
          </a:bodyPr>
          <a:lstStyle/>
          <a:p>
            <a:r>
              <a:rPr lang="en" dirty="0">
                <a:solidFill>
                  <a:srgbClr val="FF0000"/>
                </a:solidFill>
              </a:rPr>
              <a:t>T-Shaped People</a:t>
            </a:r>
            <a:endParaRPr dirty="0">
              <a:solidFill>
                <a:srgbClr val="FF0000"/>
              </a:solidFill>
            </a:endParaRPr>
          </a:p>
        </p:txBody>
      </p:sp>
      <p:sp>
        <p:nvSpPr>
          <p:cNvPr id="212" name="Google Shape;212;p35"/>
          <p:cNvSpPr txBox="1">
            <a:spLocks noGrp="1"/>
          </p:cNvSpPr>
          <p:nvPr>
            <p:ph type="body" idx="1"/>
          </p:nvPr>
        </p:nvSpPr>
        <p:spPr>
          <a:xfrm>
            <a:off x="415600" y="1766913"/>
            <a:ext cx="11360800" cy="4720400"/>
          </a:xfrm>
          <a:prstGeom prst="rect">
            <a:avLst/>
          </a:prstGeom>
        </p:spPr>
        <p:txBody>
          <a:bodyPr spcFirstLastPara="1" vert="horz" wrap="square" lIns="121900" tIns="121900" rIns="121900" bIns="121900" rtlCol="0" anchor="t" anchorCtr="0">
            <a:normAutofit/>
          </a:bodyPr>
          <a:lstStyle/>
          <a:p>
            <a:pPr marL="0" indent="0">
              <a:lnSpc>
                <a:spcPct val="100000"/>
              </a:lnSpc>
              <a:buClr>
                <a:schemeClr val="dk1"/>
              </a:buClr>
              <a:buSzPts val="1100"/>
              <a:buNone/>
            </a:pPr>
            <a:r>
              <a:rPr lang="en" i="1" dirty="0"/>
              <a:t>Broad-range generalist + Deep expertise</a:t>
            </a:r>
            <a:endParaRPr i="1" dirty="0"/>
          </a:p>
          <a:p>
            <a:pPr marL="0" indent="0">
              <a:spcAft>
                <a:spcPts val="1600"/>
              </a:spcAft>
              <a:buNone/>
            </a:pPr>
            <a:endParaRPr dirty="0"/>
          </a:p>
        </p:txBody>
      </p:sp>
      <p:sp>
        <p:nvSpPr>
          <p:cNvPr id="208" name="Google Shape;208;p35"/>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
              <a:pPr/>
              <a:t>40</a:t>
            </a:fld>
            <a:endParaRPr/>
          </a:p>
        </p:txBody>
      </p:sp>
      <p:sp>
        <p:nvSpPr>
          <p:cNvPr id="209" name="Google Shape;209;p35"/>
          <p:cNvSpPr txBox="1"/>
          <p:nvPr/>
        </p:nvSpPr>
        <p:spPr>
          <a:xfrm>
            <a:off x="362200" y="5871800"/>
            <a:ext cx="11467600" cy="615513"/>
          </a:xfrm>
          <a:prstGeom prst="rect">
            <a:avLst/>
          </a:prstGeom>
          <a:noFill/>
          <a:ln>
            <a:noFill/>
          </a:ln>
        </p:spPr>
        <p:txBody>
          <a:bodyPr spcFirstLastPara="1" wrap="square" lIns="121900" tIns="121900" rIns="121900" bIns="121900" anchor="t" anchorCtr="0">
            <a:spAutoFit/>
          </a:bodyPr>
          <a:lstStyle/>
          <a:p>
            <a:r>
              <a:rPr lang="en" sz="2400">
                <a:solidFill>
                  <a:schemeClr val="dk1"/>
                </a:solidFill>
              </a:rPr>
              <a:t>Figure: Jason Yip. Why T-shaped people?. 2018</a:t>
            </a:r>
            <a:endParaRPr sz="2400">
              <a:solidFill>
                <a:schemeClr val="dk1"/>
              </a:solidFill>
            </a:endParaRPr>
          </a:p>
        </p:txBody>
      </p:sp>
      <p:pic>
        <p:nvPicPr>
          <p:cNvPr id="210" name="Google Shape;210;p35"/>
          <p:cNvPicPr preferRelativeResize="0"/>
          <p:nvPr/>
        </p:nvPicPr>
        <p:blipFill>
          <a:blip r:embed="rId3">
            <a:alphaModFix/>
          </a:blip>
          <a:stretch>
            <a:fillRect/>
          </a:stretch>
        </p:blipFill>
        <p:spPr>
          <a:xfrm>
            <a:off x="728132" y="2430956"/>
            <a:ext cx="9437735" cy="318573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9" name="Google Shape;219;p36"/>
          <p:cNvSpPr txBox="1">
            <a:spLocks noGrp="1"/>
          </p:cNvSpPr>
          <p:nvPr>
            <p:ph type="title"/>
          </p:nvPr>
        </p:nvSpPr>
        <p:spPr>
          <a:xfrm>
            <a:off x="415600" y="733623"/>
            <a:ext cx="11360800" cy="763600"/>
          </a:xfrm>
          <a:prstGeom prst="rect">
            <a:avLst/>
          </a:prstGeom>
        </p:spPr>
        <p:txBody>
          <a:bodyPr spcFirstLastPara="1" vert="horz" wrap="square" lIns="121900" tIns="121900" rIns="121900" bIns="121900" rtlCol="0" anchor="t" anchorCtr="0">
            <a:normAutofit fontScale="90000"/>
          </a:bodyPr>
          <a:lstStyle/>
          <a:p>
            <a:r>
              <a:rPr lang="en" dirty="0">
                <a:solidFill>
                  <a:srgbClr val="FF0000"/>
                </a:solidFill>
              </a:rPr>
              <a:t>T-Shaped People</a:t>
            </a:r>
            <a:endParaRPr dirty="0">
              <a:solidFill>
                <a:srgbClr val="FF0000"/>
              </a:solidFill>
            </a:endParaRPr>
          </a:p>
        </p:txBody>
      </p:sp>
      <p:sp>
        <p:nvSpPr>
          <p:cNvPr id="220" name="Google Shape;220;p36"/>
          <p:cNvSpPr txBox="1">
            <a:spLocks noGrp="1"/>
          </p:cNvSpPr>
          <p:nvPr>
            <p:ph type="body" idx="1"/>
          </p:nvPr>
        </p:nvSpPr>
        <p:spPr>
          <a:xfrm>
            <a:off x="667411" y="1759623"/>
            <a:ext cx="11360800" cy="4720400"/>
          </a:xfrm>
          <a:prstGeom prst="rect">
            <a:avLst/>
          </a:prstGeom>
        </p:spPr>
        <p:txBody>
          <a:bodyPr spcFirstLastPara="1" vert="horz" wrap="square" lIns="121900" tIns="121900" rIns="121900" bIns="121900" rtlCol="0" anchor="t" anchorCtr="0">
            <a:normAutofit/>
          </a:bodyPr>
          <a:lstStyle/>
          <a:p>
            <a:pPr marL="0" indent="0">
              <a:lnSpc>
                <a:spcPct val="100000"/>
              </a:lnSpc>
              <a:buNone/>
            </a:pPr>
            <a:r>
              <a:rPr lang="en" i="1" dirty="0"/>
              <a:t>Broad-range generalist + Deep expertise</a:t>
            </a:r>
            <a:endParaRPr i="1" dirty="0"/>
          </a:p>
          <a:p>
            <a:pPr marL="0" indent="0">
              <a:lnSpc>
                <a:spcPct val="100000"/>
              </a:lnSpc>
              <a:buNone/>
            </a:pPr>
            <a:endParaRPr i="1" dirty="0"/>
          </a:p>
          <a:p>
            <a:pPr marL="0" indent="0">
              <a:lnSpc>
                <a:spcPct val="100000"/>
              </a:lnSpc>
              <a:buNone/>
            </a:pPr>
            <a:r>
              <a:rPr lang="en" dirty="0"/>
              <a:t>Example:</a:t>
            </a:r>
            <a:endParaRPr dirty="0"/>
          </a:p>
          <a:p>
            <a:pPr>
              <a:lnSpc>
                <a:spcPct val="100000"/>
              </a:lnSpc>
            </a:pPr>
            <a:r>
              <a:rPr lang="en" dirty="0"/>
              <a:t>Basic skills of software engineering, business, distributed computing, and communication</a:t>
            </a:r>
            <a:endParaRPr dirty="0"/>
          </a:p>
          <a:p>
            <a:pPr>
              <a:lnSpc>
                <a:spcPct val="100000"/>
              </a:lnSpc>
            </a:pPr>
            <a:r>
              <a:rPr lang="en" dirty="0"/>
              <a:t>Deep skills in deep neural networks (technique) and medical systems (domain)</a:t>
            </a:r>
            <a:endParaRPr dirty="0"/>
          </a:p>
          <a:p>
            <a:pPr marL="0" indent="0">
              <a:spcAft>
                <a:spcPts val="1600"/>
              </a:spcAft>
              <a:buNone/>
            </a:pPr>
            <a:endParaRPr dirty="0"/>
          </a:p>
        </p:txBody>
      </p:sp>
      <p:sp>
        <p:nvSpPr>
          <p:cNvPr id="217" name="Google Shape;217;p36"/>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
              <a:pPr/>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7"/>
          <p:cNvSpPr txBox="1">
            <a:spLocks noGrp="1"/>
          </p:cNvSpPr>
          <p:nvPr>
            <p:ph type="title"/>
          </p:nvPr>
        </p:nvSpPr>
        <p:spPr>
          <a:xfrm>
            <a:off x="415600" y="703434"/>
            <a:ext cx="11360800" cy="763600"/>
          </a:xfrm>
          <a:prstGeom prst="rect">
            <a:avLst/>
          </a:prstGeom>
        </p:spPr>
        <p:txBody>
          <a:bodyPr spcFirstLastPara="1" vert="horz" wrap="square" lIns="121900" tIns="121900" rIns="121900" bIns="121900" rtlCol="0" anchor="t" anchorCtr="0">
            <a:normAutofit fontScale="90000"/>
          </a:bodyPr>
          <a:lstStyle/>
          <a:p>
            <a:r>
              <a:rPr lang="en" dirty="0">
                <a:solidFill>
                  <a:srgbClr val="FF0000"/>
                </a:solidFill>
              </a:rPr>
              <a:t>Latest Buzzword: </a:t>
            </a:r>
            <a:r>
              <a:rPr lang="en" b="1" dirty="0">
                <a:solidFill>
                  <a:srgbClr val="FF0000"/>
                </a:solidFill>
              </a:rPr>
              <a:t>π</a:t>
            </a:r>
            <a:r>
              <a:rPr lang="en" dirty="0">
                <a:solidFill>
                  <a:srgbClr val="FF0000"/>
                </a:solidFill>
              </a:rPr>
              <a:t>-Shaped People</a:t>
            </a:r>
            <a:endParaRPr dirty="0">
              <a:solidFill>
                <a:srgbClr val="FF0000"/>
              </a:solidFill>
            </a:endParaRPr>
          </a:p>
        </p:txBody>
      </p:sp>
      <p:sp>
        <p:nvSpPr>
          <p:cNvPr id="226" name="Google Shape;226;p37"/>
          <p:cNvSpPr txBox="1">
            <a:spLocks noGrp="1"/>
          </p:cNvSpPr>
          <p:nvPr>
            <p:ph type="body" idx="1"/>
          </p:nvPr>
        </p:nvSpPr>
        <p:spPr>
          <a:xfrm>
            <a:off x="3876200" y="1333433"/>
            <a:ext cx="4439600" cy="4720400"/>
          </a:xfrm>
          <a:prstGeom prst="rect">
            <a:avLst/>
          </a:prstGeom>
        </p:spPr>
        <p:txBody>
          <a:bodyPr spcFirstLastPara="1" vert="horz" wrap="square" lIns="121900" tIns="121900" rIns="121900" bIns="121900" rtlCol="0" anchor="t" anchorCtr="0">
            <a:normAutofit/>
          </a:bodyPr>
          <a:lstStyle/>
          <a:p>
            <a:pPr marL="0" indent="0" algn="ctr">
              <a:lnSpc>
                <a:spcPct val="100000"/>
              </a:lnSpc>
              <a:buClr>
                <a:schemeClr val="dk1"/>
              </a:buClr>
              <a:buSzPts val="1100"/>
              <a:buNone/>
            </a:pPr>
            <a:r>
              <a:rPr lang="en" sz="26666" b="1"/>
              <a:t>π</a:t>
            </a:r>
            <a:endParaRPr sz="26666"/>
          </a:p>
        </p:txBody>
      </p:sp>
      <p:sp>
        <p:nvSpPr>
          <p:cNvPr id="227" name="Google Shape;227;p37"/>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
              <a:pPr/>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1"/>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Appreciating Data</a:t>
            </a:r>
            <a:endParaRPr/>
          </a:p>
        </p:txBody>
      </p:sp>
      <p:sp>
        <p:nvSpPr>
          <p:cNvPr id="55" name="Google Shape;55;p11"/>
          <p:cNvSpPr txBox="1">
            <a:spLocks noGrp="1"/>
          </p:cNvSpPr>
          <p:nvPr>
            <p:ph type="body" idx="1"/>
          </p:nvPr>
        </p:nvSpPr>
        <p:spPr>
          <a:xfrm>
            <a:off x="609600" y="1890400"/>
            <a:ext cx="10972800" cy="4967600"/>
          </a:xfrm>
          <a:prstGeom prst="rect">
            <a:avLst/>
          </a:prstGeom>
        </p:spPr>
        <p:txBody>
          <a:bodyPr spcFirstLastPara="1" vert="horz" wrap="square" lIns="121900" tIns="121900" rIns="121900" bIns="121900" rtlCol="0" anchor="t" anchorCtr="0">
            <a:noAutofit/>
          </a:bodyPr>
          <a:lstStyle/>
          <a:p>
            <a:pPr marL="0" indent="0">
              <a:buNone/>
            </a:pPr>
            <a:r>
              <a:rPr lang="en" dirty="0"/>
              <a:t>Computer Scientists do not naturally appreciate data: it’s just stuff to run through a program.</a:t>
            </a:r>
            <a:endParaRPr dirty="0"/>
          </a:p>
          <a:p>
            <a:pPr marL="0" indent="0">
              <a:buNone/>
            </a:pPr>
            <a:r>
              <a:rPr lang="en" dirty="0"/>
              <a:t>The usual way to test algorithm performance is to run the implementation on “random data”.</a:t>
            </a:r>
            <a:endParaRPr dirty="0"/>
          </a:p>
          <a:p>
            <a:pPr marL="0" indent="0">
              <a:buNone/>
            </a:pPr>
            <a:r>
              <a:rPr lang="en" dirty="0">
                <a:solidFill>
                  <a:srgbClr val="0000FF"/>
                </a:solidFill>
              </a:rPr>
              <a:t>But interesting data sets are a scarce resource, which requires hard work and imagination to obtain.</a:t>
            </a:r>
            <a:endParaRPr dirty="0">
              <a:solidFill>
                <a:srgbClr val="0000FF"/>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2"/>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Computer vs. Real Scientists (1)</a:t>
            </a:r>
            <a:endParaRPr/>
          </a:p>
        </p:txBody>
      </p:sp>
      <p:sp>
        <p:nvSpPr>
          <p:cNvPr id="61" name="Google Shape;61;p12"/>
          <p:cNvSpPr txBox="1">
            <a:spLocks noGrp="1"/>
          </p:cNvSpPr>
          <p:nvPr>
            <p:ph type="body" idx="1"/>
          </p:nvPr>
        </p:nvSpPr>
        <p:spPr>
          <a:xfrm>
            <a:off x="415600" y="2010766"/>
            <a:ext cx="11360800" cy="4720400"/>
          </a:xfrm>
          <a:prstGeom prst="rect">
            <a:avLst/>
          </a:prstGeom>
        </p:spPr>
        <p:txBody>
          <a:bodyPr spcFirstLastPara="1" vert="horz" wrap="square" lIns="121900" tIns="121900" rIns="121900" bIns="121900" rtlCol="0" anchor="t" anchorCtr="0">
            <a:noAutofit/>
          </a:bodyPr>
          <a:lstStyle/>
          <a:p>
            <a:r>
              <a:rPr lang="en" dirty="0"/>
              <a:t>Scientists strive to understand the complicated and messy natural world, while computer scientists build their own clean and organized virtual worlds. Thus:</a:t>
            </a:r>
            <a:endParaRPr dirty="0"/>
          </a:p>
          <a:p>
            <a:pPr>
              <a:spcBef>
                <a:spcPts val="0"/>
              </a:spcBef>
            </a:pPr>
            <a:r>
              <a:rPr lang="en" dirty="0"/>
              <a:t>Nothing is ever completely true or false in science, while everything is either true or false in Computer Science / Mathematics.</a:t>
            </a:r>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3"/>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Computer vs. Real Scientists (2)</a:t>
            </a:r>
            <a:endParaRPr/>
          </a:p>
        </p:txBody>
      </p:sp>
      <p:sp>
        <p:nvSpPr>
          <p:cNvPr id="67" name="Google Shape;67;p13"/>
          <p:cNvSpPr txBox="1">
            <a:spLocks noGrp="1"/>
          </p:cNvSpPr>
          <p:nvPr>
            <p:ph type="body" idx="1"/>
          </p:nvPr>
        </p:nvSpPr>
        <p:spPr>
          <a:xfrm>
            <a:off x="415600" y="1886588"/>
            <a:ext cx="11360800" cy="4720400"/>
          </a:xfrm>
          <a:prstGeom prst="rect">
            <a:avLst/>
          </a:prstGeom>
        </p:spPr>
        <p:txBody>
          <a:bodyPr spcFirstLastPara="1" vert="horz" wrap="square" lIns="121900" tIns="121900" rIns="121900" bIns="121900" rtlCol="0" anchor="t" anchorCtr="0">
            <a:noAutofit/>
          </a:bodyPr>
          <a:lstStyle/>
          <a:p>
            <a:r>
              <a:rPr lang="en" dirty="0"/>
              <a:t>Scientists are data-driven, while computer scientists are algorithm-driven.</a:t>
            </a:r>
            <a:endParaRPr dirty="0"/>
          </a:p>
          <a:p>
            <a:pPr>
              <a:spcBef>
                <a:spcPts val="0"/>
              </a:spcBef>
            </a:pPr>
            <a:r>
              <a:rPr lang="en" dirty="0"/>
              <a:t>Scientists obsess about discovering things, which computer scientists invent rather than discover.</a:t>
            </a:r>
            <a:endParaRPr dirty="0"/>
          </a:p>
          <a:p>
            <a:pPr>
              <a:spcBef>
                <a:spcPts val="0"/>
              </a:spcBef>
            </a:pPr>
            <a:r>
              <a:rPr lang="en" dirty="0"/>
              <a:t>Scientists are comfortable with the idea that data has errors; computer scientists are not.</a:t>
            </a:r>
            <a:endParaRPr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4"/>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Genius vs. Wisdom</a:t>
            </a:r>
            <a:endParaRPr/>
          </a:p>
        </p:txBody>
      </p:sp>
      <p:sp>
        <p:nvSpPr>
          <p:cNvPr id="73" name="Google Shape;73;p14"/>
          <p:cNvSpPr txBox="1">
            <a:spLocks noGrp="1"/>
          </p:cNvSpPr>
          <p:nvPr>
            <p:ph type="body" idx="1"/>
          </p:nvPr>
        </p:nvSpPr>
        <p:spPr>
          <a:xfrm>
            <a:off x="609600" y="1890400"/>
            <a:ext cx="10972800" cy="4967600"/>
          </a:xfrm>
          <a:prstGeom prst="rect">
            <a:avLst/>
          </a:prstGeom>
        </p:spPr>
        <p:txBody>
          <a:bodyPr spcFirstLastPara="1" vert="horz" wrap="square" lIns="121900" tIns="121900" rIns="121900" bIns="121900" rtlCol="0" anchor="t" anchorCtr="0">
            <a:noAutofit/>
          </a:bodyPr>
          <a:lstStyle/>
          <a:p>
            <a:pPr marL="0" indent="0">
              <a:buNone/>
            </a:pPr>
            <a:r>
              <a:rPr lang="en" dirty="0"/>
              <a:t>Software developers are hired to produce code.</a:t>
            </a:r>
            <a:endParaRPr dirty="0"/>
          </a:p>
          <a:p>
            <a:pPr marL="0" indent="0">
              <a:buNone/>
            </a:pPr>
            <a:r>
              <a:rPr lang="en" dirty="0"/>
              <a:t>Data Scientists are hired to produce insights.</a:t>
            </a:r>
            <a:endParaRPr dirty="0"/>
          </a:p>
          <a:p>
            <a:pPr marL="0" indent="0">
              <a:buNone/>
            </a:pPr>
            <a:r>
              <a:rPr lang="en" dirty="0">
                <a:solidFill>
                  <a:srgbClr val="FF0000"/>
                </a:solidFill>
              </a:rPr>
              <a:t>Genius shows in finding the right answer!!!</a:t>
            </a:r>
            <a:endParaRPr dirty="0">
              <a:solidFill>
                <a:srgbClr val="FF0000"/>
              </a:solidFill>
            </a:endParaRPr>
          </a:p>
          <a:p>
            <a:pPr marL="0" indent="0">
              <a:buNone/>
            </a:pPr>
            <a:r>
              <a:rPr lang="en" dirty="0">
                <a:solidFill>
                  <a:srgbClr val="FF0000"/>
                </a:solidFill>
              </a:rPr>
              <a:t>Wisdom shows in avoiding the wrong answers.</a:t>
            </a:r>
            <a:endParaRPr dirty="0">
              <a:solidFill>
                <a:srgbClr val="FF0000"/>
              </a:solidFill>
            </a:endParaRPr>
          </a:p>
          <a:p>
            <a:pPr marL="0" indent="0">
              <a:buNone/>
            </a:pPr>
            <a:r>
              <a:rPr lang="en" dirty="0"/>
              <a:t>Data science (like most things) benefits more from wisdom than from genius.</a:t>
            </a:r>
            <a:endParaRPr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Developing Wisdom</a:t>
            </a:r>
            <a:endParaRPr/>
          </a:p>
        </p:txBody>
      </p:sp>
      <p:sp>
        <p:nvSpPr>
          <p:cNvPr id="79" name="Google Shape;79;p15"/>
          <p:cNvSpPr txBox="1">
            <a:spLocks noGrp="1"/>
          </p:cNvSpPr>
          <p:nvPr>
            <p:ph type="body" idx="1"/>
          </p:nvPr>
        </p:nvSpPr>
        <p:spPr>
          <a:xfrm>
            <a:off x="415600" y="1886588"/>
            <a:ext cx="11360800" cy="4720400"/>
          </a:xfrm>
          <a:prstGeom prst="rect">
            <a:avLst/>
          </a:prstGeom>
        </p:spPr>
        <p:txBody>
          <a:bodyPr spcFirstLastPara="1" vert="horz" wrap="square" lIns="121900" tIns="121900" rIns="121900" bIns="121900" rtlCol="0" anchor="t" anchorCtr="0">
            <a:noAutofit/>
          </a:bodyPr>
          <a:lstStyle/>
          <a:p>
            <a:r>
              <a:rPr lang="en" dirty="0"/>
              <a:t>Wisdom comes from experience.</a:t>
            </a:r>
            <a:endParaRPr dirty="0"/>
          </a:p>
          <a:p>
            <a:pPr>
              <a:spcBef>
                <a:spcPts val="0"/>
              </a:spcBef>
            </a:pPr>
            <a:r>
              <a:rPr lang="en" dirty="0"/>
              <a:t>Wisdom comes from general knowledge.</a:t>
            </a:r>
            <a:endParaRPr dirty="0"/>
          </a:p>
          <a:p>
            <a:pPr>
              <a:spcBef>
                <a:spcPts val="0"/>
              </a:spcBef>
            </a:pPr>
            <a:r>
              <a:rPr lang="en" dirty="0"/>
              <a:t>Wisdom comes from listening to others.</a:t>
            </a:r>
            <a:endParaRPr dirty="0"/>
          </a:p>
          <a:p>
            <a:pPr>
              <a:spcBef>
                <a:spcPts val="0"/>
              </a:spcBef>
            </a:pPr>
            <a:r>
              <a:rPr lang="en" dirty="0"/>
              <a:t>Wisdom comes from humility, observing how often you have been wrong and why/how.</a:t>
            </a:r>
            <a:endParaRPr dirty="0"/>
          </a:p>
          <a:p>
            <a:pPr marL="0" indent="0">
              <a:buNone/>
            </a:pPr>
            <a:r>
              <a:rPr lang="en" dirty="0"/>
              <a:t>I seek pass on wisdom, through my experience on the difficulty of making good predictions.</a:t>
            </a:r>
            <a:endParaRPr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Developing Curiosity</a:t>
            </a:r>
            <a:endParaRPr/>
          </a:p>
        </p:txBody>
      </p:sp>
      <p:sp>
        <p:nvSpPr>
          <p:cNvPr id="85" name="Google Shape;85;p16"/>
          <p:cNvSpPr txBox="1">
            <a:spLocks noGrp="1"/>
          </p:cNvSpPr>
          <p:nvPr>
            <p:ph type="body" idx="1"/>
          </p:nvPr>
        </p:nvSpPr>
        <p:spPr>
          <a:xfrm>
            <a:off x="415600" y="1999477"/>
            <a:ext cx="11360800" cy="4720400"/>
          </a:xfrm>
          <a:prstGeom prst="rect">
            <a:avLst/>
          </a:prstGeom>
        </p:spPr>
        <p:txBody>
          <a:bodyPr spcFirstLastPara="1" vert="horz" wrap="square" lIns="121900" tIns="121900" rIns="121900" bIns="121900" rtlCol="0" anchor="t" anchorCtr="0">
            <a:noAutofit/>
          </a:bodyPr>
          <a:lstStyle/>
          <a:p>
            <a:r>
              <a:rPr lang="en" dirty="0"/>
              <a:t>The good data scientist develops a curiosity about the domain/application they are working in.</a:t>
            </a:r>
            <a:endParaRPr dirty="0"/>
          </a:p>
          <a:p>
            <a:pPr>
              <a:spcBef>
                <a:spcPts val="0"/>
              </a:spcBef>
            </a:pPr>
            <a:r>
              <a:rPr lang="en" dirty="0"/>
              <a:t>They talk shop with the people whose data they are working on.</a:t>
            </a:r>
            <a:endParaRPr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7"/>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Asking Good Questions</a:t>
            </a:r>
            <a:endParaRPr/>
          </a:p>
        </p:txBody>
      </p:sp>
      <p:sp>
        <p:nvSpPr>
          <p:cNvPr id="91" name="Google Shape;91;p17"/>
          <p:cNvSpPr txBox="1">
            <a:spLocks noGrp="1"/>
          </p:cNvSpPr>
          <p:nvPr>
            <p:ph type="body" idx="1"/>
          </p:nvPr>
        </p:nvSpPr>
        <p:spPr>
          <a:xfrm>
            <a:off x="415600" y="1864011"/>
            <a:ext cx="11360800" cy="4720400"/>
          </a:xfrm>
          <a:prstGeom prst="rect">
            <a:avLst/>
          </a:prstGeom>
        </p:spPr>
        <p:txBody>
          <a:bodyPr spcFirstLastPara="1" vert="horz" wrap="square" lIns="121900" tIns="121900" rIns="121900" bIns="121900" rtlCol="0" anchor="t" anchorCtr="0">
            <a:noAutofit/>
          </a:bodyPr>
          <a:lstStyle/>
          <a:p>
            <a:pPr marL="0" indent="0">
              <a:buClr>
                <a:srgbClr val="000000"/>
              </a:buClr>
              <a:buSzPts val="1100"/>
              <a:buNone/>
            </a:pPr>
            <a:r>
              <a:rPr lang="en" dirty="0"/>
              <a:t>Software developers are not encouraged to ask questions, but data scientists are:</a:t>
            </a:r>
            <a:endParaRPr dirty="0"/>
          </a:p>
          <a:p>
            <a:r>
              <a:rPr lang="en" dirty="0"/>
              <a:t>What exciting things might you be able to learn from a given data set?</a:t>
            </a:r>
            <a:endParaRPr dirty="0"/>
          </a:p>
          <a:p>
            <a:pPr>
              <a:spcBef>
                <a:spcPts val="0"/>
              </a:spcBef>
            </a:pPr>
            <a:r>
              <a:rPr lang="en" dirty="0"/>
              <a:t>What things do you/your people really want to know?</a:t>
            </a:r>
            <a:endParaRPr dirty="0"/>
          </a:p>
          <a:p>
            <a:pPr>
              <a:spcBef>
                <a:spcPts val="0"/>
              </a:spcBef>
            </a:pPr>
            <a:r>
              <a:rPr lang="en" dirty="0"/>
              <a:t>What data sets might get you there?</a:t>
            </a:r>
            <a:endParaRPr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Let’s Practice Asking Questions!</a:t>
            </a:r>
            <a:endParaRPr/>
          </a:p>
        </p:txBody>
      </p:sp>
      <p:sp>
        <p:nvSpPr>
          <p:cNvPr id="97" name="Google Shape;97;p18"/>
          <p:cNvSpPr txBox="1">
            <a:spLocks noGrp="1"/>
          </p:cNvSpPr>
          <p:nvPr>
            <p:ph type="body" idx="1"/>
          </p:nvPr>
        </p:nvSpPr>
        <p:spPr>
          <a:xfrm>
            <a:off x="415600" y="1976899"/>
            <a:ext cx="11360800" cy="4720400"/>
          </a:xfrm>
          <a:prstGeom prst="rect">
            <a:avLst/>
          </a:prstGeom>
        </p:spPr>
        <p:txBody>
          <a:bodyPr spcFirstLastPara="1" vert="horz" wrap="square" lIns="121900" tIns="121900" rIns="121900" bIns="121900" rtlCol="0" anchor="t" anchorCtr="0">
            <a:noAutofit/>
          </a:bodyPr>
          <a:lstStyle/>
          <a:p>
            <a:pPr marL="0" indent="0">
              <a:buNone/>
            </a:pPr>
            <a:r>
              <a:rPr lang="en" dirty="0"/>
              <a:t>Who, What, Where, When, and Why on the following datasets:</a:t>
            </a:r>
            <a:endParaRPr dirty="0"/>
          </a:p>
          <a:p>
            <a:r>
              <a:rPr lang="en" dirty="0"/>
              <a:t>Baseball-reference.com</a:t>
            </a:r>
            <a:endParaRPr dirty="0"/>
          </a:p>
          <a:p>
            <a:pPr>
              <a:spcBef>
                <a:spcPts val="0"/>
              </a:spcBef>
            </a:pPr>
            <a:r>
              <a:rPr lang="en" dirty="0"/>
              <a:t>International Movie Database (IMBb)</a:t>
            </a:r>
            <a:endParaRPr dirty="0"/>
          </a:p>
          <a:p>
            <a:pPr>
              <a:spcBef>
                <a:spcPts val="0"/>
              </a:spcBef>
            </a:pPr>
            <a:r>
              <a:rPr lang="en" dirty="0"/>
              <a:t>Google ngrams</a:t>
            </a:r>
            <a:endParaRPr dirty="0"/>
          </a:p>
          <a:p>
            <a:pPr>
              <a:spcBef>
                <a:spcPts val="0"/>
              </a:spcBef>
            </a:pPr>
            <a:r>
              <a:rPr lang="en" dirty="0"/>
              <a:t>NYC taxi cab records</a:t>
            </a:r>
            <a:endParaRPr dirty="0"/>
          </a:p>
          <a:p>
            <a:pPr marL="0" indent="0">
              <a:buNone/>
            </a:pPr>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9"/>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Baseball-Reference.com: biosketch</a:t>
            </a:r>
            <a:endParaRPr/>
          </a:p>
        </p:txBody>
      </p:sp>
      <p:sp>
        <p:nvSpPr>
          <p:cNvPr id="103" name="Google Shape;103;p19"/>
          <p:cNvSpPr txBox="1">
            <a:spLocks noGrp="1"/>
          </p:cNvSpPr>
          <p:nvPr>
            <p:ph type="body" idx="1"/>
          </p:nvPr>
        </p:nvSpPr>
        <p:spPr>
          <a:prstGeom prst="rect">
            <a:avLst/>
          </a:prstGeom>
        </p:spPr>
        <p:txBody>
          <a:bodyPr spcFirstLastPara="1" vert="horz" wrap="square" lIns="121900" tIns="121900" rIns="121900" bIns="121900" rtlCol="0" anchor="t" anchorCtr="0">
            <a:noAutofit/>
          </a:bodyPr>
          <a:lstStyle/>
          <a:p>
            <a:pPr marL="0" indent="0">
              <a:buNone/>
            </a:pPr>
            <a:endParaRPr/>
          </a:p>
        </p:txBody>
      </p:sp>
      <p:pic>
        <p:nvPicPr>
          <p:cNvPr id="104" name="Google Shape;104;p19" descr="babe-ruth1.jpg"/>
          <p:cNvPicPr preferRelativeResize="0"/>
          <p:nvPr/>
        </p:nvPicPr>
        <p:blipFill>
          <a:blip r:embed="rId3">
            <a:alphaModFix/>
          </a:blip>
          <a:stretch>
            <a:fillRect/>
          </a:stretch>
        </p:blipFill>
        <p:spPr>
          <a:xfrm>
            <a:off x="415600" y="1615798"/>
            <a:ext cx="4975799" cy="4438035"/>
          </a:xfrm>
          <a:prstGeom prst="rect">
            <a:avLst/>
          </a:prstGeom>
          <a:noFill/>
          <a:ln>
            <a:noFill/>
          </a:ln>
        </p:spPr>
      </p:pic>
      <p:pic>
        <p:nvPicPr>
          <p:cNvPr id="105" name="Google Shape;105;p19" descr="babe-ruth3.jpg"/>
          <p:cNvPicPr preferRelativeResize="0"/>
          <p:nvPr/>
        </p:nvPicPr>
        <p:blipFill>
          <a:blip r:embed="rId4">
            <a:alphaModFix/>
          </a:blip>
          <a:stretch>
            <a:fillRect/>
          </a:stretch>
        </p:blipFill>
        <p:spPr>
          <a:xfrm>
            <a:off x="5391399" y="1658131"/>
            <a:ext cx="6406699" cy="4134433"/>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0"/>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Statistical Record of Play</a:t>
            </a:r>
            <a:endParaRPr/>
          </a:p>
        </p:txBody>
      </p:sp>
      <p:sp>
        <p:nvSpPr>
          <p:cNvPr id="111" name="Google Shape;111;p20"/>
          <p:cNvSpPr txBox="1">
            <a:spLocks noGrp="1"/>
          </p:cNvSpPr>
          <p:nvPr>
            <p:ph type="body" idx="1"/>
          </p:nvPr>
        </p:nvSpPr>
        <p:spPr>
          <a:xfrm>
            <a:off x="609601" y="1896400"/>
            <a:ext cx="4261600" cy="4961600"/>
          </a:xfrm>
          <a:prstGeom prst="rect">
            <a:avLst/>
          </a:prstGeom>
        </p:spPr>
        <p:txBody>
          <a:bodyPr spcFirstLastPara="1" vert="horz" wrap="square" lIns="121900" tIns="121900" rIns="121900" bIns="121900" rtlCol="0" anchor="t" anchorCtr="0">
            <a:noAutofit/>
          </a:bodyPr>
          <a:lstStyle/>
          <a:p>
            <a:pPr marL="0" indent="0">
              <a:buNone/>
            </a:pPr>
            <a:r>
              <a:rPr lang="en" dirty="0"/>
              <a:t>Summary statistics of each years batting, pitching, and fielding record, with teams and awards.</a:t>
            </a:r>
            <a:endParaRPr dirty="0"/>
          </a:p>
        </p:txBody>
      </p:sp>
      <p:pic>
        <p:nvPicPr>
          <p:cNvPr id="112" name="Google Shape;112;p20" descr="babe-ruth2.jpg"/>
          <p:cNvPicPr preferRelativeResize="0"/>
          <p:nvPr/>
        </p:nvPicPr>
        <p:blipFill>
          <a:blip r:embed="rId3">
            <a:alphaModFix/>
          </a:blip>
          <a:stretch>
            <a:fillRect/>
          </a:stretch>
        </p:blipFill>
        <p:spPr>
          <a:xfrm>
            <a:off x="4871201" y="1600200"/>
            <a:ext cx="6711201" cy="4814299"/>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1"/>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Baseball Questions</a:t>
            </a:r>
            <a:endParaRPr/>
          </a:p>
        </p:txBody>
      </p:sp>
      <p:sp>
        <p:nvSpPr>
          <p:cNvPr id="118" name="Google Shape;118;p21"/>
          <p:cNvSpPr txBox="1">
            <a:spLocks noGrp="1"/>
          </p:cNvSpPr>
          <p:nvPr>
            <p:ph type="body" idx="1"/>
          </p:nvPr>
        </p:nvSpPr>
        <p:spPr>
          <a:xfrm>
            <a:off x="415600" y="1965610"/>
            <a:ext cx="11360800" cy="4720400"/>
          </a:xfrm>
          <a:prstGeom prst="rect">
            <a:avLst/>
          </a:prstGeom>
        </p:spPr>
        <p:txBody>
          <a:bodyPr spcFirstLastPara="1" vert="horz" wrap="square" lIns="121900" tIns="121900" rIns="121900" bIns="121900" rtlCol="0" anchor="t" anchorCtr="0">
            <a:noAutofit/>
          </a:bodyPr>
          <a:lstStyle/>
          <a:p>
            <a:r>
              <a:rPr lang="en" dirty="0"/>
              <a:t>How to best measure individual player’s skill, value or performance?</a:t>
            </a:r>
            <a:endParaRPr dirty="0"/>
          </a:p>
          <a:p>
            <a:pPr>
              <a:spcBef>
                <a:spcPts val="0"/>
              </a:spcBef>
            </a:pPr>
            <a:r>
              <a:rPr lang="en" dirty="0"/>
              <a:t>How fair do trades between teams work out?</a:t>
            </a:r>
            <a:endParaRPr dirty="0"/>
          </a:p>
          <a:p>
            <a:pPr>
              <a:spcBef>
                <a:spcPts val="0"/>
              </a:spcBef>
            </a:pPr>
            <a:r>
              <a:rPr lang="en" dirty="0"/>
              <a:t>What is the trajectory of player’s performances as they mature and age?</a:t>
            </a:r>
            <a:endParaRPr dirty="0"/>
          </a:p>
          <a:p>
            <a:pPr>
              <a:spcBef>
                <a:spcPts val="0"/>
              </a:spcBef>
            </a:pPr>
            <a:r>
              <a:rPr lang="en" dirty="0"/>
              <a:t>To what extent does batting performance correlate with the position played?</a:t>
            </a:r>
            <a:endParaRPr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2"/>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Demographic Questions</a:t>
            </a:r>
            <a:endParaRPr/>
          </a:p>
        </p:txBody>
      </p:sp>
      <p:sp>
        <p:nvSpPr>
          <p:cNvPr id="124" name="Google Shape;124;p22"/>
          <p:cNvSpPr txBox="1">
            <a:spLocks noGrp="1"/>
          </p:cNvSpPr>
          <p:nvPr>
            <p:ph type="body" idx="1"/>
          </p:nvPr>
        </p:nvSpPr>
        <p:spPr>
          <a:xfrm>
            <a:off x="280133" y="1943033"/>
            <a:ext cx="11360800" cy="4720400"/>
          </a:xfrm>
          <a:prstGeom prst="rect">
            <a:avLst/>
          </a:prstGeom>
        </p:spPr>
        <p:txBody>
          <a:bodyPr spcFirstLastPara="1" vert="horz" wrap="square" lIns="121900" tIns="121900" rIns="121900" bIns="121900" rtlCol="0" anchor="t" anchorCtr="0">
            <a:noAutofit/>
          </a:bodyPr>
          <a:lstStyle/>
          <a:p>
            <a:r>
              <a:rPr lang="en" dirty="0"/>
              <a:t>Do left-handed people have shorter lifespans than right-handers?</a:t>
            </a:r>
            <a:endParaRPr dirty="0"/>
          </a:p>
          <a:p>
            <a:pPr>
              <a:spcBef>
                <a:spcPts val="0"/>
              </a:spcBef>
            </a:pPr>
            <a:r>
              <a:rPr lang="en" dirty="0"/>
              <a:t>How often do people return to where they were born?</a:t>
            </a:r>
            <a:endParaRPr dirty="0"/>
          </a:p>
          <a:p>
            <a:pPr>
              <a:spcBef>
                <a:spcPts val="0"/>
              </a:spcBef>
            </a:pPr>
            <a:r>
              <a:rPr lang="en" dirty="0"/>
              <a:t>Do player salaries reflect past, present, or future performance?</a:t>
            </a:r>
            <a:endParaRPr dirty="0"/>
          </a:p>
          <a:p>
            <a:pPr>
              <a:spcBef>
                <a:spcPts val="0"/>
              </a:spcBef>
            </a:pPr>
            <a:r>
              <a:rPr lang="en" dirty="0"/>
              <a:t>Are heights and weights increasing in the population?</a:t>
            </a:r>
            <a:endParaRPr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3"/>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IMDb: Movie Data</a:t>
            </a:r>
            <a:endParaRPr/>
          </a:p>
        </p:txBody>
      </p:sp>
      <p:sp>
        <p:nvSpPr>
          <p:cNvPr id="130" name="Google Shape;130;p23"/>
          <p:cNvSpPr txBox="1">
            <a:spLocks noGrp="1"/>
          </p:cNvSpPr>
          <p:nvPr>
            <p:ph type="body" idx="1"/>
          </p:nvPr>
        </p:nvSpPr>
        <p:spPr>
          <a:xfrm>
            <a:off x="729800" y="1600200"/>
            <a:ext cx="10972800" cy="4967600"/>
          </a:xfrm>
          <a:prstGeom prst="rect">
            <a:avLst/>
          </a:prstGeom>
        </p:spPr>
        <p:txBody>
          <a:bodyPr spcFirstLastPara="1" vert="horz" wrap="square" lIns="121900" tIns="121900" rIns="121900" bIns="121900" rtlCol="0" anchor="t" anchorCtr="0">
            <a:noAutofit/>
          </a:bodyPr>
          <a:lstStyle/>
          <a:p>
            <a:pPr marL="0" indent="0">
              <a:buNone/>
            </a:pPr>
            <a:endParaRPr/>
          </a:p>
        </p:txBody>
      </p:sp>
      <p:pic>
        <p:nvPicPr>
          <p:cNvPr id="131" name="Google Shape;131;p23" descr="imdb1.jpg"/>
          <p:cNvPicPr preferRelativeResize="0"/>
          <p:nvPr/>
        </p:nvPicPr>
        <p:blipFill>
          <a:blip r:embed="rId3">
            <a:alphaModFix/>
          </a:blip>
          <a:stretch>
            <a:fillRect/>
          </a:stretch>
        </p:blipFill>
        <p:spPr>
          <a:xfrm>
            <a:off x="519433" y="1832567"/>
            <a:ext cx="6228568" cy="4298533"/>
          </a:xfrm>
          <a:prstGeom prst="rect">
            <a:avLst/>
          </a:prstGeom>
          <a:noFill/>
          <a:ln>
            <a:noFill/>
          </a:ln>
        </p:spPr>
      </p:pic>
      <p:pic>
        <p:nvPicPr>
          <p:cNvPr id="132" name="Google Shape;132;p23" descr="imdb2.jpg"/>
          <p:cNvPicPr preferRelativeResize="0"/>
          <p:nvPr/>
        </p:nvPicPr>
        <p:blipFill>
          <a:blip r:embed="rId4">
            <a:alphaModFix/>
          </a:blip>
          <a:stretch>
            <a:fillRect/>
          </a:stretch>
        </p:blipFill>
        <p:spPr>
          <a:xfrm>
            <a:off x="6928301" y="1752400"/>
            <a:ext cx="5093367" cy="4298533"/>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4"/>
          <p:cNvSpPr txBox="1">
            <a:spLocks noGrp="1"/>
          </p:cNvSpPr>
          <p:nvPr>
            <p:ph type="title"/>
          </p:nvPr>
        </p:nvSpPr>
        <p:spPr>
          <a:xfrm>
            <a:off x="920167" y="274637"/>
            <a:ext cx="10972800" cy="1143200"/>
          </a:xfrm>
          <a:prstGeom prst="rect">
            <a:avLst/>
          </a:prstGeom>
        </p:spPr>
        <p:txBody>
          <a:bodyPr spcFirstLastPara="1" vert="horz" wrap="square" lIns="121900" tIns="121900" rIns="121900" bIns="121900" rtlCol="0" anchor="b" anchorCtr="0">
            <a:noAutofit/>
          </a:bodyPr>
          <a:lstStyle/>
          <a:p>
            <a:r>
              <a:rPr lang="en"/>
              <a:t>IMDb: Actor Data</a:t>
            </a:r>
            <a:endParaRPr/>
          </a:p>
        </p:txBody>
      </p:sp>
      <p:sp>
        <p:nvSpPr>
          <p:cNvPr id="138" name="Google Shape;138;p24"/>
          <p:cNvSpPr txBox="1">
            <a:spLocks noGrp="1"/>
          </p:cNvSpPr>
          <p:nvPr>
            <p:ph type="body" idx="1"/>
          </p:nvPr>
        </p:nvSpPr>
        <p:spPr>
          <a:prstGeom prst="rect">
            <a:avLst/>
          </a:prstGeom>
        </p:spPr>
        <p:txBody>
          <a:bodyPr spcFirstLastPara="1" vert="horz" wrap="square" lIns="121900" tIns="121900" rIns="121900" bIns="121900" rtlCol="0" anchor="t" anchorCtr="0">
            <a:noAutofit/>
          </a:bodyPr>
          <a:lstStyle/>
          <a:p>
            <a:pPr marL="0" indent="0">
              <a:buNone/>
            </a:pPr>
            <a:endParaRPr/>
          </a:p>
        </p:txBody>
      </p:sp>
      <p:pic>
        <p:nvPicPr>
          <p:cNvPr id="139" name="Google Shape;139;p24" descr="imdb3.jpg"/>
          <p:cNvPicPr preferRelativeResize="0"/>
          <p:nvPr/>
        </p:nvPicPr>
        <p:blipFill>
          <a:blip r:embed="rId3">
            <a:alphaModFix/>
          </a:blip>
          <a:stretch>
            <a:fillRect/>
          </a:stretch>
        </p:blipFill>
        <p:spPr>
          <a:xfrm>
            <a:off x="6328782" y="1532181"/>
            <a:ext cx="5505901" cy="4564656"/>
          </a:xfrm>
          <a:prstGeom prst="rect">
            <a:avLst/>
          </a:prstGeom>
          <a:noFill/>
          <a:ln>
            <a:noFill/>
          </a:ln>
        </p:spPr>
      </p:pic>
      <p:pic>
        <p:nvPicPr>
          <p:cNvPr id="140" name="Google Shape;140;p24" descr="imdb4.jpg"/>
          <p:cNvPicPr preferRelativeResize="0"/>
          <p:nvPr/>
        </p:nvPicPr>
        <p:blipFill>
          <a:blip r:embed="rId4">
            <a:alphaModFix/>
          </a:blip>
          <a:stretch>
            <a:fillRect/>
          </a:stretch>
        </p:blipFill>
        <p:spPr>
          <a:xfrm>
            <a:off x="390516" y="1290429"/>
            <a:ext cx="5821699" cy="4754533"/>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5"/>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Movie Questions</a:t>
            </a:r>
            <a:endParaRPr/>
          </a:p>
        </p:txBody>
      </p:sp>
      <p:sp>
        <p:nvSpPr>
          <p:cNvPr id="146" name="Google Shape;146;p25"/>
          <p:cNvSpPr txBox="1">
            <a:spLocks noGrp="1"/>
          </p:cNvSpPr>
          <p:nvPr>
            <p:ph type="body" idx="1"/>
          </p:nvPr>
        </p:nvSpPr>
        <p:spPr>
          <a:xfrm>
            <a:off x="415600" y="1897877"/>
            <a:ext cx="11360800" cy="4720400"/>
          </a:xfrm>
          <a:prstGeom prst="rect">
            <a:avLst/>
          </a:prstGeom>
        </p:spPr>
        <p:txBody>
          <a:bodyPr spcFirstLastPara="1" vert="horz" wrap="square" lIns="121900" tIns="121900" rIns="121900" bIns="121900" rtlCol="0" anchor="t" anchorCtr="0">
            <a:noAutofit/>
          </a:bodyPr>
          <a:lstStyle/>
          <a:p>
            <a:r>
              <a:rPr lang="en" dirty="0"/>
              <a:t>Can we predict how well people will like a movie?  What about its gross?</a:t>
            </a:r>
            <a:endParaRPr dirty="0"/>
          </a:p>
          <a:p>
            <a:pPr>
              <a:spcBef>
                <a:spcPts val="0"/>
              </a:spcBef>
            </a:pPr>
            <a:r>
              <a:rPr lang="en" dirty="0"/>
              <a:t>What does the social network of actors look like? (Six degrees of Kevin Bacon)</a:t>
            </a:r>
            <a:endParaRPr dirty="0"/>
          </a:p>
          <a:p>
            <a:pPr>
              <a:spcBef>
                <a:spcPts val="0"/>
              </a:spcBef>
            </a:pPr>
            <a:r>
              <a:rPr lang="en" dirty="0"/>
              <a:t>What is the age distribution of actors and actresses in film?</a:t>
            </a:r>
            <a:endParaRPr dirty="0"/>
          </a:p>
          <a:p>
            <a:pPr>
              <a:spcBef>
                <a:spcPts val="0"/>
              </a:spcBef>
            </a:pPr>
            <a:r>
              <a:rPr lang="en" dirty="0"/>
              <a:t>Do stars live longer or shorter lives than the bit players or public?</a:t>
            </a:r>
            <a:endParaRPr dirty="0"/>
          </a:p>
          <a:p>
            <a:pPr marL="0" indent="0">
              <a:buNone/>
            </a:pPr>
            <a:endParaRPr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6"/>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Google Ngrams</a:t>
            </a:r>
            <a:endParaRPr/>
          </a:p>
        </p:txBody>
      </p:sp>
      <p:sp>
        <p:nvSpPr>
          <p:cNvPr id="152" name="Google Shape;152;p26"/>
          <p:cNvSpPr txBox="1">
            <a:spLocks noGrp="1"/>
          </p:cNvSpPr>
          <p:nvPr>
            <p:ph type="body" idx="1"/>
          </p:nvPr>
        </p:nvSpPr>
        <p:spPr>
          <a:xfrm>
            <a:off x="415600" y="2137600"/>
            <a:ext cx="11360800" cy="4720400"/>
          </a:xfrm>
          <a:prstGeom prst="rect">
            <a:avLst/>
          </a:prstGeom>
        </p:spPr>
        <p:txBody>
          <a:bodyPr spcFirstLastPara="1" vert="horz" wrap="square" lIns="121900" tIns="121900" rIns="121900" bIns="121900" rtlCol="0" anchor="t" anchorCtr="0">
            <a:noAutofit/>
          </a:bodyPr>
          <a:lstStyle/>
          <a:p>
            <a:r>
              <a:rPr lang="en" dirty="0"/>
              <a:t>Presents an annual time series of the frequency of every “popular” word/phrase with 1 to 5 words occurs in scanned books.</a:t>
            </a:r>
            <a:endParaRPr dirty="0"/>
          </a:p>
          <a:p>
            <a:pPr>
              <a:spcBef>
                <a:spcPts val="0"/>
              </a:spcBef>
            </a:pPr>
            <a:r>
              <a:rPr lang="en" dirty="0"/>
              <a:t>`Popular’ means appears &gt;40 times in total.</a:t>
            </a:r>
            <a:endParaRPr dirty="0"/>
          </a:p>
          <a:p>
            <a:pPr>
              <a:spcBef>
                <a:spcPts val="0"/>
              </a:spcBef>
            </a:pPr>
            <a:r>
              <a:rPr lang="en" dirty="0"/>
              <a:t>Google has scanned about 15% of all books ever published, making this resource quite comprehensive.</a:t>
            </a:r>
            <a:endParaRPr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7"/>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Google Ngram Viewer</a:t>
            </a:r>
            <a:endParaRPr/>
          </a:p>
        </p:txBody>
      </p:sp>
      <p:sp>
        <p:nvSpPr>
          <p:cNvPr id="158" name="Google Shape;158;p27"/>
          <p:cNvSpPr txBox="1">
            <a:spLocks noGrp="1"/>
          </p:cNvSpPr>
          <p:nvPr>
            <p:ph type="body" idx="1"/>
          </p:nvPr>
        </p:nvSpPr>
        <p:spPr>
          <a:prstGeom prst="rect">
            <a:avLst/>
          </a:prstGeom>
        </p:spPr>
        <p:txBody>
          <a:bodyPr spcFirstLastPara="1" vert="horz" wrap="square" lIns="121900" tIns="121900" rIns="121900" bIns="121900" rtlCol="0" anchor="t" anchorCtr="0">
            <a:noAutofit/>
          </a:bodyPr>
          <a:lstStyle/>
          <a:p>
            <a:pPr marL="0" indent="0">
              <a:buNone/>
            </a:pPr>
            <a:r>
              <a:rPr lang="en"/>
              <a:t> </a:t>
            </a:r>
            <a:endParaRPr/>
          </a:p>
        </p:txBody>
      </p:sp>
      <p:pic>
        <p:nvPicPr>
          <p:cNvPr id="159" name="Google Shape;159;p27" descr="ngrams.jpg"/>
          <p:cNvPicPr preferRelativeResize="0"/>
          <p:nvPr/>
        </p:nvPicPr>
        <p:blipFill>
          <a:blip r:embed="rId3">
            <a:alphaModFix/>
          </a:blip>
          <a:stretch>
            <a:fillRect/>
          </a:stretch>
        </p:blipFill>
        <p:spPr>
          <a:xfrm>
            <a:off x="1703067" y="1680767"/>
            <a:ext cx="8244100" cy="4676333"/>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8"/>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Ngram Questions</a:t>
            </a:r>
            <a:endParaRPr/>
          </a:p>
        </p:txBody>
      </p:sp>
      <p:sp>
        <p:nvSpPr>
          <p:cNvPr id="165" name="Google Shape;165;p28"/>
          <p:cNvSpPr txBox="1">
            <a:spLocks noGrp="1"/>
          </p:cNvSpPr>
          <p:nvPr>
            <p:ph type="body" idx="1"/>
          </p:nvPr>
        </p:nvSpPr>
        <p:spPr>
          <a:xfrm>
            <a:off x="415600" y="2055921"/>
            <a:ext cx="11360800" cy="4720400"/>
          </a:xfrm>
          <a:prstGeom prst="rect">
            <a:avLst/>
          </a:prstGeom>
        </p:spPr>
        <p:txBody>
          <a:bodyPr spcFirstLastPara="1" vert="horz" wrap="square" lIns="121900" tIns="121900" rIns="121900" bIns="121900" rtlCol="0" anchor="t" anchorCtr="0">
            <a:noAutofit/>
          </a:bodyPr>
          <a:lstStyle/>
          <a:p>
            <a:r>
              <a:rPr lang="en" dirty="0"/>
              <a:t>How has the amount of cursing changed over time?</a:t>
            </a:r>
            <a:endParaRPr dirty="0"/>
          </a:p>
          <a:p>
            <a:pPr>
              <a:spcBef>
                <a:spcPts val="0"/>
              </a:spcBef>
            </a:pPr>
            <a:r>
              <a:rPr lang="en" dirty="0"/>
              <a:t>What is the lifespan of fame and technologies? Is it increasing/decreasing?</a:t>
            </a:r>
            <a:endParaRPr dirty="0"/>
          </a:p>
          <a:p>
            <a:pPr>
              <a:spcBef>
                <a:spcPts val="0"/>
              </a:spcBef>
            </a:pPr>
            <a:r>
              <a:rPr lang="en" dirty="0"/>
              <a:t>How often do new words emerge?  Do they stay in common usage?</a:t>
            </a:r>
            <a:endParaRPr dirty="0"/>
          </a:p>
          <a:p>
            <a:pPr>
              <a:spcBef>
                <a:spcPts val="0"/>
              </a:spcBef>
            </a:pPr>
            <a:r>
              <a:rPr lang="en" dirty="0"/>
              <a:t>What words are associated with other words, i.e. can you build a language model?</a:t>
            </a:r>
            <a:endParaRPr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9"/>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NYC Taxi Cab Data</a:t>
            </a:r>
            <a:endParaRPr/>
          </a:p>
        </p:txBody>
      </p:sp>
      <p:sp>
        <p:nvSpPr>
          <p:cNvPr id="171" name="Google Shape;171;p29"/>
          <p:cNvSpPr txBox="1">
            <a:spLocks noGrp="1"/>
          </p:cNvSpPr>
          <p:nvPr>
            <p:ph type="body" idx="1"/>
          </p:nvPr>
        </p:nvSpPr>
        <p:spPr>
          <a:xfrm>
            <a:off x="327667" y="1723799"/>
            <a:ext cx="11360800" cy="4720400"/>
          </a:xfrm>
          <a:prstGeom prst="rect">
            <a:avLst/>
          </a:prstGeom>
        </p:spPr>
        <p:txBody>
          <a:bodyPr spcFirstLastPara="1" vert="horz" wrap="square" lIns="121900" tIns="121900" rIns="121900" bIns="121900" rtlCol="0" anchor="t" anchorCtr="0">
            <a:noAutofit/>
          </a:bodyPr>
          <a:lstStyle/>
          <a:p>
            <a:r>
              <a:rPr lang="en" dirty="0"/>
              <a:t>Gives driver/owner, pickup/dropoff location, and fare data for every taxi trip taken.</a:t>
            </a:r>
            <a:endParaRPr dirty="0"/>
          </a:p>
          <a:p>
            <a:pPr>
              <a:spcBef>
                <a:spcPts val="0"/>
              </a:spcBef>
            </a:pPr>
            <a:r>
              <a:rPr lang="en" dirty="0"/>
              <a:t>Data obtained from NYC via Freedom of Information Act Request (FOA)</a:t>
            </a:r>
            <a:endParaRPr dirty="0"/>
          </a:p>
        </p:txBody>
      </p:sp>
      <p:pic>
        <p:nvPicPr>
          <p:cNvPr id="172" name="Google Shape;172;p29" descr="taxi.jpg"/>
          <p:cNvPicPr preferRelativeResize="0"/>
          <p:nvPr/>
        </p:nvPicPr>
        <p:blipFill>
          <a:blip r:embed="rId3">
            <a:alphaModFix/>
          </a:blip>
          <a:stretch>
            <a:fillRect/>
          </a:stretch>
        </p:blipFill>
        <p:spPr>
          <a:xfrm>
            <a:off x="1042578" y="3758455"/>
            <a:ext cx="9569732" cy="2096067"/>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30"/>
          <p:cNvSpPr txBox="1">
            <a:spLocks noGrp="1"/>
          </p:cNvSpPr>
          <p:nvPr>
            <p:ph type="title"/>
          </p:nvPr>
        </p:nvSpPr>
        <p:spPr>
          <a:prstGeom prst="rect">
            <a:avLst/>
          </a:prstGeom>
        </p:spPr>
        <p:txBody>
          <a:bodyPr spcFirstLastPara="1" vert="horz" wrap="square" lIns="121900" tIns="121900" rIns="121900" bIns="121900" rtlCol="0" anchor="b" anchorCtr="0">
            <a:noAutofit/>
          </a:bodyPr>
          <a:lstStyle/>
          <a:p>
            <a:r>
              <a:rPr lang="en"/>
              <a:t>Taxicab Questions</a:t>
            </a:r>
            <a:endParaRPr/>
          </a:p>
        </p:txBody>
      </p:sp>
      <p:sp>
        <p:nvSpPr>
          <p:cNvPr id="178" name="Google Shape;178;p30"/>
          <p:cNvSpPr txBox="1">
            <a:spLocks noGrp="1"/>
          </p:cNvSpPr>
          <p:nvPr>
            <p:ph type="body" idx="1"/>
          </p:nvPr>
        </p:nvSpPr>
        <p:spPr>
          <a:xfrm>
            <a:off x="415600" y="1875300"/>
            <a:ext cx="11360800" cy="4720400"/>
          </a:xfrm>
          <a:prstGeom prst="rect">
            <a:avLst/>
          </a:prstGeom>
        </p:spPr>
        <p:txBody>
          <a:bodyPr spcFirstLastPara="1" vert="horz" wrap="square" lIns="121900" tIns="121900" rIns="121900" bIns="121900" rtlCol="0" anchor="t" anchorCtr="0">
            <a:noAutofit/>
          </a:bodyPr>
          <a:lstStyle/>
          <a:p>
            <a:r>
              <a:rPr lang="en" dirty="0"/>
              <a:t>How much do drivers make each night?</a:t>
            </a:r>
            <a:endParaRPr dirty="0"/>
          </a:p>
          <a:p>
            <a:pPr>
              <a:spcBef>
                <a:spcPts val="0"/>
              </a:spcBef>
            </a:pPr>
            <a:r>
              <a:rPr lang="en" dirty="0"/>
              <a:t>How far do they travel?</a:t>
            </a:r>
            <a:endParaRPr dirty="0"/>
          </a:p>
          <a:p>
            <a:pPr>
              <a:spcBef>
                <a:spcPts val="0"/>
              </a:spcBef>
            </a:pPr>
            <a:r>
              <a:rPr lang="en" dirty="0"/>
              <a:t>How much slower is traffic during rush hour?</a:t>
            </a:r>
            <a:endParaRPr dirty="0"/>
          </a:p>
          <a:p>
            <a:pPr>
              <a:spcBef>
                <a:spcPts val="0"/>
              </a:spcBef>
            </a:pPr>
            <a:r>
              <a:rPr lang="en" dirty="0"/>
              <a:t>Where are people traveling to/from at different times of the day?</a:t>
            </a:r>
            <a:endParaRPr dirty="0"/>
          </a:p>
          <a:p>
            <a:pPr>
              <a:spcBef>
                <a:spcPts val="0"/>
              </a:spcBef>
            </a:pPr>
            <a:r>
              <a:rPr lang="en" dirty="0"/>
              <a:t>Do faster drivers get tipped better?</a:t>
            </a:r>
            <a:endParaRPr dirty="0"/>
          </a:p>
          <a:p>
            <a:pPr>
              <a:spcBef>
                <a:spcPts val="0"/>
              </a:spcBef>
            </a:pPr>
            <a:r>
              <a:rPr lang="en" dirty="0"/>
              <a:t>Where should drivers go to pick up their next fare?</a:t>
            </a:r>
            <a:endParaRPr dirty="0"/>
          </a:p>
        </p:txBody>
      </p:sp>
      <p:sp>
        <p:nvSpPr>
          <p:cNvPr id="3" name="TextBox 2">
            <a:extLst>
              <a:ext uri="{FF2B5EF4-FFF2-40B4-BE49-F238E27FC236}">
                <a16:creationId xmlns:a16="http://schemas.microsoft.com/office/drawing/2014/main" id="{787BC62A-0BED-7399-7E54-95B06B104B1E}"/>
              </a:ext>
            </a:extLst>
          </p:cNvPr>
          <p:cNvSpPr txBox="1"/>
          <p:nvPr/>
        </p:nvSpPr>
        <p:spPr>
          <a:xfrm>
            <a:off x="3048000" y="3244334"/>
            <a:ext cx="6096000" cy="369332"/>
          </a:xfrm>
          <a:prstGeom prst="rect">
            <a:avLst/>
          </a:prstGeom>
          <a:noFill/>
        </p:spPr>
        <p:txBody>
          <a:bodyPr wrap="square">
            <a:spAutoFit/>
          </a:bodyPr>
          <a:lstStyle/>
          <a:p>
            <a:r>
              <a:rPr lang="en-CA" b="0" dirty="0">
                <a:effectLst/>
              </a:rPr>
              <a:t> </a:t>
            </a:r>
            <a:endParaRPr lang="en-CA" dirty="0"/>
          </a:p>
        </p:txBody>
      </p:sp>
      <p:sp>
        <p:nvSpPr>
          <p:cNvPr id="5" name="TextBox 4">
            <a:extLst>
              <a:ext uri="{FF2B5EF4-FFF2-40B4-BE49-F238E27FC236}">
                <a16:creationId xmlns:a16="http://schemas.microsoft.com/office/drawing/2014/main" id="{4F114430-B7B4-1B2B-8B50-0E20F267F5F3}"/>
              </a:ext>
            </a:extLst>
          </p:cNvPr>
          <p:cNvSpPr txBox="1"/>
          <p:nvPr/>
        </p:nvSpPr>
        <p:spPr>
          <a:xfrm>
            <a:off x="3048000" y="3244334"/>
            <a:ext cx="6096000" cy="369332"/>
          </a:xfrm>
          <a:prstGeom prst="rect">
            <a:avLst/>
          </a:prstGeom>
          <a:noFill/>
        </p:spPr>
        <p:txBody>
          <a:bodyPr wrap="square">
            <a:spAutoFit/>
          </a:bodyPr>
          <a:lstStyle/>
          <a:p>
            <a:r>
              <a:rPr lang="en-CA" b="0" dirty="0">
                <a:effectLst/>
              </a:rPr>
              <a:t> </a:t>
            </a:r>
            <a:endParaRPr lang="en-CA"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DAEBD-8ACA-1940-9581-140D6070B1E6}"/>
              </a:ext>
            </a:extLst>
          </p:cNvPr>
          <p:cNvSpPr>
            <a:spLocks noGrp="1"/>
          </p:cNvSpPr>
          <p:nvPr>
            <p:ph type="title"/>
          </p:nvPr>
        </p:nvSpPr>
        <p:spPr/>
        <p:txBody>
          <a:bodyPr>
            <a:normAutofit fontScale="90000"/>
          </a:bodyPr>
          <a:lstStyle/>
          <a:p>
            <a:r>
              <a:rPr lang="en-CA" dirty="0"/>
              <a:t>Resources </a:t>
            </a:r>
          </a:p>
        </p:txBody>
      </p:sp>
      <p:sp>
        <p:nvSpPr>
          <p:cNvPr id="3" name="Text Placeholder 2">
            <a:extLst>
              <a:ext uri="{FF2B5EF4-FFF2-40B4-BE49-F238E27FC236}">
                <a16:creationId xmlns:a16="http://schemas.microsoft.com/office/drawing/2014/main" id="{769DFCAC-1319-6DC5-6C70-195B01321F4A}"/>
              </a:ext>
            </a:extLst>
          </p:cNvPr>
          <p:cNvSpPr>
            <a:spLocks noGrp="1"/>
          </p:cNvSpPr>
          <p:nvPr>
            <p:ph type="body" idx="1"/>
          </p:nvPr>
        </p:nvSpPr>
        <p:spPr/>
        <p:txBody>
          <a:bodyPr/>
          <a:lstStyle/>
          <a:p>
            <a:pPr marL="118531" indent="0">
              <a:buNone/>
            </a:pPr>
            <a:endParaRPr lang="en-CA" dirty="0"/>
          </a:p>
          <a:p>
            <a:pPr marL="118531" indent="0">
              <a:buNone/>
            </a:pPr>
            <a:r>
              <a:rPr lang="en-CA" dirty="0"/>
              <a:t>I would like to thank </a:t>
            </a:r>
            <a:r>
              <a:rPr lang="en-CA" b="1" dirty="0"/>
              <a:t>Dr. Steven S. </a:t>
            </a:r>
            <a:r>
              <a:rPr lang="en-CA" b="1" dirty="0" err="1"/>
              <a:t>Skiena</a:t>
            </a:r>
            <a:r>
              <a:rPr lang="en-CA" dirty="0"/>
              <a:t>, </a:t>
            </a:r>
            <a:r>
              <a:rPr lang="en-CA" b="1" dirty="0"/>
              <a:t>Dr. Christian Kästner</a:t>
            </a:r>
            <a:r>
              <a:rPr lang="en-CA" dirty="0"/>
              <a:t>, and </a:t>
            </a:r>
            <a:r>
              <a:rPr lang="en-CA" b="1" dirty="0"/>
              <a:t>Chip Huyen</a:t>
            </a:r>
            <a:r>
              <a:rPr lang="en-CA" dirty="0"/>
              <a:t> for the valuable resources they have provided through their coursework in machine learning and data science. Their materials have been instrumental in shaping my teaching in these areas.</a:t>
            </a:r>
          </a:p>
          <a:p>
            <a:pPr lvl="0"/>
            <a:r>
              <a:rPr lang="en-CA" dirty="0"/>
              <a:t>The Data Science Design Manual, Steven S. </a:t>
            </a:r>
            <a:r>
              <a:rPr lang="en-CA" dirty="0" err="1"/>
              <a:t>Skiena</a:t>
            </a:r>
            <a:endParaRPr lang="en-CA" dirty="0"/>
          </a:p>
          <a:p>
            <a:pPr lvl="0"/>
            <a:r>
              <a:rPr lang="en-CA" dirty="0"/>
              <a:t>Learning From Data, by Yaser S. Abu-Mostafa, Malik </a:t>
            </a:r>
            <a:r>
              <a:rPr lang="en-CA" dirty="0" err="1"/>
              <a:t>Magdon</a:t>
            </a:r>
            <a:r>
              <a:rPr lang="en-CA" dirty="0"/>
              <a:t>-Ismail, Hsuan-Tien Lin</a:t>
            </a:r>
          </a:p>
          <a:p>
            <a:pPr lvl="0"/>
            <a:r>
              <a:rPr lang="en-CA" dirty="0"/>
              <a:t>Machine Learning in Production: From Models to Products by Christian Kästner</a:t>
            </a:r>
          </a:p>
          <a:p>
            <a:pPr lvl="0"/>
            <a:r>
              <a:rPr lang="en-CA" dirty="0"/>
              <a:t>Designing Machine Learning Systems, Chip Huyen</a:t>
            </a:r>
          </a:p>
          <a:p>
            <a:pPr marL="118531" indent="0">
              <a:buNone/>
            </a:pPr>
            <a:endParaRPr lang="en-CA" dirty="0"/>
          </a:p>
        </p:txBody>
      </p:sp>
    </p:spTree>
    <p:extLst>
      <p:ext uri="{BB962C8B-B14F-4D97-AF65-F5344CB8AC3E}">
        <p14:creationId xmlns:p14="http://schemas.microsoft.com/office/powerpoint/2010/main" val="206160159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5335</TotalTime>
  <Words>12564</Words>
  <Application>Microsoft Office PowerPoint</Application>
  <PresentationFormat>Widescreen</PresentationFormat>
  <Paragraphs>1001</Paragraphs>
  <Slides>63</Slides>
  <Notes>55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63</vt:i4>
      </vt:variant>
    </vt:vector>
  </HeadingPairs>
  <TitlesOfParts>
    <vt:vector size="68" baseType="lpstr">
      <vt:lpstr>Aptos</vt:lpstr>
      <vt:lpstr>Calibri</vt:lpstr>
      <vt:lpstr>Calibri Light</vt:lpstr>
      <vt:lpstr>Nunito Sans</vt:lpstr>
      <vt:lpstr>Retrospect</vt:lpstr>
      <vt:lpstr>Introduction</vt:lpstr>
      <vt:lpstr>My introduction</vt:lpstr>
      <vt:lpstr>Your Introduction!</vt:lpstr>
      <vt:lpstr>What is Data Science? </vt:lpstr>
      <vt:lpstr>Why Data Science?</vt:lpstr>
      <vt:lpstr>Data is not new to computing </vt:lpstr>
      <vt:lpstr>Data Science is not Machine Learning</vt:lpstr>
      <vt:lpstr>My experience with data </vt:lpstr>
      <vt:lpstr>Course Project</vt:lpstr>
      <vt:lpstr>Course ChatGPT policy</vt:lpstr>
      <vt:lpstr>Use it before you lose it!</vt:lpstr>
      <vt:lpstr>Generative AI and Data Science</vt:lpstr>
      <vt:lpstr>Academic Grading </vt:lpstr>
      <vt:lpstr>Assignments</vt:lpstr>
      <vt:lpstr>Labs</vt:lpstr>
      <vt:lpstr>Quiz</vt:lpstr>
      <vt:lpstr>Group project</vt:lpstr>
      <vt:lpstr>Prerequisites</vt:lpstr>
      <vt:lpstr>Academic honesty</vt:lpstr>
      <vt:lpstr>Case Study: Music Generation</vt:lpstr>
      <vt:lpstr>Context: Music Generation Research</vt:lpstr>
      <vt:lpstr>The Startup Idea</vt:lpstr>
      <vt:lpstr>PowerPoint Presentation</vt:lpstr>
      <vt:lpstr>Breakout: Likely challenges in building commercial product?</vt:lpstr>
      <vt:lpstr>Examples for discussion</vt:lpstr>
      <vt:lpstr>Examples for discussion 2</vt:lpstr>
      <vt:lpstr>Examples for discussion 3</vt:lpstr>
      <vt:lpstr>Development Teams</vt:lpstr>
      <vt:lpstr>PowerPoint Presentation</vt:lpstr>
      <vt:lpstr>Data scientist    Software engineer</vt:lpstr>
      <vt:lpstr>Likely collaboration challenges?</vt:lpstr>
      <vt:lpstr>What might Software Engineers and Data Scientists focus on?</vt:lpstr>
      <vt:lpstr>What makes software with ML challenging?</vt:lpstr>
      <vt:lpstr>Data Focused and Scalable</vt:lpstr>
      <vt:lpstr>ML Models Make Mistakes</vt:lpstr>
      <vt:lpstr>Interaction with the environment</vt:lpstr>
      <vt:lpstr>Complexity</vt:lpstr>
      <vt:lpstr>Complexity</vt:lpstr>
      <vt:lpstr>Skill Sets for Data Science</vt:lpstr>
      <vt:lpstr>T-Shaped People</vt:lpstr>
      <vt:lpstr>T-Shaped People</vt:lpstr>
      <vt:lpstr>Latest Buzzword: π-Shaped People</vt:lpstr>
      <vt:lpstr>Appreciating Data</vt:lpstr>
      <vt:lpstr>Computer vs. Real Scientists (1)</vt:lpstr>
      <vt:lpstr>Computer vs. Real Scientists (2)</vt:lpstr>
      <vt:lpstr>Genius vs. Wisdom</vt:lpstr>
      <vt:lpstr>Developing Wisdom</vt:lpstr>
      <vt:lpstr>Developing Curiosity</vt:lpstr>
      <vt:lpstr>Asking Good Questions</vt:lpstr>
      <vt:lpstr>Let’s Practice Asking Questions!</vt:lpstr>
      <vt:lpstr>Baseball-Reference.com: biosketch</vt:lpstr>
      <vt:lpstr>Statistical Record of Play</vt:lpstr>
      <vt:lpstr>Baseball Questions</vt:lpstr>
      <vt:lpstr>Demographic Questions</vt:lpstr>
      <vt:lpstr>IMDb: Movie Data</vt:lpstr>
      <vt:lpstr>IMDb: Actor Data</vt:lpstr>
      <vt:lpstr>Movie Questions</vt:lpstr>
      <vt:lpstr>Google Ngrams</vt:lpstr>
      <vt:lpstr>Google Ngram Viewer</vt:lpstr>
      <vt:lpstr>Ngram Questions</vt:lpstr>
      <vt:lpstr>NYC Taxi Cab Data</vt:lpstr>
      <vt:lpstr>Taxicab Questions</vt:lpstr>
      <vt:lpstr>Resources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Fatemeh Riahi</dc:creator>
  <cp:lastModifiedBy>Fatemeh Riahi</cp:lastModifiedBy>
  <cp:revision>2</cp:revision>
  <dcterms:created xsi:type="dcterms:W3CDTF">2025-07-21T18:25:45Z</dcterms:created>
  <dcterms:modified xsi:type="dcterms:W3CDTF">2026-09-10T17:38:33Z</dcterms:modified>
</cp:coreProperties>
</file>