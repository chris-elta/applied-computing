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5"/>
  </p:notesMasterIdLst>
  <p:sldIdLst>
    <p:sldId id="281" r:id="rId2"/>
    <p:sldId id="257" r:id="rId3"/>
    <p:sldId id="282" r:id="rId4"/>
    <p:sldId id="283" r:id="rId5"/>
    <p:sldId id="284" r:id="rId6"/>
    <p:sldId id="285" r:id="rId7"/>
    <p:sldId id="286" r:id="rId8"/>
    <p:sldId id="287" r:id="rId9"/>
    <p:sldId id="288" r:id="rId10"/>
    <p:sldId id="289" r:id="rId11"/>
    <p:sldId id="290" r:id="rId12"/>
    <p:sldId id="291" r:id="rId13"/>
    <p:sldId id="292" r:id="rId14"/>
    <p:sldId id="293" r:id="rId15"/>
    <p:sldId id="316" r:id="rId16"/>
    <p:sldId id="295" r:id="rId17"/>
    <p:sldId id="296" r:id="rId18"/>
    <p:sldId id="297" r:id="rId19"/>
    <p:sldId id="298" r:id="rId20"/>
    <p:sldId id="299" r:id="rId21"/>
    <p:sldId id="300" r:id="rId22"/>
    <p:sldId id="301" r:id="rId23"/>
    <p:sldId id="31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4EFBEC-4F7E-45A8-9913-40071AEDAC51}" v="15" dt="2026-09-16T18:39:33.84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42" autoAdjust="0"/>
  </p:normalViewPr>
  <p:slideViewPr>
    <p:cSldViewPr snapToGrid="0">
      <p:cViewPr>
        <p:scale>
          <a:sx n="53" d="100"/>
          <a:sy n="53" d="100"/>
        </p:scale>
        <p:origin x="115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h Riahi" userId="74741997-fb4f-4f28-9311-b07723505439" providerId="ADAL" clId="{FFDDAFA8-B5D5-4209-8C2A-81F22C0401E0}"/>
    <pc:docChg chg="undo custSel delSld modSld">
      <pc:chgData name="Fatemeh Riahi" userId="74741997-fb4f-4f28-9311-b07723505439" providerId="ADAL" clId="{FFDDAFA8-B5D5-4209-8C2A-81F22C0401E0}" dt="2026-09-16T18:39:39.296" v="630" actId="113"/>
      <pc:docMkLst>
        <pc:docMk/>
      </pc:docMkLst>
      <pc:sldChg chg="modNotesTx">
        <pc:chgData name="Fatemeh Riahi" userId="74741997-fb4f-4f28-9311-b07723505439" providerId="ADAL" clId="{FFDDAFA8-B5D5-4209-8C2A-81F22C0401E0}" dt="2026-09-16T17:27:50.094" v="403" actId="20577"/>
        <pc:sldMkLst>
          <pc:docMk/>
          <pc:sldMk cId="0" sldId="284"/>
        </pc:sldMkLst>
      </pc:sldChg>
      <pc:sldChg chg="modNotesTx">
        <pc:chgData name="Fatemeh Riahi" userId="74741997-fb4f-4f28-9311-b07723505439" providerId="ADAL" clId="{FFDDAFA8-B5D5-4209-8C2A-81F22C0401E0}" dt="2026-09-16T17:31:10.289" v="507" actId="20577"/>
        <pc:sldMkLst>
          <pc:docMk/>
          <pc:sldMk cId="0" sldId="285"/>
        </pc:sldMkLst>
      </pc:sldChg>
      <pc:sldChg chg="modNotesTx">
        <pc:chgData name="Fatemeh Riahi" userId="74741997-fb4f-4f28-9311-b07723505439" providerId="ADAL" clId="{FFDDAFA8-B5D5-4209-8C2A-81F22C0401E0}" dt="2026-09-14T18:01:41.917" v="45" actId="20577"/>
        <pc:sldMkLst>
          <pc:docMk/>
          <pc:sldMk cId="0" sldId="286"/>
        </pc:sldMkLst>
      </pc:sldChg>
      <pc:sldChg chg="modNotesTx">
        <pc:chgData name="Fatemeh Riahi" userId="74741997-fb4f-4f28-9311-b07723505439" providerId="ADAL" clId="{FFDDAFA8-B5D5-4209-8C2A-81F22C0401E0}" dt="2026-09-16T17:32:45.652" v="611" actId="20577"/>
        <pc:sldMkLst>
          <pc:docMk/>
          <pc:sldMk cId="0" sldId="287"/>
        </pc:sldMkLst>
      </pc:sldChg>
      <pc:sldChg chg="modNotesTx">
        <pc:chgData name="Fatemeh Riahi" userId="74741997-fb4f-4f28-9311-b07723505439" providerId="ADAL" clId="{FFDDAFA8-B5D5-4209-8C2A-81F22C0401E0}" dt="2026-09-14T18:11:43.725" v="51" actId="20577"/>
        <pc:sldMkLst>
          <pc:docMk/>
          <pc:sldMk cId="0" sldId="290"/>
        </pc:sldMkLst>
      </pc:sldChg>
      <pc:sldChg chg="modNotesTx">
        <pc:chgData name="Fatemeh Riahi" userId="74741997-fb4f-4f28-9311-b07723505439" providerId="ADAL" clId="{FFDDAFA8-B5D5-4209-8C2A-81F22C0401E0}" dt="2026-09-14T18:18:32.115" v="166" actId="20577"/>
        <pc:sldMkLst>
          <pc:docMk/>
          <pc:sldMk cId="0" sldId="292"/>
        </pc:sldMkLst>
      </pc:sldChg>
      <pc:sldChg chg="modNotesTx">
        <pc:chgData name="Fatemeh Riahi" userId="74741997-fb4f-4f28-9311-b07723505439" providerId="ADAL" clId="{FFDDAFA8-B5D5-4209-8C2A-81F22C0401E0}" dt="2026-09-14T18:25:54.688" v="261" actId="20577"/>
        <pc:sldMkLst>
          <pc:docMk/>
          <pc:sldMk cId="0" sldId="293"/>
        </pc:sldMkLst>
      </pc:sldChg>
      <pc:sldChg chg="modSp mod modNotesTx">
        <pc:chgData name="Fatemeh Riahi" userId="74741997-fb4f-4f28-9311-b07723505439" providerId="ADAL" clId="{FFDDAFA8-B5D5-4209-8C2A-81F22C0401E0}" dt="2026-09-16T18:02:26.528" v="620" actId="20577"/>
        <pc:sldMkLst>
          <pc:docMk/>
          <pc:sldMk cId="0" sldId="295"/>
        </pc:sldMkLst>
        <pc:spChg chg="mod">
          <ac:chgData name="Fatemeh Riahi" userId="74741997-fb4f-4f28-9311-b07723505439" providerId="ADAL" clId="{FFDDAFA8-B5D5-4209-8C2A-81F22C0401E0}" dt="2026-09-16T18:02:26.528" v="620" actId="20577"/>
          <ac:spMkLst>
            <pc:docMk/>
            <pc:sldMk cId="0" sldId="295"/>
            <ac:spMk id="146" creationId="{00000000-0000-0000-0000-000000000000}"/>
          </ac:spMkLst>
        </pc:spChg>
      </pc:sldChg>
      <pc:sldChg chg="modSp">
        <pc:chgData name="Fatemeh Riahi" userId="74741997-fb4f-4f28-9311-b07723505439" providerId="ADAL" clId="{FFDDAFA8-B5D5-4209-8C2A-81F22C0401E0}" dt="2026-09-14T18:42:45.218" v="353"/>
        <pc:sldMkLst>
          <pc:docMk/>
          <pc:sldMk cId="0" sldId="296"/>
        </pc:sldMkLst>
        <pc:spChg chg="mod">
          <ac:chgData name="Fatemeh Riahi" userId="74741997-fb4f-4f28-9311-b07723505439" providerId="ADAL" clId="{FFDDAFA8-B5D5-4209-8C2A-81F22C0401E0}" dt="2026-09-14T18:42:45.218" v="353"/>
          <ac:spMkLst>
            <pc:docMk/>
            <pc:sldMk cId="0" sldId="296"/>
            <ac:spMk id="153" creationId="{00000000-0000-0000-0000-000000000000}"/>
          </ac:spMkLst>
        </pc:spChg>
      </pc:sldChg>
      <pc:sldChg chg="modSp mod modNotesTx">
        <pc:chgData name="Fatemeh Riahi" userId="74741997-fb4f-4f28-9311-b07723505439" providerId="ADAL" clId="{FFDDAFA8-B5D5-4209-8C2A-81F22C0401E0}" dt="2026-09-16T18:08:32.126" v="625" actId="20577"/>
        <pc:sldMkLst>
          <pc:docMk/>
          <pc:sldMk cId="0" sldId="297"/>
        </pc:sldMkLst>
        <pc:picChg chg="mod">
          <ac:chgData name="Fatemeh Riahi" userId="74741997-fb4f-4f28-9311-b07723505439" providerId="ADAL" clId="{FFDDAFA8-B5D5-4209-8C2A-81F22C0401E0}" dt="2026-09-16T18:05:49.475" v="622" actId="14100"/>
          <ac:picMkLst>
            <pc:docMk/>
            <pc:sldMk cId="0" sldId="297"/>
            <ac:picMk id="160" creationId="{00000000-0000-0000-0000-000000000000}"/>
          </ac:picMkLst>
        </pc:picChg>
      </pc:sldChg>
      <pc:sldChg chg="modSp mod">
        <pc:chgData name="Fatemeh Riahi" userId="74741997-fb4f-4f28-9311-b07723505439" providerId="ADAL" clId="{FFDDAFA8-B5D5-4209-8C2A-81F22C0401E0}" dt="2026-09-16T18:39:39.296" v="630" actId="113"/>
        <pc:sldMkLst>
          <pc:docMk/>
          <pc:sldMk cId="0" sldId="301"/>
        </pc:sldMkLst>
        <pc:spChg chg="mod">
          <ac:chgData name="Fatemeh Riahi" userId="74741997-fb4f-4f28-9311-b07723505439" providerId="ADAL" clId="{FFDDAFA8-B5D5-4209-8C2A-81F22C0401E0}" dt="2026-09-16T18:39:39.296" v="630" actId="113"/>
          <ac:spMkLst>
            <pc:docMk/>
            <pc:sldMk cId="0" sldId="301"/>
            <ac:spMk id="186" creationId="{00000000-0000-0000-0000-000000000000}"/>
          </ac:spMkLst>
        </pc:spChg>
      </pc:sldChg>
      <pc:sldChg chg="modSp modNotesTx">
        <pc:chgData name="Fatemeh Riahi" userId="74741997-fb4f-4f28-9311-b07723505439" providerId="ADAL" clId="{FFDDAFA8-B5D5-4209-8C2A-81F22C0401E0}" dt="2026-09-16T18:01:22.434" v="615" actId="20577"/>
        <pc:sldMkLst>
          <pc:docMk/>
          <pc:sldMk cId="831763817" sldId="316"/>
        </pc:sldMkLst>
        <pc:graphicFrameChg chg="mod">
          <ac:chgData name="Fatemeh Riahi" userId="74741997-fb4f-4f28-9311-b07723505439" providerId="ADAL" clId="{FFDDAFA8-B5D5-4209-8C2A-81F22C0401E0}" dt="2026-09-16T18:00:26.381" v="613" actId="20577"/>
          <ac:graphicFrameMkLst>
            <pc:docMk/>
            <pc:sldMk cId="831763817" sldId="316"/>
            <ac:graphicFrameMk id="4" creationId="{C1C376A5-2C60-9C70-0905-C3FB45ADF38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83EACE-9DE1-48A3-ADD2-A2E9D15702EB}" type="datetimeFigureOut">
              <a:rPr lang="en-CA" smtClean="0"/>
              <a:t>2026-09-15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E8059-5017-40A8-859E-4C3C09B86F9A}" type="slidenum">
              <a:rPr lang="en-CA" smtClean="0"/>
              <a:t>‹#›</a:t>
            </a:fld>
            <a:endParaRPr lang="en-CA"/>
          </a:p>
        </p:txBody>
      </p:sp>
    </p:spTree>
    <p:extLst>
      <p:ext uri="{BB962C8B-B14F-4D97-AF65-F5344CB8AC3E}">
        <p14:creationId xmlns:p14="http://schemas.microsoft.com/office/powerpoint/2010/main" val="920160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 name="Google Shape;3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16e2a8dc5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g16e2a8dc5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data science, models may produce </a:t>
            </a:r>
            <a:r>
              <a:rPr lang="en-CA" b="1" dirty="0"/>
              <a:t>scores</a:t>
            </a:r>
            <a:r>
              <a:rPr lang="en-CA" dirty="0"/>
              <a:t> that people casually call probabilities, even though those scores don’t satisfy these rules. The sentence is warning you to check before interpreting a score as a probability.</a:t>
            </a:r>
          </a:p>
          <a:p>
            <a:pPr lvl="0"/>
            <a:r>
              <a:rPr lang="en-CA" dirty="0"/>
              <a:t>Cat: </a:t>
            </a:r>
            <a:r>
              <a:rPr lang="en-CA" b="1" dirty="0"/>
              <a:t>0.8</a:t>
            </a:r>
            <a:endParaRPr lang="en-CA" dirty="0"/>
          </a:p>
          <a:p>
            <a:pPr lvl="0"/>
            <a:r>
              <a:rPr lang="en-CA" dirty="0"/>
              <a:t>Dog: </a:t>
            </a:r>
            <a:r>
              <a:rPr lang="en-CA" b="1" dirty="0"/>
              <a:t>0.6</a:t>
            </a:r>
            <a:endParaRPr lang="en-CA" dirty="0"/>
          </a:p>
          <a:p>
            <a:pPr lvl="0"/>
            <a:r>
              <a:rPr lang="en-CA" dirty="0"/>
              <a:t>Bird: </a:t>
            </a:r>
            <a:r>
              <a:rPr lang="en-CA" b="1" dirty="0"/>
              <a:t>0.2</a:t>
            </a:r>
            <a:endParaRPr lang="en-CA" dirty="0"/>
          </a:p>
          <a:p>
            <a:r>
              <a:rPr lang="en-CA" dirty="0"/>
              <a:t>Someone might say, “There’s an 80% probability it’s a cat, 60% it’s a dog, and 20% it’s a bird.”</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16e2a8dc5b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16e2a8dc5b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6e2a8dc5b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6e2a8dc5b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0" dirty="0"/>
              <a:t>Why Independence Makes Prediction Harder</a:t>
            </a:r>
          </a:p>
          <a:p>
            <a:r>
              <a:rPr lang="en-CA" b="0" dirty="0"/>
              <a:t>Independence means no relationship.</a:t>
            </a:r>
            <a:br>
              <a:rPr lang="en-CA" b="0" dirty="0"/>
            </a:br>
            <a:r>
              <a:rPr lang="en-CA" b="0" dirty="0"/>
              <a:t>If two events are independent, knowing one doesn’t help you predict the other.</a:t>
            </a:r>
          </a:p>
          <a:p>
            <a:r>
              <a:rPr lang="en-CA" b="0" dirty="0"/>
              <a:t>Example:</a:t>
            </a:r>
          </a:p>
          <a:p>
            <a:pPr lvl="1"/>
            <a:r>
              <a:rPr lang="en-CA" b="0" dirty="0"/>
              <a:t>Imagine you’re trying to predict if a student is above the median.</a:t>
            </a:r>
          </a:p>
          <a:p>
            <a:pPr lvl="1"/>
            <a:r>
              <a:rPr lang="en-CA" b="0" dirty="0"/>
              <a:t>If “student is female” is independent of performance, then knowing gender gives you </a:t>
            </a:r>
            <a:r>
              <a:rPr lang="en-CA" b="0" i="1" dirty="0"/>
              <a:t>zero extra information</a:t>
            </a:r>
            <a:r>
              <a:rPr lang="en-CA" b="0" dirty="0"/>
              <a:t>.</a:t>
            </a:r>
          </a:p>
          <a:p>
            <a:pPr lvl="1"/>
            <a:r>
              <a:rPr lang="en-CA" b="0" dirty="0"/>
              <a:t>You can’t make your prediction better — you’re basically still guessing with 50/50 chance.</a:t>
            </a:r>
          </a:p>
          <a:p>
            <a:r>
              <a:rPr lang="en-CA" b="0" dirty="0"/>
              <a:t>Contrast with dependence (helpful for prediction):</a:t>
            </a:r>
          </a:p>
          <a:p>
            <a:pPr lvl="1"/>
            <a:r>
              <a:rPr lang="en-CA" b="0" dirty="0"/>
              <a:t>Suppose female students actually score higher on average (not independent).</a:t>
            </a:r>
          </a:p>
          <a:p>
            <a:pPr lvl="1"/>
            <a:r>
              <a:rPr lang="en-CA" b="0" dirty="0"/>
              <a:t>Then, knowing a student is female increases your chance of predicting they are above the median.</a:t>
            </a:r>
          </a:p>
          <a:p>
            <a:pPr lvl="1"/>
            <a:r>
              <a:rPr lang="en-CA" b="0" dirty="0"/>
              <a:t>Here, the dependence gives you useful predictive power.</a:t>
            </a:r>
          </a:p>
          <a:p>
            <a:pPr marL="0" lvl="0" indent="0" algn="l" rtl="0">
              <a:spcBef>
                <a:spcPts val="0"/>
              </a:spcBef>
              <a:spcAft>
                <a:spcPts val="0"/>
              </a:spcAft>
              <a:buNone/>
            </a:pPr>
            <a:endParaRPr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6e2a8dc5b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6e2a8dc5b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A intersection B</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17c7ca14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17c7ca14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Updating the belief based o the evidence. </a:t>
            </a:r>
            <a:endParaRPr lang="en-CA" dirty="0"/>
          </a:p>
          <a:p>
            <a:pPr marL="0" lvl="0" indent="0" algn="l" rtl="0">
              <a:spcBef>
                <a:spcPts val="0"/>
              </a:spcBef>
              <a:spcAft>
                <a:spcPts val="0"/>
              </a:spcAft>
              <a:buNone/>
            </a:pPr>
            <a:r>
              <a:rPr lang="en-CA" dirty="0"/>
              <a:t>P(</a:t>
            </a:r>
            <a:r>
              <a:rPr lang="en-CA" dirty="0" err="1"/>
              <a:t>covid|fever</a:t>
            </a:r>
            <a:r>
              <a:rPr lang="en-CA" dirty="0"/>
              <a:t>)=p(</a:t>
            </a:r>
            <a:r>
              <a:rPr lang="en-CA" dirty="0" err="1"/>
              <a:t>fever|covid</a:t>
            </a:r>
            <a:r>
              <a:rPr lang="en-CA" dirty="0"/>
              <a:t>)*p(covid)/p(fever)</a:t>
            </a:r>
          </a:p>
          <a:p>
            <a:pPr marL="0" lvl="0" indent="0" algn="l" rtl="0">
              <a:spcBef>
                <a:spcPts val="0"/>
              </a:spcBef>
              <a:spcAft>
                <a:spcPts val="0"/>
              </a:spcAft>
              <a:buNone/>
            </a:pPr>
            <a:r>
              <a:rPr lang="en-CA" dirty="0"/>
              <a:t>P(B/A)=1/3</a:t>
            </a:r>
          </a:p>
          <a:p>
            <a:pPr marL="0" lvl="0" indent="0" algn="l" rtl="0">
              <a:spcBef>
                <a:spcPts val="0"/>
              </a:spcBef>
              <a:spcAft>
                <a:spcPts val="0"/>
              </a:spcAft>
              <a:buNone/>
            </a:pPr>
            <a:r>
              <a:rPr lang="en-CA" dirty="0"/>
              <a:t>P(A)=3/4</a:t>
            </a:r>
          </a:p>
          <a:p>
            <a:pPr marL="0" lvl="0" indent="0" algn="l" rtl="0">
              <a:spcBef>
                <a:spcPts val="0"/>
              </a:spcBef>
              <a:spcAft>
                <a:spcPts val="0"/>
              </a:spcAft>
              <a:buNone/>
            </a:pPr>
            <a:r>
              <a:rPr lang="en-CA" dirty="0"/>
              <a:t>P(B)=1/2</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419d4d57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419d4d57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Updating the belief based o the evidence.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17c7ca14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17c7ca14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Result of a coin toss is a random variable or </a:t>
            </a:r>
            <a:r>
              <a:rPr lang="en-CA" dirty="0" err="1"/>
              <a:t>resule</a:t>
            </a:r>
            <a:r>
              <a:rPr lang="en-CA" dirty="0"/>
              <a:t> of dice roll. </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8440c11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8440c11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8440c11_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8440c11_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8440c11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106" name="Google Shape;106;g378440c11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b="1" dirty="0"/>
                  <a:t>a cumulative graph can look dramatically “explosive” even when the actual rate of growth is much less dramatic.</a:t>
                </a:r>
              </a:p>
              <a:p>
                <a:r>
                  <a:rPr lang="en-CA" dirty="0"/>
                  <a:t>The graph on the right shows </a:t>
                </a:r>
                <a:r>
                  <a:rPr lang="en-CA" b="1" dirty="0"/>
                  <a:t>cumulative iPhone sales</a:t>
                </a:r>
                <a:r>
                  <a:rPr lang="en-CA" dirty="0"/>
                  <a:t>. Every quarter’s sales are added to all previous sales, so the total can only go up. Because of that, the purple cumulative line naturally becomes steep and can give the impression that sales are accelerating enormously.</a:t>
                </a:r>
              </a:p>
              <a:p>
                <a:r>
                  <a:rPr lang="en-CA" dirty="0"/>
                  <a:t>But if you want to know </a:t>
                </a:r>
                <a:r>
                  <a:rPr lang="en-CA" b="1" dirty="0"/>
                  <a:t>how fast iPhone sales are actually growing at a particular time</a:t>
                </a:r>
                <a:r>
                  <a:rPr lang="en-CA" dirty="0"/>
                  <a:t>, you should look at the </a:t>
                </a:r>
                <a:r>
                  <a:rPr lang="en-CA" b="1" dirty="0"/>
                  <a:t>incremental change</a:t>
                </a:r>
                <a:r>
                  <a:rPr lang="en-CA" dirty="0"/>
                  <a:t>—for example, how many iPhones were sold each quarter. Those are the bars at the bottom.</a:t>
                </a:r>
              </a:p>
              <a:p>
                <a:r>
                  <a:rPr lang="en-CA" dirty="0"/>
                  <a:t>Mathematically, if the cumulative sales are </a:t>
                </a:r>
                <a14:m>
                  <m:oMath xmlns:m="http://schemas.openxmlformats.org/officeDocument/2006/math">
                    <m:r>
                      <a:rPr lang="en-CA" sz="1200" i="1" kern="1200">
                        <a:solidFill>
                          <a:schemeClr val="tx1"/>
                        </a:solidFill>
                        <a:latin typeface="Cambria Math" panose="02040503050406030204" pitchFamily="18" charset="0"/>
                        <a:ea typeface="+mn-ea"/>
                        <a:cs typeface="+mn-cs"/>
                      </a:rPr>
                      <m:t>𝐹</m:t>
                    </m:r>
                    <m:d>
                      <m:dPr>
                        <m:ctrlPr>
                          <a:rPr lang="en-CA" sz="1200" i="1" kern="1200">
                            <a:solidFill>
                              <a:schemeClr val="tx1"/>
                            </a:solidFill>
                            <a:latin typeface="Cambria Math" panose="02040503050406030204" pitchFamily="18" charset="0"/>
                            <a:ea typeface="+mn-ea"/>
                            <a:cs typeface="+mn-cs"/>
                          </a:rPr>
                        </m:ctrlPr>
                      </m:dPr>
                      <m:e>
                        <m:r>
                          <a:rPr lang="en-CA" sz="1200" i="1" kern="1200">
                            <a:solidFill>
                              <a:schemeClr val="tx1"/>
                            </a:solidFill>
                            <a:latin typeface="Cambria Math" panose="02040503050406030204" pitchFamily="18" charset="0"/>
                            <a:ea typeface="+mn-ea"/>
                            <a:cs typeface="+mn-cs"/>
                          </a:rPr>
                          <m:t>𝑡</m:t>
                        </m:r>
                      </m:e>
                    </m:d>
                  </m:oMath>
                </a14:m>
                <a:r>
                  <a:rPr lang="en-CA" dirty="0"/>
                  <a:t>, then the sales rate is roughly the derivative:</a:t>
                </a:r>
              </a:p>
              <a:p>
                <a:pPr/>
                <a14:m>
                  <m:oMathPara xmlns:m="http://schemas.openxmlformats.org/officeDocument/2006/math">
                    <m:oMath>
                      <m:r>
                        <m:rPr>
                          <m:nor/>
                        </m:rPr>
                        <a:rPr lang="en-CA" b="0" i="0"/>
                        <m:t>Sales rate</m:t>
                      </m:r>
                      <m:r>
                        <a:rPr lang="en-CA" sz="1200" b="0" i="0" kern="1200">
                          <a:solidFill>
                            <a:schemeClr val="tx1"/>
                          </a:solidFill>
                          <a:latin typeface="Cambria Math" panose="02040503050406030204" pitchFamily="18" charset="0"/>
                          <a:ea typeface="+mn-ea"/>
                          <a:cs typeface="+mn-cs"/>
                        </a:rPr>
                        <m:t>=</m:t>
                      </m:r>
                      <m:sSup>
                        <m:sSupPr>
                          <m:ctrlPr>
                            <a:rPr lang="en-CA" sz="1200" b="0" i="1" kern="1200">
                              <a:solidFill>
                                <a:schemeClr val="tx1"/>
                              </a:solidFill>
                              <a:latin typeface="Cambria Math" panose="02040503050406030204" pitchFamily="18" charset="0"/>
                              <a:ea typeface="+mn-ea"/>
                              <a:cs typeface="+mn-cs"/>
                            </a:rPr>
                          </m:ctrlPr>
                        </m:sSupPr>
                        <m:e>
                          <m:r>
                            <a:rPr lang="en-CA" sz="1200" b="0" i="1" kern="1200">
                              <a:solidFill>
                                <a:schemeClr val="tx1"/>
                              </a:solidFill>
                              <a:latin typeface="Cambria Math" panose="02040503050406030204" pitchFamily="18" charset="0"/>
                              <a:ea typeface="+mn-ea"/>
                              <a:cs typeface="+mn-cs"/>
                            </a:rPr>
                            <m:t>𝐹</m:t>
                          </m:r>
                        </m:e>
                        <m:sup>
                          <m:r>
                            <a:rPr lang="en-CA" sz="1200" b="0" i="0" kern="1200">
                              <a:solidFill>
                                <a:schemeClr val="tx1"/>
                              </a:solidFill>
                              <a:latin typeface="Cambria Math" panose="02040503050406030204" pitchFamily="18" charset="0"/>
                              <a:ea typeface="+mn-ea"/>
                              <a:cs typeface="+mn-cs"/>
                            </a:rPr>
                            <m:t>′</m:t>
                          </m:r>
                        </m:sup>
                      </m:sSup>
                      <m:d>
                        <m:dPr>
                          <m:ctrlPr>
                            <a:rPr lang="en-CA" sz="1200" b="0" i="1" kern="1200">
                              <a:solidFill>
                                <a:schemeClr val="tx1"/>
                              </a:solidFill>
                              <a:latin typeface="Cambria Math" panose="02040503050406030204" pitchFamily="18" charset="0"/>
                              <a:ea typeface="+mn-ea"/>
                              <a:cs typeface="+mn-cs"/>
                            </a:rPr>
                          </m:ctrlPr>
                        </m:dPr>
                        <m:e>
                          <m:r>
                            <a:rPr lang="en-CA" sz="1200" b="0" i="1" kern="1200">
                              <a:solidFill>
                                <a:schemeClr val="tx1"/>
                              </a:solidFill>
                              <a:latin typeface="Cambria Math" panose="02040503050406030204" pitchFamily="18" charset="0"/>
                              <a:ea typeface="+mn-ea"/>
                              <a:cs typeface="+mn-cs"/>
                            </a:rPr>
                            <m:t>𝑡</m:t>
                          </m:r>
                        </m:e>
                      </m:d>
                    </m:oMath>
                  </m:oMathPara>
                </a14:m>
                <a:endParaRPr lang="en-CA" b="0" dirty="0"/>
              </a:p>
              <a:p>
                <a:r>
                  <a:rPr lang="en-CA" dirty="0"/>
                  <a:t>So the </a:t>
                </a:r>
                <a:r>
                  <a:rPr lang="en-CA" b="1" dirty="0"/>
                  <a:t>slope of the cumulative line</a:t>
                </a:r>
                <a:r>
                  <a:rPr lang="en-CA" dirty="0"/>
                  <a:t> tells us the current rate of sales.</a:t>
                </a:r>
              </a:p>
              <a:p>
                <a:r>
                  <a:rPr lang="en-CA" dirty="0"/>
                  <a:t>For example, imagine cumulative sales are:</a:t>
                </a:r>
              </a:p>
              <a:p>
                <a:r>
                  <a:rPr lang="en-CA" dirty="0"/>
                  <a:t>Year</a:t>
                </a:r>
              </a:p>
              <a:p>
                <a:r>
                  <a:rPr lang="en-CA" dirty="0"/>
                  <a:t>Total phones sold</a:t>
                </a:r>
              </a:p>
              <a:p>
                <a:r>
                  <a:rPr lang="en-CA" dirty="0"/>
                  <a:t>201050 million</a:t>
                </a:r>
              </a:p>
              <a:p>
                <a:r>
                  <a:rPr lang="en-CA" dirty="0"/>
                  <a:t>2011100 million</a:t>
                </a:r>
              </a:p>
              <a:p>
                <a:r>
                  <a:rPr lang="en-CA" dirty="0"/>
                  <a:t>2012180 million</a:t>
                </a:r>
              </a:p>
              <a:p>
                <a:r>
                  <a:rPr lang="en-CA" dirty="0"/>
                  <a:t>2013260 million</a:t>
                </a:r>
              </a:p>
              <a:p>
                <a:r>
                  <a:rPr lang="en-CA" dirty="0"/>
                  <a:t>The cumulative numbers look huge: </a:t>
                </a:r>
                <a:r>
                  <a:rPr lang="en-CA" b="1" dirty="0"/>
                  <a:t>50 → 100 → 180 → 260</a:t>
                </a:r>
                <a:r>
                  <a:rPr lang="en-CA" dirty="0"/>
                  <a:t>.</a:t>
                </a:r>
              </a:p>
              <a:p>
                <a:r>
                  <a:rPr lang="en-CA" dirty="0"/>
                  <a:t>But the yearly incremental sales are:</a:t>
                </a:r>
              </a:p>
              <a:p>
                <a:pPr/>
                <a14:m>
                  <m:oMathPara xmlns:m="http://schemas.openxmlformats.org/officeDocument/2006/math">
                    <m:oMath>
                      <m:r>
                        <a:rPr lang="en-CA" sz="1200" kern="1200">
                          <a:solidFill>
                            <a:schemeClr val="tx1"/>
                          </a:solidFill>
                          <a:latin typeface="Cambria Math" panose="02040503050406030204" pitchFamily="18" charset="0"/>
                          <a:ea typeface="+mn-ea"/>
                          <a:cs typeface="+mn-cs"/>
                        </a:rPr>
                        <m:t>50</m:t>
                      </m:r>
                      <m:r>
                        <a:rPr lang="en-CA" sz="1200" i="0" kern="1200">
                          <a:solidFill>
                            <a:schemeClr val="tx1"/>
                          </a:solidFill>
                          <a:latin typeface="Cambria Math" panose="02040503050406030204" pitchFamily="18" charset="0"/>
                          <a:ea typeface="+mn-ea"/>
                          <a:cs typeface="+mn-cs"/>
                        </a:rPr>
                        <m:t>,</m:t>
                      </m:r>
                      <m:r>
                        <m:rPr>
                          <m:nor/>
                        </m:rPr>
                        <a:rPr lang="en-CA" sz="1200" b="0" i="0" kern="1200">
                          <a:solidFill>
                            <a:schemeClr val="tx1"/>
                          </a:solidFill>
                          <a:latin typeface="+mn-lt"/>
                          <a:ea typeface="+mn-ea"/>
                          <a:cs typeface="+mn-cs"/>
                        </a:rPr>
                        <m:t> </m:t>
                      </m:r>
                      <m:r>
                        <a:rPr lang="en-CA" sz="1200" b="0" i="0" kern="1200">
                          <a:solidFill>
                            <a:schemeClr val="tx1"/>
                          </a:solidFill>
                          <a:latin typeface="Cambria Math" panose="02040503050406030204" pitchFamily="18" charset="0"/>
                          <a:ea typeface="+mn-ea"/>
                          <a:cs typeface="+mn-cs"/>
                        </a:rPr>
                        <m:t>50,</m:t>
                      </m:r>
                      <m:r>
                        <m:rPr>
                          <m:nor/>
                        </m:rPr>
                        <a:rPr lang="en-CA" sz="1200" b="0" i="0" kern="1200">
                          <a:solidFill>
                            <a:schemeClr val="tx1"/>
                          </a:solidFill>
                          <a:latin typeface="+mn-lt"/>
                          <a:ea typeface="+mn-ea"/>
                          <a:cs typeface="+mn-cs"/>
                        </a:rPr>
                        <m:t> </m:t>
                      </m:r>
                      <m:r>
                        <a:rPr lang="en-CA" sz="1200" b="0" i="0" kern="1200">
                          <a:solidFill>
                            <a:schemeClr val="tx1"/>
                          </a:solidFill>
                          <a:latin typeface="Cambria Math" panose="02040503050406030204" pitchFamily="18" charset="0"/>
                          <a:ea typeface="+mn-ea"/>
                          <a:cs typeface="+mn-cs"/>
                        </a:rPr>
                        <m:t>80,</m:t>
                      </m:r>
                      <m:r>
                        <m:rPr>
                          <m:nor/>
                        </m:rPr>
                        <a:rPr lang="en-CA" sz="1200" b="0" i="0" kern="1200">
                          <a:solidFill>
                            <a:schemeClr val="tx1"/>
                          </a:solidFill>
                          <a:latin typeface="+mn-lt"/>
                          <a:ea typeface="+mn-ea"/>
                          <a:cs typeface="+mn-cs"/>
                        </a:rPr>
                        <m:t> </m:t>
                      </m:r>
                      <m:r>
                        <a:rPr lang="en-CA" sz="1200" b="0" i="0" kern="1200">
                          <a:solidFill>
                            <a:schemeClr val="tx1"/>
                          </a:solidFill>
                          <a:latin typeface="Cambria Math" panose="02040503050406030204" pitchFamily="18" charset="0"/>
                          <a:ea typeface="+mn-ea"/>
                          <a:cs typeface="+mn-cs"/>
                        </a:rPr>
                        <m:t>80</m:t>
                      </m:r>
                    </m:oMath>
                  </m:oMathPara>
                </a14:m>
                <a:endParaRPr lang="en-CA" b="0" dirty="0"/>
              </a:p>
              <a:p>
                <a:r>
                  <a:rPr lang="en-CA" dirty="0"/>
                  <a:t>So from 2012 to 2013, the cumulative total increased a lot, but the </a:t>
                </a:r>
                <a:r>
                  <a:rPr lang="en-CA" b="1" dirty="0"/>
                  <a:t>rate of sales did not accelerate at all</a:t>
                </a:r>
                <a:r>
                  <a:rPr lang="en-CA" dirty="0"/>
                  <a:t>; it stayed at 80 million per year.</a:t>
                </a:r>
              </a:p>
              <a:p>
                <a:r>
                  <a:rPr lang="en-CA" dirty="0"/>
                  <a:t>That is what the title </a:t>
                </a:r>
                <a:r>
                  <a:rPr lang="en-CA" b="1" dirty="0"/>
                  <a:t>“How explosive is that growth, really?”</a:t>
                </a:r>
                <a:r>
                  <a:rPr lang="en-CA" dirty="0"/>
                  <a:t> is questioning.</a:t>
                </a:r>
              </a:p>
              <a:p>
                <a:r>
                  <a:rPr lang="en-CA" dirty="0"/>
                  <a:t>A good sentence to tell your students would be:</a:t>
                </a:r>
              </a:p>
              <a:p>
                <a:r>
                  <a:rPr lang="en-CA" b="1" dirty="0"/>
                  <a:t>“Don't confuse a rapidly increasing cumulative total with a rapidly increasing growth rate. To understand the growth rate, look at the slope—or derivative—of the cumulative curve.”</a:t>
                </a:r>
                <a:endParaRPr lang="en-CA" dirty="0"/>
              </a:p>
              <a:p>
                <a:r>
                  <a:rPr lang="en-CA" dirty="0"/>
                  <a:t>And one additional distinction is useful: </a:t>
                </a:r>
                <a:r>
                  <a:rPr lang="en-CA" b="1" dirty="0"/>
                  <a:t>positive slope = growth</a:t>
                </a:r>
                <a:r>
                  <a:rPr lang="en-CA" dirty="0"/>
                  <a:t>, while </a:t>
                </a:r>
                <a:r>
                  <a:rPr lang="en-CA" b="1" dirty="0"/>
                  <a:t>an increasingly steep slope = accelerating growth</a:t>
                </a:r>
                <a:r>
                  <a:rPr lang="en-CA" dirty="0"/>
                  <a:t>. A cumulative graph may rise steeply without its growth rate itself increasing.</a:t>
                </a:r>
              </a:p>
              <a:p>
                <a:pPr marL="0" lvl="0" indent="0" algn="l" rtl="0">
                  <a:spcBef>
                    <a:spcPts val="0"/>
                  </a:spcBef>
                  <a:spcAft>
                    <a:spcPts val="0"/>
                  </a:spcAft>
                  <a:buNone/>
                </a:pPr>
                <a:endParaRPr dirty="0"/>
              </a:p>
            </p:txBody>
          </p:sp>
        </mc:Choice>
        <mc:Fallback xmlns="">
          <p:sp>
            <p:nvSpPr>
              <p:cNvPr id="106" name="Google Shape;106;g378440c11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b="1" dirty="0"/>
                  <a:t>a cumulative graph can look dramatically “explosive” even when the actual rate of growth is much less dramatic.</a:t>
                </a:r>
              </a:p>
              <a:p>
                <a:r>
                  <a:rPr lang="en-CA" dirty="0"/>
                  <a:t>The graph on the right shows </a:t>
                </a:r>
                <a:r>
                  <a:rPr lang="en-CA" b="1" dirty="0"/>
                  <a:t>cumulative iPhone sales</a:t>
                </a:r>
                <a:r>
                  <a:rPr lang="en-CA" dirty="0"/>
                  <a:t>. Every quarter’s sales are added to all previous sales, so the total can only go up. Because of that, the purple cumulative line naturally becomes steep and can give the impression that sales are accelerating enormously.</a:t>
                </a:r>
              </a:p>
              <a:p>
                <a:r>
                  <a:rPr lang="en-CA" dirty="0"/>
                  <a:t>But if you want to know </a:t>
                </a:r>
                <a:r>
                  <a:rPr lang="en-CA" b="1" dirty="0"/>
                  <a:t>how fast iPhone sales are actually growing at a particular time</a:t>
                </a:r>
                <a:r>
                  <a:rPr lang="en-CA" dirty="0"/>
                  <a:t>, you should look at the </a:t>
                </a:r>
                <a:r>
                  <a:rPr lang="en-CA" b="1" dirty="0"/>
                  <a:t>incremental change</a:t>
                </a:r>
                <a:r>
                  <a:rPr lang="en-CA" dirty="0"/>
                  <a:t>—for example, how many iPhones were sold each quarter. Those are the bars at the bottom.</a:t>
                </a:r>
              </a:p>
              <a:p>
                <a:r>
                  <a:rPr lang="en-CA" dirty="0"/>
                  <a:t>Mathematically, if the cumulative sales are </a:t>
                </a:r>
                <a:r>
                  <a:rPr lang="en-CA" sz="1200" i="0" kern="1200">
                    <a:solidFill>
                      <a:schemeClr val="tx1"/>
                    </a:solidFill>
                    <a:latin typeface="+mn-lt"/>
                    <a:ea typeface="+mn-ea"/>
                    <a:cs typeface="+mn-cs"/>
                  </a:rPr>
                  <a:t>𝐹(𝑡)</a:t>
                </a:r>
                <a:r>
                  <a:rPr lang="en-CA" dirty="0"/>
                  <a:t>, then the sales rate is roughly the derivative:</a:t>
                </a:r>
              </a:p>
              <a:p>
                <a:r>
                  <a:rPr lang="en-CA" b="0" i="0">
                    <a:latin typeface="Cambria Math" panose="02040503050406030204" pitchFamily="18" charset="0"/>
                  </a:rPr>
                  <a:t>"Sales rate</a:t>
                </a:r>
                <a:r>
                  <a:rPr lang="en-CA" sz="1200" b="0" i="0" kern="1200">
                    <a:solidFill>
                      <a:schemeClr val="tx1"/>
                    </a:solidFill>
                    <a:latin typeface="+mn-lt"/>
                    <a:ea typeface="+mn-ea"/>
                    <a:cs typeface="+mn-cs"/>
                  </a:rPr>
                  <a:t>"=𝐹^′ (𝑡)</a:t>
                </a:r>
                <a:endParaRPr lang="en-CA" b="0" dirty="0"/>
              </a:p>
              <a:p>
                <a:r>
                  <a:rPr lang="en-CA" dirty="0"/>
                  <a:t>So the </a:t>
                </a:r>
                <a:r>
                  <a:rPr lang="en-CA" b="1" dirty="0"/>
                  <a:t>slope of the cumulative line</a:t>
                </a:r>
                <a:r>
                  <a:rPr lang="en-CA" dirty="0"/>
                  <a:t> tells us the current rate of sales.</a:t>
                </a:r>
              </a:p>
              <a:p>
                <a:r>
                  <a:rPr lang="en-CA" dirty="0"/>
                  <a:t>For example, imagine cumulative sales are:</a:t>
                </a:r>
              </a:p>
              <a:p>
                <a:r>
                  <a:rPr lang="en-CA" dirty="0"/>
                  <a:t>Year</a:t>
                </a:r>
              </a:p>
              <a:p>
                <a:r>
                  <a:rPr lang="en-CA" dirty="0"/>
                  <a:t>Total phones sold</a:t>
                </a:r>
              </a:p>
              <a:p>
                <a:r>
                  <a:rPr lang="en-CA" dirty="0"/>
                  <a:t>201050 million</a:t>
                </a:r>
              </a:p>
              <a:p>
                <a:r>
                  <a:rPr lang="en-CA" dirty="0"/>
                  <a:t>2011100 million</a:t>
                </a:r>
              </a:p>
              <a:p>
                <a:r>
                  <a:rPr lang="en-CA" dirty="0"/>
                  <a:t>2012180 million</a:t>
                </a:r>
              </a:p>
              <a:p>
                <a:r>
                  <a:rPr lang="en-CA" dirty="0"/>
                  <a:t>2013260 million</a:t>
                </a:r>
              </a:p>
              <a:p>
                <a:r>
                  <a:rPr lang="en-CA" dirty="0"/>
                  <a:t>The cumulative numbers look huge: </a:t>
                </a:r>
                <a:r>
                  <a:rPr lang="en-CA" b="1" dirty="0"/>
                  <a:t>50 → 100 → 180 → 260</a:t>
                </a:r>
                <a:r>
                  <a:rPr lang="en-CA" dirty="0"/>
                  <a:t>.</a:t>
                </a:r>
              </a:p>
              <a:p>
                <a:r>
                  <a:rPr lang="en-CA" dirty="0"/>
                  <a:t>But the yearly incremental sales are:</a:t>
                </a:r>
              </a:p>
              <a:p>
                <a:r>
                  <a:rPr lang="en-CA" sz="1200" i="0" kern="1200">
                    <a:solidFill>
                      <a:schemeClr val="tx1"/>
                    </a:solidFill>
                    <a:latin typeface="+mn-lt"/>
                    <a:ea typeface="+mn-ea"/>
                    <a:cs typeface="+mn-cs"/>
                  </a:rPr>
                  <a:t>50,</a:t>
                </a:r>
                <a:r>
                  <a:rPr lang="en-CA" sz="1200" b="0" i="0" kern="1200">
                    <a:solidFill>
                      <a:schemeClr val="tx1"/>
                    </a:solidFill>
                    <a:latin typeface="Cambria Math" panose="02040503050406030204" pitchFamily="18" charset="0"/>
                    <a:ea typeface="+mn-ea"/>
                    <a:cs typeface="+mn-cs"/>
                  </a:rPr>
                  <a:t>" </a:t>
                </a:r>
                <a:r>
                  <a:rPr lang="en-CA" sz="1200" b="0" i="0" kern="1200">
                    <a:solidFill>
                      <a:schemeClr val="tx1"/>
                    </a:solidFill>
                    <a:latin typeface="+mn-lt"/>
                    <a:ea typeface="+mn-ea"/>
                    <a:cs typeface="+mn-cs"/>
                  </a:rPr>
                  <a:t>" 50,</a:t>
                </a:r>
                <a:r>
                  <a:rPr lang="en-CA" sz="1200" b="0" i="0" kern="1200">
                    <a:solidFill>
                      <a:schemeClr val="tx1"/>
                    </a:solidFill>
                    <a:latin typeface="Cambria Math" panose="02040503050406030204" pitchFamily="18" charset="0"/>
                    <a:ea typeface="+mn-ea"/>
                    <a:cs typeface="+mn-cs"/>
                  </a:rPr>
                  <a:t>" </a:t>
                </a:r>
                <a:r>
                  <a:rPr lang="en-CA" sz="1200" b="0" i="0" kern="1200">
                    <a:solidFill>
                      <a:schemeClr val="tx1"/>
                    </a:solidFill>
                    <a:latin typeface="+mn-lt"/>
                    <a:ea typeface="+mn-ea"/>
                    <a:cs typeface="+mn-cs"/>
                  </a:rPr>
                  <a:t>" 80,</a:t>
                </a:r>
                <a:r>
                  <a:rPr lang="en-CA" sz="1200" b="0" i="0" kern="1200">
                    <a:solidFill>
                      <a:schemeClr val="tx1"/>
                    </a:solidFill>
                    <a:latin typeface="Cambria Math" panose="02040503050406030204" pitchFamily="18" charset="0"/>
                    <a:ea typeface="+mn-ea"/>
                    <a:cs typeface="+mn-cs"/>
                  </a:rPr>
                  <a:t>" </a:t>
                </a:r>
                <a:r>
                  <a:rPr lang="en-CA" sz="1200" b="0" i="0" kern="1200">
                    <a:solidFill>
                      <a:schemeClr val="tx1"/>
                    </a:solidFill>
                    <a:latin typeface="+mn-lt"/>
                    <a:ea typeface="+mn-ea"/>
                    <a:cs typeface="+mn-cs"/>
                  </a:rPr>
                  <a:t>" 80</a:t>
                </a:r>
                <a:endParaRPr lang="en-CA" b="0" dirty="0"/>
              </a:p>
              <a:p>
                <a:r>
                  <a:rPr lang="en-CA" dirty="0"/>
                  <a:t>So from 2012 to 2013, the cumulative total increased a lot, but the </a:t>
                </a:r>
                <a:r>
                  <a:rPr lang="en-CA" b="1" dirty="0"/>
                  <a:t>rate of sales did not accelerate at all</a:t>
                </a:r>
                <a:r>
                  <a:rPr lang="en-CA" dirty="0"/>
                  <a:t>; it stayed at 80 million per year.</a:t>
                </a:r>
              </a:p>
              <a:p>
                <a:r>
                  <a:rPr lang="en-CA" dirty="0"/>
                  <a:t>That is what the title </a:t>
                </a:r>
                <a:r>
                  <a:rPr lang="en-CA" b="1" dirty="0"/>
                  <a:t>“How explosive is that growth, really?”</a:t>
                </a:r>
                <a:r>
                  <a:rPr lang="en-CA" dirty="0"/>
                  <a:t> is questioning.</a:t>
                </a:r>
              </a:p>
              <a:p>
                <a:r>
                  <a:rPr lang="en-CA" dirty="0"/>
                  <a:t>A good sentence to tell your students would be:</a:t>
                </a:r>
              </a:p>
              <a:p>
                <a:r>
                  <a:rPr lang="en-CA" b="1" dirty="0"/>
                  <a:t>“Don't confuse a rapidly increasing cumulative total with a rapidly increasing growth rate. To understand the growth rate, look at the slope—or derivative—of the cumulative curve.”</a:t>
                </a:r>
                <a:endParaRPr lang="en-CA" dirty="0"/>
              </a:p>
              <a:p>
                <a:r>
                  <a:rPr lang="en-CA" dirty="0"/>
                  <a:t>And one additional distinction is useful: </a:t>
                </a:r>
                <a:r>
                  <a:rPr lang="en-CA" b="1" dirty="0"/>
                  <a:t>positive slope = growth</a:t>
                </a:r>
                <a:r>
                  <a:rPr lang="en-CA" dirty="0"/>
                  <a:t>, while </a:t>
                </a:r>
                <a:r>
                  <a:rPr lang="en-CA" b="1" dirty="0"/>
                  <a:t>an increasingly steep slope = accelerating growth</a:t>
                </a:r>
                <a:r>
                  <a:rPr lang="en-CA" dirty="0"/>
                  <a:t>. A cumulative graph may rise steeply without its growth rate itself increasing.</a:t>
                </a:r>
              </a:p>
              <a:p>
                <a:pPr marL="0" lvl="0" indent="0" algn="l" rtl="0">
                  <a:spcBef>
                    <a:spcPts val="0"/>
                  </a:spcBef>
                  <a:spcAft>
                    <a:spcPts val="0"/>
                  </a:spcAft>
                  <a:buNone/>
                </a:pPr>
                <a:endParaRPr dirty="0"/>
              </a:p>
            </p:txBody>
          </p:sp>
        </mc:Fallback>
      </mc:AlternateContent>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6e89972e_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6e89972e_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e89972e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e89972e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When mean works well:</a:t>
            </a:r>
            <a:endParaRPr lang="en-CA" dirty="0"/>
          </a:p>
          <a:p>
            <a:r>
              <a:rPr lang="en-CA" dirty="0"/>
              <a:t>Data is </a:t>
            </a:r>
            <a:r>
              <a:rPr lang="en-CA" b="1" dirty="0"/>
              <a:t>symmetric</a:t>
            </a:r>
            <a:r>
              <a:rPr lang="en-CA" dirty="0"/>
              <a:t> (balanced left and right, like a bell curve).</a:t>
            </a:r>
          </a:p>
          <a:p>
            <a:r>
              <a:rPr lang="en-CA" dirty="0"/>
              <a:t>There are </a:t>
            </a:r>
            <a:r>
              <a:rPr lang="en-CA" b="1" dirty="0"/>
              <a:t>no extreme outliers</a:t>
            </a:r>
            <a:r>
              <a:rPr lang="en-CA" dirty="0"/>
              <a:t>.</a:t>
            </a:r>
          </a:p>
          <a:p>
            <a:r>
              <a:rPr lang="en-CA" b="1" dirty="0"/>
              <a:t>When mean can mislead:</a:t>
            </a:r>
            <a:endParaRPr lang="en-CA" dirty="0"/>
          </a:p>
          <a:p>
            <a:r>
              <a:rPr lang="en-CA" b="1" dirty="0"/>
              <a:t>Outliers</a:t>
            </a:r>
            <a:r>
              <a:rPr lang="en-CA" dirty="0"/>
              <a:t> pull the mean away.</a:t>
            </a:r>
          </a:p>
          <a:p>
            <a:pPr lvl="1"/>
            <a:r>
              <a:rPr lang="en-CA" dirty="0"/>
              <a:t>Example: Salaries:</a:t>
            </a:r>
          </a:p>
          <a:p>
            <a:pPr lvl="2"/>
            <a:r>
              <a:rPr lang="en-CA" dirty="0"/>
              <a:t>Four people earn $50k, one earns $5 million.</a:t>
            </a:r>
          </a:p>
          <a:p>
            <a:pPr lvl="2"/>
            <a:r>
              <a:rPr lang="en-CA" dirty="0"/>
              <a:t>Mean salary = about $1 million → but that doesn’t represent most people!</a:t>
            </a:r>
          </a:p>
          <a:p>
            <a:r>
              <a:rPr lang="en-CA" b="1" dirty="0"/>
              <a:t>Skewed data</a:t>
            </a:r>
            <a:r>
              <a:rPr lang="en-CA" dirty="0"/>
              <a:t> (not symmetric):</a:t>
            </a:r>
          </a:p>
          <a:p>
            <a:pPr lvl="1"/>
            <a:r>
              <a:rPr lang="en-CA" dirty="0"/>
              <a:t>Example: Test scores where most are low but a few are very high → mean is higher than the “typical” score.</a:t>
            </a:r>
          </a:p>
          <a:p>
            <a:r>
              <a:rPr lang="en-CA" b="1" dirty="0"/>
              <a:t>Multi-peaks</a:t>
            </a:r>
            <a:r>
              <a:rPr lang="en-CA" dirty="0"/>
              <a:t> (bimodal distribution):</a:t>
            </a:r>
          </a:p>
          <a:p>
            <a:pPr lvl="1"/>
            <a:r>
              <a:rPr lang="en-CA" dirty="0"/>
              <a:t>Example: Heights of a class with both children and adults. The mean is somewhere in between, but almost nobody has that height. The camel shape </a:t>
            </a:r>
          </a:p>
          <a:p>
            <a:r>
              <a:rPr lang="en-CA" dirty="0"/>
              <a:t>👉 </a:t>
            </a:r>
            <a:r>
              <a:rPr lang="en-CA" b="1" dirty="0"/>
              <a:t>Key takeaway:</a:t>
            </a:r>
            <a:endParaRPr lang="en-CA" dirty="0"/>
          </a:p>
          <a:p>
            <a:r>
              <a:rPr lang="en-CA" dirty="0"/>
              <a:t>Mean is powerful and widely used.</a:t>
            </a:r>
          </a:p>
          <a:p>
            <a:r>
              <a:rPr lang="en-CA" dirty="0"/>
              <a:t>But always check the shape of the data. Sometimes </a:t>
            </a:r>
            <a:r>
              <a:rPr lang="en-CA" b="1" dirty="0"/>
              <a:t>median or mode</a:t>
            </a:r>
            <a:r>
              <a:rPr lang="en-CA" dirty="0"/>
              <a:t> gives a better picture.</a:t>
            </a:r>
          </a:p>
          <a:p>
            <a:r>
              <a:rPr lang="en-CA" dirty="0"/>
              <a:t>Mode is where the density function is at highest. </a:t>
            </a:r>
          </a:p>
          <a:p>
            <a:r>
              <a:rPr lang="en-CA" dirty="0"/>
              <a:t>Median is where </a:t>
            </a:r>
            <a:r>
              <a:rPr lang="en-CA" dirty="0" err="1"/>
              <a:t>cdf</a:t>
            </a:r>
            <a:r>
              <a:rPr lang="en-CA" dirty="0"/>
              <a:t> is at 0.5 </a:t>
            </a: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e89972e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6e89972e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Nth root</a:t>
            </a:r>
          </a:p>
          <a:p>
            <a:r>
              <a:rPr lang="en-CA" b="1" dirty="0"/>
              <a:t>Other Centrality Measures (Simplified)</a:t>
            </a:r>
          </a:p>
          <a:p>
            <a:r>
              <a:rPr lang="en-CA" b="1" dirty="0"/>
              <a:t>1. Median</a:t>
            </a:r>
            <a:endParaRPr lang="en-CA" dirty="0"/>
          </a:p>
          <a:p>
            <a:r>
              <a:rPr lang="en-CA" dirty="0"/>
              <a:t>The middle value when numbers are sorted.</a:t>
            </a:r>
          </a:p>
          <a:p>
            <a:r>
              <a:rPr lang="en-CA" dirty="0"/>
              <a:t>Example: Scores = [50, 60, 70, 90, 100] → Median = 70.</a:t>
            </a:r>
          </a:p>
          <a:p>
            <a:r>
              <a:rPr lang="en-CA" dirty="0"/>
              <a:t>Why useful? Median isn’t affected by extreme outliers.</a:t>
            </a:r>
          </a:p>
          <a:p>
            <a:pPr lvl="1"/>
            <a:r>
              <a:rPr lang="en-CA" dirty="0"/>
              <a:t>Example: If one student scored 1000, the median would still be 70, while the mean would shoot up.</a:t>
            </a:r>
          </a:p>
          <a:p>
            <a:r>
              <a:rPr lang="en-CA" b="1" dirty="0"/>
              <a:t>2. Geometric Mean</a:t>
            </a:r>
            <a:endParaRPr lang="en-CA" dirty="0"/>
          </a:p>
          <a:p>
            <a:r>
              <a:rPr lang="en-CA" dirty="0"/>
              <a:t>GM=a1⋅a2⋅…⋅</a:t>
            </a:r>
            <a:r>
              <a:rPr lang="en-CA" dirty="0" err="1"/>
              <a:t>annGM</a:t>
            </a:r>
            <a:r>
              <a:rPr lang="en-CA" dirty="0"/>
              <a:t> = \sqrt[n]{a_1 \</a:t>
            </a:r>
            <a:r>
              <a:rPr lang="en-CA" dirty="0" err="1"/>
              <a:t>cdot</a:t>
            </a:r>
            <a:r>
              <a:rPr lang="en-CA" dirty="0"/>
              <a:t> a_2 \</a:t>
            </a:r>
            <a:r>
              <a:rPr lang="en-CA" dirty="0" err="1"/>
              <a:t>cdot</a:t>
            </a:r>
            <a:r>
              <a:rPr lang="en-CA" dirty="0"/>
              <a:t> \</a:t>
            </a:r>
            <a:r>
              <a:rPr lang="en-CA" dirty="0" err="1"/>
              <a:t>ldots</a:t>
            </a:r>
            <a:r>
              <a:rPr lang="en-CA" dirty="0"/>
              <a:t> \</a:t>
            </a:r>
            <a:r>
              <a:rPr lang="en-CA" dirty="0" err="1"/>
              <a:t>cdot</a:t>
            </a:r>
            <a:r>
              <a:rPr lang="en-CA" dirty="0"/>
              <a:t> </a:t>
            </a:r>
            <a:r>
              <a:rPr lang="en-CA" dirty="0" err="1"/>
              <a:t>a_n</a:t>
            </a:r>
            <a:r>
              <a:rPr lang="en-CA" dirty="0"/>
              <a:t>}GM=na1​⋅a2​⋅…⋅an​​ Instead of adding and dividing (like the mean), we </a:t>
            </a:r>
            <a:r>
              <a:rPr lang="en-CA" b="1" dirty="0"/>
              <a:t>multiply</a:t>
            </a:r>
            <a:r>
              <a:rPr lang="en-CA" dirty="0"/>
              <a:t> numbers and then take the nth root.</a:t>
            </a:r>
          </a:p>
          <a:p>
            <a:r>
              <a:rPr lang="en-CA" dirty="0"/>
              <a:t>Example: For values 4 and 9:</a:t>
            </a:r>
          </a:p>
          <a:p>
            <a:r>
              <a:rPr lang="en-CA" dirty="0"/>
              <a:t>GM=4⋅9=36=6GM = \sqrt{4 \</a:t>
            </a:r>
            <a:r>
              <a:rPr lang="en-CA" dirty="0" err="1"/>
              <a:t>cdot</a:t>
            </a:r>
            <a:r>
              <a:rPr lang="en-CA" dirty="0"/>
              <a:t> 9} = \sqrt{36} = 6GM=4⋅9​=36​=6 </a:t>
            </a:r>
          </a:p>
          <a:p>
            <a:r>
              <a:rPr lang="en-CA" dirty="0"/>
              <a:t>Always ≤ arithmetic mean.</a:t>
            </a:r>
          </a:p>
          <a:p>
            <a:r>
              <a:rPr lang="en-CA" dirty="0"/>
              <a:t>How to make geometric mean useless? </a:t>
            </a:r>
          </a:p>
          <a:p>
            <a:r>
              <a:rPr lang="en-CA" dirty="0"/>
              <a:t>How to make Arithmetic mean useless?</a:t>
            </a:r>
          </a:p>
          <a:p>
            <a:endParaRPr lang="en-CA" dirty="0"/>
          </a:p>
          <a:p>
            <a:r>
              <a:rPr lang="en-CA" b="1" dirty="0"/>
              <a:t>When does geometric mean make sense?</a:t>
            </a:r>
            <a:endParaRPr lang="en-CA" dirty="0"/>
          </a:p>
          <a:p>
            <a:r>
              <a:rPr lang="en-CA" dirty="0"/>
              <a:t>Especially useful for </a:t>
            </a:r>
            <a:r>
              <a:rPr lang="en-CA" b="1" dirty="0"/>
              <a:t>ratios, percentages, or rates of growth</a:t>
            </a:r>
            <a:r>
              <a:rPr lang="en-CA" dirty="0"/>
              <a:t>.</a:t>
            </a:r>
          </a:p>
          <a:p>
            <a:pPr lvl="1"/>
            <a:r>
              <a:rPr lang="en-CA" dirty="0"/>
              <a:t>Example: A stock grows by +50% one year and then shrinks by –50% the next.</a:t>
            </a:r>
          </a:p>
          <a:p>
            <a:pPr lvl="2"/>
            <a:r>
              <a:rPr lang="en-CA" dirty="0"/>
              <a:t>Arithmetic mean says: (50% – 50%) / 2 = 0% (looks like no change).</a:t>
            </a:r>
          </a:p>
          <a:p>
            <a:pPr lvl="2"/>
            <a:r>
              <a:rPr lang="en-CA" dirty="0"/>
              <a:t>Geometric mean correctly shows the net effect: you actually lost money!</a:t>
            </a:r>
          </a:p>
          <a:p>
            <a:r>
              <a:rPr lang="en-CA" dirty="0"/>
              <a:t>Another example: Ratios like 1/2 and 2/1.</a:t>
            </a:r>
          </a:p>
          <a:p>
            <a:pPr lvl="1"/>
            <a:r>
              <a:rPr lang="en-CA" dirty="0"/>
              <a:t>Arithmetic mean = (0.5 + 2) / 2 = 1.25</a:t>
            </a:r>
          </a:p>
          <a:p>
            <a:pPr lvl="1"/>
            <a:r>
              <a:rPr lang="en-CA" dirty="0"/>
              <a:t>Geometric mean = √(0.5 × 2) = √1 = 1 ✅ (which feels more “balanced”).</a:t>
            </a:r>
          </a:p>
          <a:p>
            <a:r>
              <a:rPr lang="en-CA" dirty="0"/>
              <a:t>👉 </a:t>
            </a:r>
            <a:r>
              <a:rPr lang="en-CA" b="1" dirty="0"/>
              <a:t>Key takeaway for students:</a:t>
            </a:r>
            <a:endParaRPr lang="en-CA" dirty="0"/>
          </a:p>
          <a:p>
            <a:r>
              <a:rPr lang="en-CA" b="1" dirty="0"/>
              <a:t>Median</a:t>
            </a:r>
            <a:r>
              <a:rPr lang="en-CA" dirty="0"/>
              <a:t> = good when data has outliers or skew.</a:t>
            </a:r>
          </a:p>
          <a:p>
            <a:r>
              <a:rPr lang="en-CA" b="1" dirty="0"/>
              <a:t>Geometric mean</a:t>
            </a:r>
            <a:r>
              <a:rPr lang="en-CA" dirty="0"/>
              <a:t> = good when dealing with </a:t>
            </a:r>
            <a:r>
              <a:rPr lang="en-CA" b="1" dirty="0"/>
              <a:t>growth rates or ratios</a:t>
            </a:r>
            <a:r>
              <a:rPr lang="en-CA" dirty="0"/>
              <a:t>.</a:t>
            </a:r>
          </a:p>
          <a:p>
            <a:r>
              <a:rPr lang="en-CA" dirty="0"/>
              <a:t>Would you like me to also </a:t>
            </a:r>
            <a:r>
              <a:rPr lang="en-CA" b="1" dirty="0"/>
              <a:t>make a table comparing mean, median, and geometric mean (with pros, cons, and examples)</a:t>
            </a:r>
            <a:r>
              <a:rPr lang="en-CA" dirty="0"/>
              <a:t> so students can see the differences side-by-side?</a:t>
            </a:r>
          </a:p>
          <a:p>
            <a:r>
              <a:rPr lang="en-CA" dirty="0"/>
              <a:t>Absolutely 👍 — here are some clear, student-friendly examples that show </a:t>
            </a:r>
            <a:r>
              <a:rPr lang="en-CA" b="1" dirty="0"/>
              <a:t>why geometric mean works well for ratios</a:t>
            </a:r>
            <a:r>
              <a:rPr lang="en-CA" dirty="0"/>
              <a:t>:</a:t>
            </a:r>
          </a:p>
          <a:p>
            <a:r>
              <a:rPr lang="en-CA" b="1" dirty="0"/>
              <a:t>Example 1: Ratios (1/2 and 2/1)</a:t>
            </a:r>
          </a:p>
          <a:p>
            <a:r>
              <a:rPr lang="en-CA" dirty="0"/>
              <a:t>Suppose two measurements are ratios: 12=0.5\</a:t>
            </a:r>
            <a:r>
              <a:rPr lang="en-CA" dirty="0" err="1"/>
              <a:t>tfrac</a:t>
            </a:r>
            <a:r>
              <a:rPr lang="en-CA" dirty="0"/>
              <a:t>{1}{2} = 0.521​=0.5 and 21=2\</a:t>
            </a:r>
            <a:r>
              <a:rPr lang="en-CA" dirty="0" err="1"/>
              <a:t>tfrac</a:t>
            </a:r>
            <a:r>
              <a:rPr lang="en-CA" dirty="0"/>
              <a:t>{2}{1} = 212​=2.</a:t>
            </a:r>
          </a:p>
          <a:p>
            <a:r>
              <a:rPr lang="en-CA" dirty="0"/>
              <a:t>Arithmetic mean:</a:t>
            </a:r>
          </a:p>
          <a:p>
            <a:r>
              <a:rPr lang="en-CA" dirty="0"/>
              <a:t>0.5+22=1.25\frac{0.5 + 2}{2} = 1.2520.5+2​=1.25 This feels </a:t>
            </a:r>
            <a:r>
              <a:rPr lang="en-CA" b="1" dirty="0"/>
              <a:t>too high</a:t>
            </a:r>
            <a:r>
              <a:rPr lang="en-CA" dirty="0"/>
              <a:t>, because 0.5 and 2 are opposites (they should balance out).</a:t>
            </a:r>
          </a:p>
          <a:p>
            <a:r>
              <a:rPr lang="en-CA" dirty="0"/>
              <a:t>Geometric mean:</a:t>
            </a:r>
          </a:p>
          <a:p>
            <a:r>
              <a:rPr lang="en-CA" dirty="0"/>
              <a:t>0.5×2=1=1\sqrt{0.5 \times 2} = \sqrt{1} = 10.5×2​=1​=1 ✅ Much more natural — the “average ratio” should be </a:t>
            </a:r>
            <a:r>
              <a:rPr lang="en-CA" b="1" dirty="0"/>
              <a:t>1</a:t>
            </a:r>
            <a:r>
              <a:rPr lang="en-CA" dirty="0"/>
              <a:t>.</a:t>
            </a:r>
          </a:p>
          <a:p>
            <a:r>
              <a:rPr lang="en-CA" b="1" dirty="0"/>
              <a:t>Example 2: Growth Rates (Stock Prices)</a:t>
            </a:r>
          </a:p>
          <a:p>
            <a:r>
              <a:rPr lang="en-CA" dirty="0"/>
              <a:t>Year 1: stock grows by +50% → multiply by 1.5.</a:t>
            </a:r>
          </a:p>
          <a:p>
            <a:r>
              <a:rPr lang="en-CA" dirty="0"/>
              <a:t>Year 2: stock shrinks by –50% → multiply by 0.5.</a:t>
            </a:r>
          </a:p>
          <a:p>
            <a:r>
              <a:rPr lang="en-CA" dirty="0"/>
              <a:t>After 2 years:</a:t>
            </a:r>
          </a:p>
          <a:p>
            <a:r>
              <a:rPr lang="en-CA" dirty="0"/>
              <a:t>1×1.5×0.5=0.751 \times 1.5 \times 0.5 = 0.751×1.5×0.5=0.75 So you actually lost </a:t>
            </a:r>
            <a:r>
              <a:rPr lang="en-CA" b="1" dirty="0"/>
              <a:t>25%</a:t>
            </a:r>
            <a:r>
              <a:rPr lang="en-CA" dirty="0"/>
              <a:t> overall.</a:t>
            </a:r>
          </a:p>
          <a:p>
            <a:r>
              <a:rPr lang="en-CA" dirty="0"/>
              <a:t>Arithmetic mean would say: (50% – 50%) / 2 = 0% → no change (misleading!).</a:t>
            </a:r>
          </a:p>
          <a:p>
            <a:r>
              <a:rPr lang="en-CA" dirty="0"/>
              <a:t>Geometric mean:</a:t>
            </a:r>
          </a:p>
          <a:p>
            <a:r>
              <a:rPr lang="en-CA" dirty="0"/>
              <a:t>1.5×0.5=0.75≈0.866\sqrt{1.5 \times 0.5} = \sqrt{0.75} \</a:t>
            </a:r>
            <a:r>
              <a:rPr lang="en-CA" dirty="0" err="1"/>
              <a:t>approx</a:t>
            </a:r>
            <a:r>
              <a:rPr lang="en-CA" dirty="0"/>
              <a:t> 0.8661.5×0.5​=0.75​≈0.866 → This corresponds to an </a:t>
            </a:r>
            <a:r>
              <a:rPr lang="en-CA" b="1" dirty="0"/>
              <a:t>average –13.4% per year</a:t>
            </a:r>
            <a:r>
              <a:rPr lang="en-CA" dirty="0"/>
              <a:t>, which is correct.</a:t>
            </a:r>
          </a:p>
          <a:p>
            <a:r>
              <a:rPr lang="en-CA" b="1" dirty="0"/>
              <a:t>Example 3: Ratios in Speed</a:t>
            </a:r>
          </a:p>
          <a:p>
            <a:r>
              <a:rPr lang="en-CA" dirty="0"/>
              <a:t>You drive the same distance twice:</a:t>
            </a:r>
          </a:p>
          <a:p>
            <a:pPr lvl="1"/>
            <a:r>
              <a:rPr lang="en-CA" dirty="0"/>
              <a:t>First half at 60 km/h.</a:t>
            </a:r>
          </a:p>
          <a:p>
            <a:pPr lvl="1"/>
            <a:r>
              <a:rPr lang="en-CA" dirty="0"/>
              <a:t>Second half at 120 km/h.</a:t>
            </a:r>
          </a:p>
          <a:p>
            <a:r>
              <a:rPr lang="en-CA" dirty="0"/>
              <a:t>Arithmetic mean of speeds = (60 + 120) / 2 = 90 km/h. ❌ Wrong.</a:t>
            </a:r>
          </a:p>
          <a:p>
            <a:r>
              <a:rPr lang="en-CA" dirty="0"/>
              <a:t>Correct average speed (harmonic mean, but geometric mean also helps here for ratios):</a:t>
            </a:r>
          </a:p>
          <a:p>
            <a:r>
              <a:rPr lang="en-CA" dirty="0"/>
              <a:t>60×120=7200≈84.85 km/h\sqrt{60 \times 120} = \sqrt{7200} \</a:t>
            </a:r>
            <a:r>
              <a:rPr lang="en-CA" dirty="0" err="1"/>
              <a:t>approx</a:t>
            </a:r>
            <a:r>
              <a:rPr lang="en-CA" dirty="0"/>
              <a:t> 84.85 \, \text{km/h}60×120​=7200​≈84.85km/h ✅ Closer to the true average.</a:t>
            </a:r>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CA" dirty="0"/>
              <a:t>Mean is meaningful for symmetric distributions without outliers: e.g. height and weight.</a:t>
            </a:r>
          </a:p>
          <a:p>
            <a:pPr marL="0" indent="0">
              <a:buNone/>
            </a:pPr>
            <a:r>
              <a:rPr lang="en-CA" dirty="0"/>
              <a:t>Median is better for skewed distributions or data with outliers: e.g. wealth and income.</a:t>
            </a:r>
          </a:p>
          <a:p>
            <a:pPr marL="0" indent="0">
              <a:buClr>
                <a:schemeClr val="dk1"/>
              </a:buClr>
              <a:buSzPts val="1100"/>
              <a:buNone/>
            </a:pPr>
            <a:r>
              <a:rPr lang="en-CA" dirty="0">
                <a:solidFill>
                  <a:srgbClr val="0000FF"/>
                </a:solidFill>
              </a:rPr>
              <a:t>Bill Gates adds $250 to the mean per capita wealth but nothing to the median.</a:t>
            </a:r>
          </a:p>
          <a:p>
            <a:pPr marL="0" indent="0">
              <a:buNone/>
            </a:pPr>
            <a:endParaRPr lang="en-CA" dirty="0"/>
          </a:p>
          <a:p>
            <a:r>
              <a:rPr lang="en-CA" dirty="0"/>
              <a:t>Then we subtract 1 to convert that </a:t>
            </a:r>
            <a:r>
              <a:rPr lang="en-CA" b="1" dirty="0"/>
              <a:t>average growth factor</a:t>
            </a:r>
            <a:r>
              <a:rPr lang="en-CA" dirty="0"/>
              <a:t> into an </a:t>
            </a:r>
            <a:r>
              <a:rPr lang="en-CA" b="1" dirty="0"/>
              <a:t>average growth rate</a:t>
            </a:r>
            <a:r>
              <a:rPr lang="en-CA" dirty="0"/>
              <a:t>:</a:t>
            </a:r>
          </a:p>
          <a:p>
            <a:r>
              <a:rPr lang="en-CA" dirty="0"/>
              <a:t>\[ 0.866-1=-0.134=-13.4\% \]</a:t>
            </a:r>
          </a:p>
          <a:p>
            <a:endParaRPr lang="en-CA" dirty="0"/>
          </a:p>
          <a:p>
            <a:r>
              <a:rPr lang="en-CA" dirty="0"/>
              <a:t>Imagine you start with </a:t>
            </a:r>
            <a:r>
              <a:rPr lang="en-CA" b="1" dirty="0"/>
              <a:t>$100</a:t>
            </a:r>
            <a:r>
              <a:rPr lang="en-CA" dirty="0"/>
              <a:t>:</a:t>
            </a:r>
          </a:p>
          <a:p>
            <a:pPr lvl="0"/>
            <a:r>
              <a:rPr lang="en-CA" b="1" dirty="0"/>
              <a:t>Year 1: +50%</a:t>
            </a:r>
            <a:r>
              <a:rPr lang="en-CA" dirty="0"/>
              <a:t> → $100 × 1.5 = </a:t>
            </a:r>
            <a:r>
              <a:rPr lang="en-CA" b="1" dirty="0"/>
              <a:t>$150</a:t>
            </a:r>
            <a:endParaRPr lang="en-CA" dirty="0"/>
          </a:p>
          <a:p>
            <a:pPr lvl="0"/>
            <a:r>
              <a:rPr lang="en-CA" b="1" dirty="0"/>
              <a:t>Year 2: −50%</a:t>
            </a:r>
            <a:r>
              <a:rPr lang="en-CA" dirty="0"/>
              <a:t> → $150 × 0.5 = </a:t>
            </a:r>
            <a:r>
              <a:rPr lang="en-CA" b="1" dirty="0"/>
              <a:t>$75</a:t>
            </a:r>
            <a:endParaRPr lang="en-CA" dirty="0"/>
          </a:p>
          <a:p>
            <a:r>
              <a:rPr lang="en-CA" dirty="0"/>
              <a:t>You end with </a:t>
            </a:r>
            <a:r>
              <a:rPr lang="en-CA" b="1" dirty="0"/>
              <a:t>less than you started</a:t>
            </a:r>
            <a:r>
              <a:rPr lang="en-CA" dirty="0"/>
              <a:t>, even though the arithmetic mean is:</a:t>
            </a:r>
          </a:p>
          <a:p>
            <a:r>
              <a:rPr lang="en-CA" dirty="0"/>
              <a:t>\[ \frac{50\% + (-50\%)}{2}=0\% \]</a:t>
            </a:r>
          </a:p>
          <a:p>
            <a:r>
              <a:rPr lang="en-CA" dirty="0"/>
              <a:t>That calculation is correct, but </a:t>
            </a:r>
            <a:r>
              <a:rPr lang="en-CA" b="1" dirty="0"/>
              <a:t>it doesn’t describe your compounded growth</a:t>
            </a:r>
            <a:r>
              <a:rPr lang="en-CA" dirty="0"/>
              <a:t>. The 50% loss applies to the larger amount of $150.</a:t>
            </a:r>
          </a:p>
          <a:p>
            <a:r>
              <a:rPr lang="en-CA" dirty="0"/>
              <a:t>The geometric mean finds the </a:t>
            </a:r>
            <a:r>
              <a:rPr lang="en-CA" b="1" dirty="0"/>
              <a:t>constant yearly rate that would also turn $100 into $75 over two years</a:t>
            </a:r>
            <a:r>
              <a:rPr lang="en-CA" dirty="0"/>
              <a:t>:</a:t>
            </a:r>
          </a:p>
          <a:p>
            <a:r>
              <a:rPr lang="en-CA" dirty="0"/>
              <a:t>\[ r=\sqrt{1.5\times0.5}-1 =\sqrt{0.75}-1 \</a:t>
            </a:r>
            <a:r>
              <a:rPr lang="en-CA" dirty="0" err="1"/>
              <a:t>approx</a:t>
            </a:r>
            <a:r>
              <a:rPr lang="en-CA" dirty="0"/>
              <a:t> -13.4\% \]</a:t>
            </a:r>
          </a:p>
          <a:p>
            <a:r>
              <a:rPr lang="en-CA" dirty="0"/>
              <a:t>So gaining 50% and then losing 50% has the same final result as </a:t>
            </a:r>
            <a:r>
              <a:rPr lang="en-CA" b="1" dirty="0"/>
              <a:t>losing about 13.4% each year for two years</a:t>
            </a:r>
            <a:r>
              <a:rPr lang="en-CA" dirty="0"/>
              <a:t>.</a:t>
            </a:r>
          </a:p>
          <a:p>
            <a:r>
              <a:rPr lang="en-CA" dirty="0"/>
              <a:t>10:58 AM</a:t>
            </a:r>
          </a:p>
          <a:p>
            <a:endParaRPr lang="en-CA" dirty="0"/>
          </a:p>
        </p:txBody>
      </p:sp>
      <p:sp>
        <p:nvSpPr>
          <p:cNvPr id="4" name="Slide Number Placeholder 3"/>
          <p:cNvSpPr>
            <a:spLocks noGrp="1"/>
          </p:cNvSpPr>
          <p:nvPr>
            <p:ph type="sldNum" sz="quarter" idx="5"/>
          </p:nvPr>
        </p:nvSpPr>
        <p:spPr/>
        <p:txBody>
          <a:bodyPr/>
          <a:lstStyle/>
          <a:p>
            <a:fld id="{C49E8059-5017-40A8-859E-4C3C09B86F9A}" type="slidenum">
              <a:rPr lang="en-CA" smtClean="0"/>
              <a:t>15</a:t>
            </a:fld>
            <a:endParaRPr lang="en-CA"/>
          </a:p>
        </p:txBody>
      </p:sp>
    </p:spTree>
    <p:extLst>
      <p:ext uri="{BB962C8B-B14F-4D97-AF65-F5344CB8AC3E}">
        <p14:creationId xmlns:p14="http://schemas.microsoft.com/office/powerpoint/2010/main" val="737272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e89972e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e89972e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Why divide by n or n−1?</a:t>
            </a:r>
            <a:endParaRPr lang="en-CA" dirty="0"/>
          </a:p>
          <a:p>
            <a:r>
              <a:rPr lang="en-CA" b="1" dirty="0"/>
              <a:t>Population standard deviation</a:t>
            </a:r>
            <a:r>
              <a:rPr lang="en-CA" dirty="0"/>
              <a:t> (when you have all the data) → divide by </a:t>
            </a:r>
            <a:r>
              <a:rPr lang="en-CA" b="1" dirty="0"/>
              <a:t>n</a:t>
            </a:r>
            <a:r>
              <a:rPr lang="en-CA" dirty="0"/>
              <a:t>.</a:t>
            </a:r>
          </a:p>
          <a:p>
            <a:r>
              <a:rPr lang="en-CA" b="1" dirty="0"/>
              <a:t>Sample standard deviation</a:t>
            </a:r>
            <a:r>
              <a:rPr lang="en-CA" dirty="0"/>
              <a:t> (when using a sample to estimate the population) → divide by </a:t>
            </a:r>
            <a:r>
              <a:rPr lang="en-CA" b="1" dirty="0"/>
              <a:t>n–1</a:t>
            </a:r>
            <a:r>
              <a:rPr lang="en-CA" dirty="0"/>
              <a:t>.</a:t>
            </a:r>
          </a:p>
          <a:p>
            <a:pPr lvl="1"/>
            <a:r>
              <a:rPr lang="en-CA" dirty="0"/>
              <a:t>This correction is called </a:t>
            </a:r>
            <a:r>
              <a:rPr lang="en-CA" b="1" dirty="0"/>
              <a:t>Bessel’s correction</a:t>
            </a:r>
            <a:r>
              <a:rPr lang="en-CA" dirty="0"/>
              <a:t>, and it makes the estimate less biased.</a:t>
            </a:r>
          </a:p>
          <a:p>
            <a:pPr marL="0" lvl="0" indent="0" algn="l" rtl="0">
              <a:spcBef>
                <a:spcPts val="0"/>
              </a:spcBef>
              <a:spcAft>
                <a:spcPts val="0"/>
              </a:spcAft>
              <a:buNone/>
            </a:pPr>
            <a:endParaRPr lang="en-CA" dirty="0"/>
          </a:p>
          <a:p>
            <a:r>
              <a:rPr lang="en-CA" b="1" dirty="0"/>
              <a:t>Why do we divide by (n–1) instead of n?</a:t>
            </a:r>
          </a:p>
          <a:p>
            <a:r>
              <a:rPr lang="en-CA" dirty="0"/>
              <a:t>When we use a </a:t>
            </a:r>
            <a:r>
              <a:rPr lang="en-CA" b="1" dirty="0"/>
              <a:t>sample</a:t>
            </a:r>
            <a:r>
              <a:rPr lang="en-CA" dirty="0"/>
              <a:t> (a subset of the population), the sample mean xˉ is already “pulled” toward the data we observed.</a:t>
            </a:r>
          </a:p>
          <a:p>
            <a:r>
              <a:rPr lang="en-CA" dirty="0"/>
              <a:t>This makes the spread (variance) look a little </a:t>
            </a:r>
            <a:r>
              <a:rPr lang="en-CA" b="1" dirty="0"/>
              <a:t>smaller</a:t>
            </a:r>
            <a:r>
              <a:rPr lang="en-CA" dirty="0"/>
              <a:t> than it really is in the full population.</a:t>
            </a:r>
          </a:p>
          <a:p>
            <a:r>
              <a:rPr lang="en-CA" dirty="0"/>
              <a:t>Dividing by n−1 instead of n </a:t>
            </a:r>
            <a:r>
              <a:rPr lang="en-CA" b="1" dirty="0"/>
              <a:t>corrects this underestimation</a:t>
            </a:r>
            <a:r>
              <a:rPr lang="en-CA" dirty="0"/>
              <a:t> → it gives us an </a:t>
            </a:r>
            <a:r>
              <a:rPr lang="en-CA" b="1" dirty="0"/>
              <a:t>unbiased estimator</a:t>
            </a:r>
            <a:r>
              <a:rPr lang="en-CA" dirty="0"/>
              <a:t> of the true population variance.</a:t>
            </a:r>
          </a:p>
          <a:p>
            <a:r>
              <a:rPr lang="en-CA" b="1" dirty="0"/>
              <a:t>Example: Tiny Population</a:t>
            </a:r>
          </a:p>
          <a:p>
            <a:r>
              <a:rPr lang="en-CA" dirty="0"/>
              <a:t>Population = {2, 4, 6}</a:t>
            </a:r>
          </a:p>
          <a:p>
            <a:r>
              <a:rPr lang="en-CA" dirty="0"/>
              <a:t>Population mean = 4</a:t>
            </a:r>
          </a:p>
          <a:p>
            <a:r>
              <a:rPr lang="en-CA" dirty="0"/>
              <a:t>Population variance =~2.67 </a:t>
            </a:r>
          </a:p>
          <a:p>
            <a:r>
              <a:rPr lang="en-CA" b="1" dirty="0"/>
              <a:t>Case 1: Sample of size 2, divide by n</a:t>
            </a:r>
          </a:p>
          <a:p>
            <a:r>
              <a:rPr lang="en-CA" dirty="0"/>
              <a:t>Pick sample {2, 4}:</a:t>
            </a:r>
          </a:p>
          <a:p>
            <a:r>
              <a:rPr lang="en-CA" dirty="0"/>
              <a:t>Sample mean = 3</a:t>
            </a:r>
          </a:p>
          <a:p>
            <a:r>
              <a:rPr lang="en-CA" dirty="0"/>
              <a:t>Variance (divide by 2): 1 This </a:t>
            </a:r>
            <a:r>
              <a:rPr lang="en-CA" b="1" dirty="0"/>
              <a:t>underestimates</a:t>
            </a:r>
            <a:r>
              <a:rPr lang="en-CA" dirty="0"/>
              <a:t> the true variance (2.67).</a:t>
            </a:r>
          </a:p>
          <a:p>
            <a:r>
              <a:rPr lang="en-CA" b="1" dirty="0"/>
              <a:t>Case 2: Sample of size 2, divide by n–1</a:t>
            </a:r>
          </a:p>
          <a:p>
            <a:r>
              <a:rPr lang="en-CA" dirty="0"/>
              <a:t>Same sample {2, 4}:</a:t>
            </a:r>
          </a:p>
          <a:p>
            <a:r>
              <a:rPr lang="en-CA" dirty="0"/>
              <a:t>Variance (divide by 1):</a:t>
            </a:r>
          </a:p>
          <a:p>
            <a:r>
              <a:rPr lang="en-CA" dirty="0"/>
              <a:t>2 Much closer to the population variance (2.67).</a:t>
            </a:r>
          </a:p>
          <a:p>
            <a:pPr marL="0" lvl="0" indent="0" algn="l" rtl="0">
              <a:spcBef>
                <a:spcPts val="0"/>
              </a:spcBef>
              <a:spcAft>
                <a:spcPts val="0"/>
              </a:spcAft>
              <a:buNone/>
            </a:pPr>
            <a:r>
              <a:rPr lang="en-CA" dirty="0" err="1"/>
              <a:t>Samlple</a:t>
            </a:r>
            <a:r>
              <a:rPr lang="en-CA" dirty="0"/>
              <a:t> size of 1, </a:t>
            </a:r>
            <a:r>
              <a:rPr lang="en-CA" dirty="0" err="1"/>
              <a:t>vatiation</a:t>
            </a:r>
            <a:r>
              <a:rPr lang="en-CA" dirty="0"/>
              <a:t> becomes zero which is not correct</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89972e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150" name="Google Shape;150;g36e89972e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Understanding variance helps because it tells you </a:t>
                </a:r>
                <a:r>
                  <a:rPr lang="en-CA" b="1" dirty="0"/>
                  <a:t>how much variation you should expect from noise alone</a:t>
                </a:r>
                <a:r>
                  <a:rPr lang="en-CA" dirty="0"/>
                  <a:t>.</a:t>
                </a:r>
              </a:p>
              <a:p>
                <a:r>
                  <a:rPr lang="en-CA" dirty="0"/>
                  <a:t>Suppose two fund managers have the same true skill. Even then, their yearly returns will not be identical because of random market movements. If the variance of returns is large, their results may differ a lot just by chance.</a:t>
                </a:r>
              </a:p>
              <a:p>
                <a:r>
                  <a:rPr lang="en-CA" dirty="0"/>
                  <a:t>For example:</a:t>
                </a:r>
              </a:p>
              <a:p>
                <a:pPr lvl="0"/>
                <a:r>
                  <a:rPr lang="en-CA" dirty="0"/>
                  <a:t>True skill difference: maybe only </a:t>
                </a:r>
                <a:r>
                  <a:rPr lang="en-CA" b="1" dirty="0"/>
                  <a:t>1%</a:t>
                </a:r>
                <a:r>
                  <a:rPr lang="en-CA" dirty="0"/>
                  <a:t> </a:t>
                </a:r>
              </a:p>
              <a:p>
                <a:pPr lvl="0"/>
                <a:r>
                  <a:rPr lang="en-CA" dirty="0"/>
                  <a:t>Typical random fluctuation: maybe </a:t>
                </a:r>
                <a:r>
                  <a:rPr lang="en-CA" b="1" dirty="0"/>
                  <a:t>±15%</a:t>
                </a:r>
                <a:r>
                  <a:rPr lang="en-CA" dirty="0"/>
                  <a:t> </a:t>
                </a:r>
              </a:p>
              <a:p>
                <a:r>
                  <a:rPr lang="en-CA" dirty="0"/>
                  <a:t>Then seeing one manager outperform another by 5% in one year is not very convincing, because 5% is small compared with the amount of randomness we normally expect.</a:t>
                </a:r>
              </a:p>
              <a:p>
                <a:r>
                  <a:rPr lang="en-CA" dirty="0"/>
                  <a:t>But imagine instead that random fluctuation is only </a:t>
                </a:r>
                <a:r>
                  <a:rPr lang="en-CA" b="1" dirty="0"/>
                  <a:t>±1%</a:t>
                </a:r>
                <a:r>
                  <a:rPr lang="en-CA" dirty="0"/>
                  <a:t>, and one manager repeatedly beats another by 5%. Now that difference is much harder to explain as noise, so it looks more like a real signal.</a:t>
                </a:r>
              </a:p>
              <a:p>
                <a:r>
                  <a:rPr lang="en-CA" dirty="0"/>
                  <a:t>So variance gives you a </a:t>
                </a:r>
                <a:r>
                  <a:rPr lang="en-CA" b="1" dirty="0"/>
                  <a:t>baseline for noise</a:t>
                </a:r>
                <a:r>
                  <a:rPr lang="en-CA" dirty="0"/>
                  <a:t>:</a:t>
                </a:r>
              </a:p>
              <a:p>
                <a:pPr/>
                <a14:m>
                  <m:oMathPara xmlns:m="http://schemas.openxmlformats.org/officeDocument/2006/math">
                    <m:oMath>
                      <m:r>
                        <m:rPr>
                          <m:nor/>
                        </m:rPr>
                        <a:rPr lang="en-CA" b="0" i="0"/>
                        <m:t>Is the observed difference large compared with normal random variation?</m:t>
                      </m:r>
                    </m:oMath>
                  </m:oMathPara>
                </a14:m>
                <a:endParaRPr lang="en-CA" b="0" dirty="0"/>
              </a:p>
              <a:p>
                <a:r>
                  <a:rPr lang="en-CA" dirty="0"/>
                  <a:t>That is the key question.</a:t>
                </a:r>
              </a:p>
              <a:p>
                <a:r>
                  <a:rPr lang="en-CA" dirty="0"/>
                  <a:t>A simple way to think of it is:</a:t>
                </a:r>
              </a:p>
              <a:p>
                <a:pPr/>
                <a14:m>
                  <m:oMathPara xmlns:m="http://schemas.openxmlformats.org/officeDocument/2006/math">
                    <m:oMath>
                      <m:r>
                        <m:rPr>
                          <m:nor/>
                        </m:rPr>
                        <a:rPr lang="en-CA" b="0" i="0"/>
                        <m:t>Signal−to−noise</m:t>
                      </m:r>
                      <m:r>
                        <a:rPr lang="en-CA" sz="1200" b="0" i="0" kern="1200">
                          <a:solidFill>
                            <a:schemeClr val="tx1"/>
                          </a:solidFill>
                          <a:latin typeface="Cambria Math" panose="02040503050406030204" pitchFamily="18" charset="0"/>
                          <a:ea typeface="+mn-ea"/>
                          <a:cs typeface="+mn-cs"/>
                        </a:rPr>
                        <m:t>≈</m:t>
                      </m:r>
                      <m:f>
                        <m:fPr>
                          <m:ctrlPr>
                            <a:rPr lang="en-CA" sz="1200" b="0" i="0" kern="1200">
                              <a:solidFill>
                                <a:schemeClr val="tx1"/>
                              </a:solidFill>
                              <a:latin typeface="+mn-lt"/>
                              <a:ea typeface="+mn-ea"/>
                              <a:cs typeface="+mn-cs"/>
                            </a:rPr>
                          </m:ctrlPr>
                        </m:fPr>
                        <m:num>
                          <m:r>
                            <m:rPr>
                              <m:nor/>
                            </m:rPr>
                            <a:rPr lang="en-CA" sz="1200" b="0" i="0" kern="1200">
                              <a:solidFill>
                                <a:schemeClr val="tx1"/>
                              </a:solidFill>
                              <a:latin typeface="+mn-lt"/>
                              <a:ea typeface="+mn-ea"/>
                              <a:cs typeface="+mn-cs"/>
                            </a:rPr>
                            <m:t>difference we care about</m:t>
                          </m:r>
                        </m:num>
                        <m:den>
                          <m:r>
                            <m:rPr>
                              <m:nor/>
                            </m:rPr>
                            <a:rPr lang="en-CA" sz="1200" b="0" i="0" kern="1200">
                              <a:solidFill>
                                <a:schemeClr val="tx1"/>
                              </a:solidFill>
                              <a:latin typeface="+mn-lt"/>
                              <a:ea typeface="+mn-ea"/>
                              <a:cs typeface="+mn-cs"/>
                            </a:rPr>
                            <m:t>typical random variation</m:t>
                          </m:r>
                        </m:den>
                      </m:f>
                    </m:oMath>
                  </m:oMathPara>
                </a14:m>
                <a:endParaRPr lang="en-CA" b="0" dirty="0"/>
              </a:p>
              <a:p>
                <a:r>
                  <a:rPr lang="en-CA" dirty="0"/>
                  <a:t>If variance is high, the denominator is large → signal is harder to detect.</a:t>
                </a:r>
              </a:p>
              <a:p>
                <a:r>
                  <a:rPr lang="en-CA" dirty="0"/>
                  <a:t>If variance is low, the denominator is small → real differences stand out more clearly.</a:t>
                </a:r>
              </a:p>
              <a:p>
                <a:r>
                  <a:rPr lang="en-CA" dirty="0"/>
                  <a:t>So variance does not itself tell you “this part is signal and this part is noise.” It tells you </a:t>
                </a:r>
                <a:r>
                  <a:rPr lang="en-CA" b="1" dirty="0"/>
                  <a:t>how noisy the environment is</a:t>
                </a:r>
                <a:r>
                  <a:rPr lang="en-CA" dirty="0"/>
                  <a:t>, which lets you judge whether an observed pattern is unusually large or could easily have happened by chance.</a:t>
                </a:r>
              </a:p>
            </p:txBody>
          </p:sp>
        </mc:Choice>
        <mc:Fallback xmlns="">
          <p:sp>
            <p:nvSpPr>
              <p:cNvPr id="150" name="Google Shape;150;g36e89972e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Understanding variance helps because it tells you </a:t>
                </a:r>
                <a:r>
                  <a:rPr lang="en-CA" b="1" dirty="0"/>
                  <a:t>how much variation you should expect from noise alone</a:t>
                </a:r>
                <a:r>
                  <a:rPr lang="en-CA" dirty="0"/>
                  <a:t>.</a:t>
                </a:r>
              </a:p>
              <a:p>
                <a:r>
                  <a:rPr lang="en-CA" dirty="0"/>
                  <a:t>Suppose two fund managers have the same true skill. Even then, their yearly returns will not be identical because of random market movements. If the variance of returns is large, their results may differ a lot just by chance.</a:t>
                </a:r>
              </a:p>
              <a:p>
                <a:r>
                  <a:rPr lang="en-CA" dirty="0"/>
                  <a:t>For example:</a:t>
                </a:r>
              </a:p>
              <a:p>
                <a:pPr lvl="0"/>
                <a:r>
                  <a:rPr lang="en-CA" dirty="0"/>
                  <a:t>True skill difference: maybe only </a:t>
                </a:r>
                <a:r>
                  <a:rPr lang="en-CA" b="1" dirty="0"/>
                  <a:t>1%</a:t>
                </a:r>
                <a:r>
                  <a:rPr lang="en-CA" dirty="0"/>
                  <a:t> </a:t>
                </a:r>
              </a:p>
              <a:p>
                <a:pPr lvl="0"/>
                <a:r>
                  <a:rPr lang="en-CA" dirty="0"/>
                  <a:t>Typical random fluctuation: maybe </a:t>
                </a:r>
                <a:r>
                  <a:rPr lang="en-CA" b="1" dirty="0"/>
                  <a:t>±15%</a:t>
                </a:r>
                <a:r>
                  <a:rPr lang="en-CA" dirty="0"/>
                  <a:t> </a:t>
                </a:r>
              </a:p>
              <a:p>
                <a:r>
                  <a:rPr lang="en-CA" dirty="0"/>
                  <a:t>Then seeing one manager outperform another by 5% in one year is not very convincing, because 5% is small compared with the amount of randomness we normally expect.</a:t>
                </a:r>
              </a:p>
              <a:p>
                <a:r>
                  <a:rPr lang="en-CA" dirty="0"/>
                  <a:t>But imagine instead that random fluctuation is only </a:t>
                </a:r>
                <a:r>
                  <a:rPr lang="en-CA" b="1" dirty="0"/>
                  <a:t>±1%</a:t>
                </a:r>
                <a:r>
                  <a:rPr lang="en-CA" dirty="0"/>
                  <a:t>, and one manager repeatedly beats another by 5%. Now that difference is much harder to explain as noise, so it looks more like a real signal.</a:t>
                </a:r>
              </a:p>
              <a:p>
                <a:r>
                  <a:rPr lang="en-CA" dirty="0"/>
                  <a:t>So variance gives you a </a:t>
                </a:r>
                <a:r>
                  <a:rPr lang="en-CA" b="1" dirty="0"/>
                  <a:t>baseline for noise</a:t>
                </a:r>
                <a:r>
                  <a:rPr lang="en-CA" dirty="0"/>
                  <a:t>:</a:t>
                </a:r>
              </a:p>
              <a:p>
                <a:r>
                  <a:rPr lang="en-CA" b="0" i="0">
                    <a:latin typeface="Cambria Math" panose="02040503050406030204" pitchFamily="18" charset="0"/>
                  </a:rPr>
                  <a:t>"Is the observed difference large compared with normal random variation?</a:t>
                </a:r>
                <a:r>
                  <a:rPr lang="en-CA" b="0" i="0"/>
                  <a:t>"</a:t>
                </a:r>
                <a:endParaRPr lang="en-CA" b="0" dirty="0"/>
              </a:p>
              <a:p>
                <a:r>
                  <a:rPr lang="en-CA" dirty="0"/>
                  <a:t>That is the key question.</a:t>
                </a:r>
              </a:p>
              <a:p>
                <a:r>
                  <a:rPr lang="en-CA" dirty="0"/>
                  <a:t>A simple way to think of it is:</a:t>
                </a:r>
              </a:p>
              <a:p>
                <a:r>
                  <a:rPr lang="en-CA" b="0" i="0">
                    <a:latin typeface="Cambria Math" panose="02040503050406030204" pitchFamily="18" charset="0"/>
                  </a:rPr>
                  <a:t>"Signal−to−noise</a:t>
                </a:r>
                <a:r>
                  <a:rPr lang="en-CA" sz="1200" b="0" i="0" kern="1200">
                    <a:solidFill>
                      <a:schemeClr val="tx1"/>
                    </a:solidFill>
                    <a:latin typeface="+mn-lt"/>
                    <a:ea typeface="+mn-ea"/>
                    <a:cs typeface="+mn-cs"/>
                  </a:rPr>
                  <a:t>"≈"difference we care about" /"typical random variation" </a:t>
                </a:r>
                <a:endParaRPr lang="en-CA" b="0" dirty="0"/>
              </a:p>
              <a:p>
                <a:r>
                  <a:rPr lang="en-CA" dirty="0"/>
                  <a:t>If variance is high, the denominator is large → signal is harder to detect.</a:t>
                </a:r>
              </a:p>
              <a:p>
                <a:r>
                  <a:rPr lang="en-CA" dirty="0"/>
                  <a:t>If variance is low, the denominator is small → real differences stand out more clearly.</a:t>
                </a:r>
              </a:p>
              <a:p>
                <a:r>
                  <a:rPr lang="en-CA" dirty="0"/>
                  <a:t>So variance does not itself tell you “this part is signal and this part is noise.” It tells you </a:t>
                </a:r>
                <a:r>
                  <a:rPr lang="en-CA" b="1" dirty="0"/>
                  <a:t>how noisy the environment is</a:t>
                </a:r>
                <a:r>
                  <a:rPr lang="en-CA" dirty="0"/>
                  <a:t>, which lets you judge whether an observed pattern is unusually large or could easily have happened by chance.</a:t>
                </a:r>
              </a:p>
            </p:txBody>
          </p:sp>
        </mc:Fallback>
      </mc:AlternateContent>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6e89972e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6e89972e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Little variance when walking</a:t>
            </a:r>
          </a:p>
          <a:p>
            <a:endParaRPr lang="en-CA" dirty="0"/>
          </a:p>
          <a:p>
            <a:r>
              <a:rPr lang="en-CA" dirty="0"/>
              <a:t>The slide is showing that </a:t>
            </a:r>
            <a:r>
              <a:rPr lang="en-CA" b="1" dirty="0"/>
              <a:t>a player’s results can change because of chance, even when their underlying ability stays the same.</a:t>
            </a:r>
          </a:p>
          <a:p>
            <a:endParaRPr lang="en-CA" b="1" dirty="0"/>
          </a:p>
          <a:p>
            <a:r>
              <a:rPr lang="en-CA" b="1" dirty="0"/>
              <a:t>Interpreting Variance (Batting Average)</a:t>
            </a:r>
          </a:p>
          <a:p>
            <a:r>
              <a:rPr lang="en-CA" dirty="0"/>
              <a:t>In baseball, a </a:t>
            </a:r>
            <a:r>
              <a:rPr lang="en-CA" b="1" dirty="0"/>
              <a:t>.300 hitter</a:t>
            </a:r>
            <a:r>
              <a:rPr lang="en-CA" dirty="0"/>
              <a:t> means the player gets a hit </a:t>
            </a:r>
            <a:r>
              <a:rPr lang="en-CA" b="1" dirty="0"/>
              <a:t>30% of the time</a:t>
            </a:r>
            <a:r>
              <a:rPr lang="en-CA" dirty="0"/>
              <a:t>.</a:t>
            </a:r>
          </a:p>
          <a:p>
            <a:r>
              <a:rPr lang="en-CA" dirty="0"/>
              <a:t>Over a season with </a:t>
            </a:r>
            <a:r>
              <a:rPr lang="en-CA" b="1" dirty="0"/>
              <a:t>500 at-bats</a:t>
            </a:r>
            <a:r>
              <a:rPr lang="en-CA" dirty="0"/>
              <a:t>, you might expect them to be very consistent around .300.</a:t>
            </a:r>
          </a:p>
          <a:p>
            <a:r>
              <a:rPr lang="en-CA" b="1" dirty="0"/>
              <a:t>But due to variance (random chance):</a:t>
            </a:r>
            <a:endParaRPr lang="en-CA" dirty="0"/>
          </a:p>
          <a:p>
            <a:r>
              <a:rPr lang="en-CA" dirty="0"/>
              <a:t>Even a true .300 hitter has a </a:t>
            </a:r>
            <a:r>
              <a:rPr lang="en-CA" b="1" dirty="0"/>
              <a:t>10% chance</a:t>
            </a:r>
            <a:r>
              <a:rPr lang="en-CA" dirty="0"/>
              <a:t> of finishing at .275 or below.</a:t>
            </a:r>
          </a:p>
          <a:p>
            <a:r>
              <a:rPr lang="en-CA" dirty="0"/>
              <a:t>They also have a </a:t>
            </a:r>
            <a:r>
              <a:rPr lang="en-CA" b="1" dirty="0"/>
              <a:t>10% chance</a:t>
            </a:r>
            <a:r>
              <a:rPr lang="en-CA" dirty="0"/>
              <a:t> of finishing at .325 or above.</a:t>
            </a:r>
          </a:p>
          <a:p>
            <a:r>
              <a:rPr lang="en-CA" b="1" dirty="0"/>
              <a:t>So what does this mean?</a:t>
            </a:r>
            <a:endParaRPr lang="en-CA" dirty="0"/>
          </a:p>
          <a:p>
            <a:r>
              <a:rPr lang="en-CA" dirty="0"/>
              <a:t>A player’s batting average in one season could look much better or worse than their true ability.</a:t>
            </a:r>
          </a:p>
          <a:p>
            <a:r>
              <a:rPr lang="en-CA" dirty="0"/>
              <a:t>A “good” or “bad” season may actually be more about </a:t>
            </a:r>
            <a:r>
              <a:rPr lang="en-CA" b="1" dirty="0"/>
              <a:t>luck</a:t>
            </a:r>
            <a:r>
              <a:rPr lang="en-CA" dirty="0"/>
              <a:t> than skill.</a:t>
            </a:r>
          </a:p>
          <a:p>
            <a:r>
              <a:rPr lang="en-CA" b="1" dirty="0"/>
              <a:t>Key Question for Students:</a:t>
            </a:r>
            <a:br>
              <a:rPr lang="en-CA" dirty="0"/>
            </a:br>
            <a:r>
              <a:rPr lang="en-CA" dirty="0"/>
              <a:t>👉 When we see someone hitting .325 — is that a sign of real skill improvement, or just </a:t>
            </a:r>
            <a:r>
              <a:rPr lang="en-CA" b="1" dirty="0"/>
              <a:t>random variation</a:t>
            </a:r>
            <a:r>
              <a:rPr lang="en-CA" dirty="0"/>
              <a:t>?</a:t>
            </a:r>
          </a:p>
          <a:p>
            <a:r>
              <a:rPr lang="en-CA" b="1" dirty="0"/>
              <a:t>Analogy for clarity:</a:t>
            </a:r>
            <a:br>
              <a:rPr lang="en-CA" dirty="0"/>
            </a:br>
            <a:r>
              <a:rPr lang="en-CA" dirty="0"/>
              <a:t>It’s like flipping a coin 500 times.</a:t>
            </a:r>
          </a:p>
          <a:p>
            <a:r>
              <a:rPr lang="en-CA" dirty="0"/>
              <a:t>The true probability is 50%, but you might get </a:t>
            </a:r>
            <a:r>
              <a:rPr lang="en-CA" b="1" dirty="0"/>
              <a:t>48% heads</a:t>
            </a:r>
            <a:r>
              <a:rPr lang="en-CA" dirty="0"/>
              <a:t> or </a:t>
            </a:r>
            <a:r>
              <a:rPr lang="en-CA" b="1" dirty="0"/>
              <a:t>52% heads</a:t>
            </a:r>
            <a:r>
              <a:rPr lang="en-CA" dirty="0"/>
              <a:t> just by chance.</a:t>
            </a:r>
          </a:p>
          <a:p>
            <a:r>
              <a:rPr lang="en-CA" dirty="0"/>
              <a:t>The same happens with batting averages.</a:t>
            </a:r>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6e89972e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6e89972e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 small performance improvement (e.g., 0.5% better accuracy) might just be </a:t>
            </a:r>
            <a:r>
              <a:rPr kumimoji="0" lang="en-US" altLang="en-US" sz="1200" b="1" i="0" u="none" strike="noStrike" cap="none" normalizeH="0" baseline="0" dirty="0">
                <a:ln>
                  <a:noFill/>
                </a:ln>
                <a:solidFill>
                  <a:schemeClr val="tx1"/>
                </a:solidFill>
                <a:effectLst/>
                <a:latin typeface="Arial" panose="020B0604020202020204" pitchFamily="34" charset="0"/>
              </a:rPr>
              <a:t>noise</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In such cases, it’s often better to choose the </a:t>
            </a:r>
            <a:r>
              <a:rPr kumimoji="0" lang="en-US" altLang="en-US" sz="1200" b="1" i="0" u="none" strike="noStrike" cap="none" normalizeH="0" baseline="0" dirty="0">
                <a:ln>
                  <a:noFill/>
                </a:ln>
                <a:solidFill>
                  <a:schemeClr val="tx1"/>
                </a:solidFill>
                <a:effectLst/>
                <a:latin typeface="Arial" panose="020B0604020202020204" pitchFamily="34" charset="0"/>
              </a:rPr>
              <a:t>simpler model</a:t>
            </a:r>
            <a:r>
              <a:rPr kumimoji="0" lang="en-US" altLang="en-US" sz="1200" b="0" i="0" u="none" strike="noStrike" cap="none" normalizeH="0" baseline="0" dirty="0">
                <a:ln>
                  <a:noFill/>
                </a:ln>
                <a:solidFill>
                  <a:schemeClr val="tx1"/>
                </a:solidFill>
                <a:effectLst/>
                <a:latin typeface="Arial" panose="020B0604020202020204" pitchFamily="34" charset="0"/>
              </a:rPr>
              <a:t> → easier to interpret, faster to run, less risk of overfitting.</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7a7cbd7e7d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7a7cbd7e7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Variance Reduction Methods</a:t>
            </a:r>
          </a:p>
          <a:p>
            <a:r>
              <a:rPr lang="en-CA" b="1" dirty="0"/>
              <a:t>Walking vs. Bus Analogy</a:t>
            </a:r>
            <a:endParaRPr lang="en-CA" dirty="0"/>
          </a:p>
          <a:p>
            <a:pPr lvl="1"/>
            <a:r>
              <a:rPr lang="en-CA" dirty="0"/>
              <a:t>Walking to class may be slower than the bus, but it’s </a:t>
            </a:r>
            <a:r>
              <a:rPr lang="en-CA" b="1" dirty="0"/>
              <a:t>more predictable</a:t>
            </a:r>
            <a:r>
              <a:rPr lang="en-CA" dirty="0"/>
              <a:t> (low variance in arrival time).</a:t>
            </a:r>
          </a:p>
          <a:p>
            <a:pPr lvl="1"/>
            <a:r>
              <a:rPr lang="en-CA" dirty="0"/>
              <a:t>The bus is faster on average, but delays and traffic cause </a:t>
            </a:r>
            <a:r>
              <a:rPr lang="en-CA" b="1" dirty="0"/>
              <a:t>high variance</a:t>
            </a:r>
            <a:r>
              <a:rPr lang="en-CA" dirty="0"/>
              <a:t>.</a:t>
            </a:r>
          </a:p>
          <a:p>
            <a:r>
              <a:rPr lang="en-CA" b="1" dirty="0"/>
              <a:t>Ways to reduce variance in experiments and models:</a:t>
            </a:r>
            <a:endParaRPr lang="en-CA" dirty="0"/>
          </a:p>
          <a:p>
            <a:r>
              <a:rPr lang="en-CA" b="1" dirty="0"/>
              <a:t>Repeat the experiment multiple times</a:t>
            </a:r>
            <a:endParaRPr lang="en-CA" dirty="0"/>
          </a:p>
          <a:p>
            <a:pPr lvl="1"/>
            <a:r>
              <a:rPr lang="en-CA" dirty="0"/>
              <a:t>Example: k-fold cross validation in machine learning averages results over several splits, reducing variance.</a:t>
            </a:r>
          </a:p>
          <a:p>
            <a:r>
              <a:rPr lang="en-CA" b="1" dirty="0"/>
              <a:t>Use proper random or deterministic sampling</a:t>
            </a:r>
            <a:endParaRPr lang="en-CA" dirty="0"/>
          </a:p>
          <a:p>
            <a:pPr lvl="1"/>
            <a:r>
              <a:rPr lang="en-CA" dirty="0"/>
              <a:t>Ensures fair representation of data instead of depending on one lucky/unlucky sample.</a:t>
            </a:r>
          </a:p>
          <a:p>
            <a:r>
              <a:rPr lang="en-CA" b="1" dirty="0"/>
              <a:t>Remove outliers (when justified)</a:t>
            </a:r>
            <a:endParaRPr lang="en-CA" dirty="0"/>
          </a:p>
          <a:p>
            <a:pPr lvl="1"/>
            <a:r>
              <a:rPr lang="en-CA" dirty="0"/>
              <a:t>Extreme values can inflate variance.</a:t>
            </a:r>
          </a:p>
          <a:p>
            <a:pPr lvl="1"/>
            <a:r>
              <a:rPr lang="en-CA" dirty="0"/>
              <a:t>Example: A typo in test scores (someone entered 1000 instead of 100) should be removed.</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7b581edcf4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7b581edcf4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The Printer Cartridge Life Distribution</a:t>
            </a:r>
          </a:p>
          <a:p>
            <a:r>
              <a:rPr lang="en-CA" b="1" dirty="0"/>
              <a:t>Same mean, different shapes:</a:t>
            </a:r>
            <a:br>
              <a:rPr lang="en-CA" dirty="0"/>
            </a:br>
            <a:r>
              <a:rPr lang="en-CA" dirty="0"/>
              <a:t>Two printer cartridges may both last an </a:t>
            </a:r>
            <a:r>
              <a:rPr lang="en-CA" b="1" dirty="0"/>
              <a:t>average of 3000 pages</a:t>
            </a:r>
            <a:r>
              <a:rPr lang="en-CA" dirty="0"/>
              <a:t>, but their reliability can look very different.</a:t>
            </a:r>
          </a:p>
          <a:p>
            <a:r>
              <a:rPr lang="en-CA" b="1" dirty="0"/>
              <a:t>Example:</a:t>
            </a:r>
            <a:endParaRPr lang="en-CA" dirty="0"/>
          </a:p>
          <a:p>
            <a:r>
              <a:rPr lang="en-CA" b="1" dirty="0"/>
              <a:t>Wide distribution (left graph):</a:t>
            </a:r>
            <a:endParaRPr lang="en-CA" dirty="0"/>
          </a:p>
          <a:p>
            <a:pPr lvl="1"/>
            <a:r>
              <a:rPr lang="en-CA" dirty="0"/>
              <a:t>Some cartridges fail early (2000 pages), some last much longer (4000+).</a:t>
            </a:r>
          </a:p>
          <a:p>
            <a:pPr lvl="1"/>
            <a:r>
              <a:rPr lang="en-CA" dirty="0"/>
              <a:t>Mean = 3000, but performance is </a:t>
            </a:r>
            <a:r>
              <a:rPr lang="en-CA" b="1" dirty="0"/>
              <a:t>unpredictable</a:t>
            </a:r>
            <a:r>
              <a:rPr lang="en-CA" dirty="0"/>
              <a:t> (high variance).</a:t>
            </a:r>
          </a:p>
          <a:p>
            <a:r>
              <a:rPr lang="en-CA" b="1" dirty="0"/>
              <a:t>Narrow distribution (right graph):</a:t>
            </a:r>
            <a:endParaRPr lang="en-CA" dirty="0"/>
          </a:p>
          <a:p>
            <a:pPr lvl="1"/>
            <a:r>
              <a:rPr lang="en-CA" dirty="0"/>
              <a:t>Most cartridges last very close to 3000 pages.</a:t>
            </a:r>
          </a:p>
          <a:p>
            <a:pPr lvl="1"/>
            <a:r>
              <a:rPr lang="en-CA" dirty="0"/>
              <a:t>Mean = 3000, but performance is </a:t>
            </a:r>
            <a:r>
              <a:rPr lang="en-CA" b="1" dirty="0"/>
              <a:t>consistent</a:t>
            </a:r>
            <a:r>
              <a:rPr lang="en-CA" dirty="0"/>
              <a:t> (low variance).</a:t>
            </a:r>
          </a:p>
          <a:p>
            <a:r>
              <a:rPr lang="en-CA" b="1" dirty="0"/>
              <a:t>Key Point:</a:t>
            </a:r>
            <a:endParaRPr lang="en-CA" dirty="0"/>
          </a:p>
          <a:p>
            <a:r>
              <a:rPr lang="en-CA" dirty="0"/>
              <a:t>The </a:t>
            </a:r>
            <a:r>
              <a:rPr lang="en-CA" b="1" dirty="0"/>
              <a:t>mean</a:t>
            </a:r>
            <a:r>
              <a:rPr lang="en-CA" dirty="0"/>
              <a:t> tells us the average lifespan.</a:t>
            </a:r>
          </a:p>
          <a:p>
            <a:r>
              <a:rPr lang="en-CA" dirty="0"/>
              <a:t>The </a:t>
            </a:r>
            <a:r>
              <a:rPr lang="en-CA" b="1" dirty="0"/>
              <a:t>standard deviation</a:t>
            </a:r>
            <a:r>
              <a:rPr lang="en-CA" dirty="0"/>
              <a:t> tells us how </a:t>
            </a:r>
            <a:r>
              <a:rPr lang="en-CA" b="1" dirty="0"/>
              <a:t>consistent or spread out</a:t>
            </a:r>
            <a:r>
              <a:rPr lang="en-CA" dirty="0"/>
              <a:t> that lifespan is.</a:t>
            </a:r>
          </a:p>
          <a:p>
            <a:r>
              <a:rPr lang="en-CA" dirty="0"/>
              <a:t>Together, mean + standard deviation give a good picture of the distribution.</a:t>
            </a: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7b581edcf4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7b581edcf4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F3C1B1-892F-4AB6-B89C-A3BABF7855FE}" type="datetimeFigureOut">
              <a:rPr lang="en-CA" smtClean="0"/>
              <a:t>2026-09-15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BE53763-BC79-4265-BFBE-FBE68BAFD94E}"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4096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F3C1B1-892F-4AB6-B89C-A3BABF7855FE}" type="datetimeFigureOut">
              <a:rPr lang="en-CA" smtClean="0"/>
              <a:t>2026-09-15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335119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F3C1B1-892F-4AB6-B89C-A3BABF7855FE}" type="datetimeFigureOut">
              <a:rPr lang="en-CA" smtClean="0"/>
              <a:t>2026-09-15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BE53763-BC79-4265-BFBE-FBE68BAFD94E}"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834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F3C1B1-892F-4AB6-B89C-A3BABF7855FE}" type="datetimeFigureOut">
              <a:rPr lang="en-CA" smtClean="0"/>
              <a:t>2026-09-15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3048266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F3C1B1-892F-4AB6-B89C-A3BABF7855FE}" type="datetimeFigureOut">
              <a:rPr lang="en-CA" smtClean="0"/>
              <a:t>2026-09-15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3005666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F3C1B1-892F-4AB6-B89C-A3BABF7855FE}" type="datetimeFigureOut">
              <a:rPr lang="en-CA" smtClean="0"/>
              <a:t>2026-09-15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1819180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8F3C1B1-892F-4AB6-B89C-A3BABF7855FE}" type="datetimeFigureOut">
              <a:rPr lang="en-CA" smtClean="0"/>
              <a:t>2026-09-15</a:t>
            </a:fld>
            <a:endParaRPr lang="en-CA"/>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CA"/>
          </a:p>
        </p:txBody>
      </p:sp>
      <p:sp>
        <p:nvSpPr>
          <p:cNvPr id="9" name="Slide Number Placeholder 8"/>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1304316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8F3C1B1-892F-4AB6-B89C-A3BABF7855FE}" type="datetimeFigureOut">
              <a:rPr lang="en-CA" smtClean="0"/>
              <a:t>2026-09-15</a:t>
            </a:fld>
            <a:endParaRPr lang="en-C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CA"/>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BE53763-BC79-4265-BFBE-FBE68BAFD94E}" type="slidenum">
              <a:rPr lang="en-CA" smtClean="0"/>
              <a:t>‹#›</a:t>
            </a:fld>
            <a:endParaRPr lang="en-CA"/>
          </a:p>
        </p:txBody>
      </p:sp>
    </p:spTree>
    <p:extLst>
      <p:ext uri="{BB962C8B-B14F-4D97-AF65-F5344CB8AC3E}">
        <p14:creationId xmlns:p14="http://schemas.microsoft.com/office/powerpoint/2010/main" val="1554432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3C1B1-892F-4AB6-B89C-A3BABF7855FE}" type="datetimeFigureOut">
              <a:rPr lang="en-CA" smtClean="0"/>
              <a:t>2026-09-15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3296610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F3C1B1-892F-4AB6-B89C-A3BABF7855FE}" type="datetimeFigureOut">
              <a:rPr lang="en-CA" smtClean="0"/>
              <a:t>2026-09-15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92437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F3C1B1-892F-4AB6-B89C-A3BABF7855FE}" type="datetimeFigureOut">
              <a:rPr lang="en-CA" smtClean="0"/>
              <a:t>2026-09-15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BE53763-BC79-4265-BFBE-FBE68BAFD94E}" type="slidenum">
              <a:rPr lang="en-CA" smtClean="0"/>
              <a:t>‹#›</a:t>
            </a:fld>
            <a:endParaRPr lang="en-CA"/>
          </a:p>
        </p:txBody>
      </p:sp>
    </p:spTree>
    <p:extLst>
      <p:ext uri="{BB962C8B-B14F-4D97-AF65-F5344CB8AC3E}">
        <p14:creationId xmlns:p14="http://schemas.microsoft.com/office/powerpoint/2010/main" val="3628534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609600" y="274637"/>
            <a:ext cx="10972800" cy="11432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solidFill>
                  <a:srgbClr val="DA0002"/>
                </a:solidFill>
              </a:defRPr>
            </a:lvl1pPr>
            <a:lvl2pPr lvl="1">
              <a:spcBef>
                <a:spcPts val="0"/>
              </a:spcBef>
              <a:spcAft>
                <a:spcPts val="0"/>
              </a:spcAft>
              <a:buSzPts val="3600"/>
              <a:buNone/>
              <a:defRPr>
                <a:solidFill>
                  <a:srgbClr val="DA0002"/>
                </a:solidFill>
              </a:defRPr>
            </a:lvl2pPr>
            <a:lvl3pPr lvl="2">
              <a:spcBef>
                <a:spcPts val="0"/>
              </a:spcBef>
              <a:spcAft>
                <a:spcPts val="0"/>
              </a:spcAft>
              <a:buSzPts val="3600"/>
              <a:buNone/>
              <a:defRPr>
                <a:solidFill>
                  <a:srgbClr val="DA0002"/>
                </a:solidFill>
              </a:defRPr>
            </a:lvl3pPr>
            <a:lvl4pPr lvl="3">
              <a:spcBef>
                <a:spcPts val="0"/>
              </a:spcBef>
              <a:spcAft>
                <a:spcPts val="0"/>
              </a:spcAft>
              <a:buSzPts val="3600"/>
              <a:buNone/>
              <a:defRPr>
                <a:solidFill>
                  <a:srgbClr val="DA0002"/>
                </a:solidFill>
              </a:defRPr>
            </a:lvl4pPr>
            <a:lvl5pPr lvl="4">
              <a:spcBef>
                <a:spcPts val="0"/>
              </a:spcBef>
              <a:spcAft>
                <a:spcPts val="0"/>
              </a:spcAft>
              <a:buSzPts val="3600"/>
              <a:buNone/>
              <a:defRPr>
                <a:solidFill>
                  <a:srgbClr val="DA0002"/>
                </a:solidFill>
              </a:defRPr>
            </a:lvl5pPr>
            <a:lvl6pPr lvl="5">
              <a:spcBef>
                <a:spcPts val="0"/>
              </a:spcBef>
              <a:spcAft>
                <a:spcPts val="0"/>
              </a:spcAft>
              <a:buSzPts val="3600"/>
              <a:buNone/>
              <a:defRPr>
                <a:solidFill>
                  <a:srgbClr val="DA0002"/>
                </a:solidFill>
              </a:defRPr>
            </a:lvl6pPr>
            <a:lvl7pPr lvl="6">
              <a:spcBef>
                <a:spcPts val="0"/>
              </a:spcBef>
              <a:spcAft>
                <a:spcPts val="0"/>
              </a:spcAft>
              <a:buSzPts val="3600"/>
              <a:buNone/>
              <a:defRPr>
                <a:solidFill>
                  <a:srgbClr val="DA0002"/>
                </a:solidFill>
              </a:defRPr>
            </a:lvl7pPr>
            <a:lvl8pPr lvl="7">
              <a:spcBef>
                <a:spcPts val="0"/>
              </a:spcBef>
              <a:spcAft>
                <a:spcPts val="0"/>
              </a:spcAft>
              <a:buSzPts val="3600"/>
              <a:buNone/>
              <a:defRPr>
                <a:solidFill>
                  <a:srgbClr val="DA0002"/>
                </a:solidFill>
              </a:defRPr>
            </a:lvl8pPr>
            <a:lvl9pPr lvl="8">
              <a:spcBef>
                <a:spcPts val="0"/>
              </a:spcBef>
              <a:spcAft>
                <a:spcPts val="0"/>
              </a:spcAft>
              <a:buSzPts val="3600"/>
              <a:buNone/>
              <a:defRPr>
                <a:solidFill>
                  <a:srgbClr val="DA0002"/>
                </a:solidFill>
              </a:defRPr>
            </a:lvl9pPr>
          </a:lstStyle>
          <a:p>
            <a:endParaRPr/>
          </a:p>
        </p:txBody>
      </p:sp>
      <p:sp>
        <p:nvSpPr>
          <p:cNvPr id="16" name="Google Shape;16;p3"/>
          <p:cNvSpPr txBox="1">
            <a:spLocks noGrp="1"/>
          </p:cNvSpPr>
          <p:nvPr>
            <p:ph type="body" idx="1"/>
          </p:nvPr>
        </p:nvSpPr>
        <p:spPr>
          <a:xfrm>
            <a:off x="609600" y="1600200"/>
            <a:ext cx="10972800" cy="4967600"/>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2841054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8F3C1B1-892F-4AB6-B89C-A3BABF7855FE}" type="datetimeFigureOut">
              <a:rPr lang="en-CA" smtClean="0"/>
              <a:t>2026-09-15</a:t>
            </a:fld>
            <a:endParaRPr lang="en-C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CA"/>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BE53763-BC79-4265-BFBE-FBE68BAFD94E}" type="slidenum">
              <a:rPr lang="en-CA" smtClean="0"/>
              <a:t>‹#›</a:t>
            </a:fld>
            <a:endParaRPr lang="en-CA"/>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97588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gif"/></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8"/>
          <p:cNvSpPr txBox="1">
            <a:spLocks noGrp="1"/>
          </p:cNvSpPr>
          <p:nvPr>
            <p:ph type="ctrTitle"/>
          </p:nvPr>
        </p:nvSpPr>
        <p:spPr>
          <a:xfrm>
            <a:off x="609600" y="751680"/>
            <a:ext cx="10972800" cy="4012800"/>
          </a:xfrm>
          <a:prstGeom prst="rect">
            <a:avLst/>
          </a:prstGeom>
        </p:spPr>
        <p:txBody>
          <a:bodyPr spcFirstLastPara="1" vert="horz" wrap="square" lIns="121900" tIns="121900" rIns="121900" bIns="121900" rtlCol="0" anchor="t" anchorCtr="0">
            <a:noAutofit/>
          </a:bodyPr>
          <a:lstStyle/>
          <a:p>
            <a:pPr algn="l">
              <a:spcBef>
                <a:spcPts val="0"/>
              </a:spcBef>
            </a:pPr>
            <a:r>
              <a:rPr lang="en" sz="6600" dirty="0"/>
              <a:t>Mathematical Preliminaries</a:t>
            </a:r>
            <a:endParaRPr sz="6400" dirty="0"/>
          </a:p>
        </p:txBody>
      </p:sp>
      <p:sp>
        <p:nvSpPr>
          <p:cNvPr id="36" name="Google Shape;36;p8"/>
          <p:cNvSpPr txBox="1">
            <a:spLocks noGrp="1"/>
          </p:cNvSpPr>
          <p:nvPr>
            <p:ph type="subTitle" idx="1"/>
          </p:nvPr>
        </p:nvSpPr>
        <p:spPr>
          <a:xfrm>
            <a:off x="609600" y="4955189"/>
            <a:ext cx="10972800" cy="1643600"/>
          </a:xfrm>
          <a:prstGeom prst="rect">
            <a:avLst/>
          </a:prstGeom>
        </p:spPr>
        <p:txBody>
          <a:bodyPr spcFirstLastPara="1" vert="horz" wrap="square" lIns="121900" tIns="121900" rIns="121900" bIns="121900" rtlCol="0" anchor="t" anchorCtr="0">
            <a:noAutofit/>
          </a:bodyPr>
          <a:lstStyle/>
          <a:p>
            <a:pPr algn="l">
              <a:spcBef>
                <a:spcPts val="0"/>
              </a:spcBef>
              <a:buClr>
                <a:srgbClr val="000000"/>
              </a:buClr>
              <a:buSzPts val="1100"/>
            </a:pPr>
            <a:r>
              <a:rPr lang="en-CA" sz="4800" dirty="0"/>
              <a:t>Fatemeh </a:t>
            </a:r>
            <a:r>
              <a:rPr lang="en-CA" sz="4800" dirty="0" err="1"/>
              <a:t>riahi</a:t>
            </a:r>
            <a:endParaRPr lang="en-CA" sz="4800" dirty="0"/>
          </a:p>
          <a:p>
            <a:pPr algn="l">
              <a:spcBef>
                <a:spcPts val="0"/>
              </a:spcBef>
              <a:buClr>
                <a:srgbClr val="000000"/>
              </a:buClr>
              <a:buSzPts val="1100"/>
            </a:pPr>
            <a:r>
              <a:rPr lang="en-CA" sz="4800" dirty="0" err="1"/>
              <a:t>bcit</a:t>
            </a:r>
            <a:endParaRP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Probability</a:t>
            </a:r>
            <a:endParaRPr/>
          </a:p>
        </p:txBody>
      </p:sp>
      <p:sp>
        <p:nvSpPr>
          <p:cNvPr id="42" name="Google Shape;42;p9"/>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Probability theory provides a formal framework for reasoning about the likelihood of events.</a:t>
            </a:r>
            <a:endParaRPr dirty="0"/>
          </a:p>
          <a:p>
            <a:pPr marL="0" indent="0">
              <a:buNone/>
            </a:pPr>
            <a:r>
              <a:rPr lang="en" dirty="0"/>
              <a:t>The probability </a:t>
            </a:r>
            <a:r>
              <a:rPr lang="en" i="1" dirty="0"/>
              <a:t>p(s)</a:t>
            </a:r>
            <a:r>
              <a:rPr lang="en" dirty="0"/>
              <a:t> of an outcome </a:t>
            </a:r>
            <a:r>
              <a:rPr lang="en" i="1" dirty="0"/>
              <a:t>s </a:t>
            </a:r>
            <a:r>
              <a:rPr lang="en" dirty="0"/>
              <a:t>satisfies:</a:t>
            </a:r>
            <a:endParaRPr dirty="0"/>
          </a:p>
          <a:p>
            <a:r>
              <a:rPr lang="en" i="1" dirty="0"/>
              <a:t>0 &lt;= p(s) &lt;= 1</a:t>
            </a:r>
            <a:endParaRPr i="1" dirty="0"/>
          </a:p>
          <a:p>
            <a:pPr>
              <a:spcBef>
                <a:spcPts val="0"/>
              </a:spcBef>
            </a:pPr>
            <a:endParaRPr dirty="0"/>
          </a:p>
          <a:p>
            <a:pPr marL="0" indent="0">
              <a:buNone/>
            </a:pPr>
            <a:r>
              <a:rPr lang="en" dirty="0"/>
              <a:t>These basic properties are often violated in casual use of “probability” in data science.</a:t>
            </a:r>
            <a:endParaRPr dirty="0"/>
          </a:p>
        </p:txBody>
      </p:sp>
      <p:pic>
        <p:nvPicPr>
          <p:cNvPr id="43" name="Google Shape;43;p9"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4211147" y="3967480"/>
            <a:ext cx="1524000" cy="673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0"/>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Probability vs. Statistics</a:t>
            </a:r>
            <a:endParaRPr/>
          </a:p>
        </p:txBody>
      </p:sp>
      <p:sp>
        <p:nvSpPr>
          <p:cNvPr id="49" name="Google Shape;49;p10"/>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r>
              <a:rPr lang="en"/>
              <a:t>Probability deals with predicting the likelihood of future events, while statistics analyzes the frequency of past events.</a:t>
            </a:r>
            <a:endParaRPr/>
          </a:p>
          <a:p>
            <a:pPr>
              <a:spcBef>
                <a:spcPts val="0"/>
              </a:spcBef>
            </a:pPr>
            <a:r>
              <a:rPr lang="en"/>
              <a:t>Probability is theoretical branch of mathematics on the consequences of definitions, while statistics is applied mathematics trying to make sense of real-world observations.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609600" y="274633"/>
            <a:ext cx="11322000" cy="1143200"/>
          </a:xfrm>
          <a:prstGeom prst="rect">
            <a:avLst/>
          </a:prstGeom>
        </p:spPr>
        <p:txBody>
          <a:bodyPr spcFirstLastPara="1" vert="horz" wrap="square" lIns="121900" tIns="121900" rIns="121900" bIns="121900" rtlCol="0" anchor="b" anchorCtr="0">
            <a:noAutofit/>
          </a:bodyPr>
          <a:lstStyle/>
          <a:p>
            <a:r>
              <a:rPr lang="en"/>
              <a:t>Compound Events and Independence</a:t>
            </a:r>
            <a:endParaRPr/>
          </a:p>
        </p:txBody>
      </p:sp>
      <p:sp>
        <p:nvSpPr>
          <p:cNvPr id="55" name="Google Shape;55;p11"/>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Suppose half my students are female (event A)   Half my students are above median (event B).</a:t>
            </a:r>
            <a:endParaRPr dirty="0"/>
          </a:p>
          <a:p>
            <a:pPr marL="0" indent="0">
              <a:buNone/>
            </a:pPr>
            <a:r>
              <a:rPr lang="en" dirty="0">
                <a:solidFill>
                  <a:srgbClr val="FF0000"/>
                </a:solidFill>
              </a:rPr>
              <a:t>What is the probability a student is both A &amp; B?</a:t>
            </a:r>
            <a:endParaRPr dirty="0">
              <a:solidFill>
                <a:srgbClr val="FF0000"/>
              </a:solidFill>
            </a:endParaRPr>
          </a:p>
          <a:p>
            <a:pPr marL="0" indent="0">
              <a:buNone/>
            </a:pPr>
            <a:r>
              <a:rPr lang="en" dirty="0"/>
              <a:t>Events A and B are independent iff</a:t>
            </a:r>
          </a:p>
          <a:p>
            <a:pPr marL="0" indent="0">
              <a:buNone/>
            </a:pPr>
            <a:endParaRPr dirty="0"/>
          </a:p>
          <a:p>
            <a:pPr marL="0" indent="0">
              <a:buNone/>
            </a:pPr>
            <a:endParaRPr dirty="0"/>
          </a:p>
          <a:p>
            <a:pPr marL="0" indent="0">
              <a:buNone/>
            </a:pPr>
            <a:endParaRPr lang="en" dirty="0"/>
          </a:p>
          <a:p>
            <a:pPr marL="0" indent="0">
              <a:buNone/>
            </a:pPr>
            <a:r>
              <a:rPr lang="en" dirty="0"/>
              <a:t>Independence (zero correlation) is good to simplify calculations but bad for prediction.</a:t>
            </a:r>
            <a:endParaRPr dirty="0"/>
          </a:p>
          <a:p>
            <a:pPr marL="0" indent="0">
              <a:buNone/>
            </a:pPr>
            <a:endParaRPr dirty="0"/>
          </a:p>
          <a:p>
            <a:pPr marL="0" indent="0">
              <a:buNone/>
            </a:pPr>
            <a:endParaRPr dirty="0"/>
          </a:p>
          <a:p>
            <a:pPr marL="0" indent="0">
              <a:buNone/>
            </a:pPr>
            <a:endParaRPr dirty="0"/>
          </a:p>
        </p:txBody>
      </p:sp>
      <p:pic>
        <p:nvPicPr>
          <p:cNvPr id="56" name="Google Shape;56;p11"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3273400" y="3155950"/>
            <a:ext cx="5994400" cy="546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Conditional Probability</a:t>
            </a:r>
            <a:endParaRPr/>
          </a:p>
        </p:txBody>
      </p:sp>
      <p:sp>
        <p:nvSpPr>
          <p:cNvPr id="62" name="Google Shape;62;p12"/>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The conditional probability P(A|B) is defined:</a:t>
            </a:r>
            <a:endParaRPr/>
          </a:p>
          <a:p>
            <a:pPr marL="0" indent="0">
              <a:buNone/>
            </a:pPr>
            <a:endParaRPr/>
          </a:p>
          <a:p>
            <a:pPr marL="0" indent="0">
              <a:buNone/>
            </a:pPr>
            <a:endParaRPr/>
          </a:p>
          <a:p>
            <a:pPr marL="0" indent="0">
              <a:buNone/>
            </a:pPr>
            <a:r>
              <a:rPr lang="en"/>
              <a:t>Conditional probabilities get interesting only when events are </a:t>
            </a:r>
            <a:r>
              <a:rPr lang="en" b="1"/>
              <a:t>not</a:t>
            </a:r>
            <a:r>
              <a:rPr lang="en"/>
              <a:t> independent, otherwise:</a:t>
            </a:r>
            <a:endParaRPr/>
          </a:p>
        </p:txBody>
      </p:sp>
      <p:pic>
        <p:nvPicPr>
          <p:cNvPr id="63" name="Google Shape;63;p12"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2665731" y="3745441"/>
            <a:ext cx="7226300" cy="952500"/>
          </a:xfrm>
          <a:prstGeom prst="rect">
            <a:avLst/>
          </a:prstGeom>
          <a:noFill/>
          <a:ln>
            <a:noFill/>
          </a:ln>
        </p:spPr>
      </p:pic>
      <p:pic>
        <p:nvPicPr>
          <p:cNvPr id="64" name="Google Shape;64;p12"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4">
            <a:alphaModFix/>
          </a:blip>
          <a:stretch>
            <a:fillRect/>
          </a:stretch>
        </p:blipFill>
        <p:spPr>
          <a:xfrm>
            <a:off x="6022341" y="1875583"/>
            <a:ext cx="3492500" cy="952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Bayes Theorem</a:t>
            </a:r>
            <a:endParaRPr/>
          </a:p>
        </p:txBody>
      </p:sp>
      <p:sp>
        <p:nvSpPr>
          <p:cNvPr id="70" name="Google Shape;70;p13"/>
          <p:cNvSpPr txBox="1">
            <a:spLocks noGrp="1"/>
          </p:cNvSpPr>
          <p:nvPr>
            <p:ph type="body" idx="1"/>
          </p:nvPr>
        </p:nvSpPr>
        <p:spPr>
          <a:xfrm>
            <a:off x="609600" y="1571633"/>
            <a:ext cx="10972800" cy="4996000"/>
          </a:xfrm>
          <a:prstGeom prst="rect">
            <a:avLst/>
          </a:prstGeom>
        </p:spPr>
        <p:txBody>
          <a:bodyPr spcFirstLastPara="1" vert="horz" wrap="square" lIns="121900" tIns="121900" rIns="121900" bIns="121900" rtlCol="0" anchor="t" anchorCtr="0">
            <a:noAutofit/>
          </a:bodyPr>
          <a:lstStyle/>
          <a:p>
            <a:pPr marL="0" indent="0">
              <a:buNone/>
            </a:pPr>
            <a:r>
              <a:rPr lang="en"/>
              <a:t>Bayes theorem lets us update our likelihood estimate of A in response to knowledge of B:</a:t>
            </a:r>
            <a:endParaRPr/>
          </a:p>
        </p:txBody>
      </p:sp>
      <p:pic>
        <p:nvPicPr>
          <p:cNvPr id="71" name="Google Shape;71;p13" descr="bayes-example-1.png"/>
          <p:cNvPicPr preferRelativeResize="0"/>
          <p:nvPr/>
        </p:nvPicPr>
        <p:blipFill>
          <a:blip r:embed="rId3">
            <a:alphaModFix/>
          </a:blip>
          <a:stretch>
            <a:fillRect/>
          </a:stretch>
        </p:blipFill>
        <p:spPr>
          <a:xfrm>
            <a:off x="5361925" y="2808250"/>
            <a:ext cx="6108700" cy="2857500"/>
          </a:xfrm>
          <a:prstGeom prst="rect">
            <a:avLst/>
          </a:prstGeom>
          <a:noFill/>
          <a:ln>
            <a:noFill/>
          </a:ln>
        </p:spPr>
      </p:pic>
      <p:pic>
        <p:nvPicPr>
          <p:cNvPr id="72" name="Google Shape;72;p13" descr="Bayes' rule with a simple and practical example | by Tirthajyoti Sarkar |  Towards Data Science"/>
          <p:cNvPicPr preferRelativeResize="0"/>
          <p:nvPr/>
        </p:nvPicPr>
        <p:blipFill>
          <a:blip r:embed="rId4">
            <a:alphaModFix/>
          </a:blip>
          <a:stretch>
            <a:fillRect/>
          </a:stretch>
        </p:blipFill>
        <p:spPr>
          <a:xfrm>
            <a:off x="1062290" y="3750187"/>
            <a:ext cx="2954200" cy="2127033"/>
          </a:xfrm>
          <a:prstGeom prst="rect">
            <a:avLst/>
          </a:prstGeom>
          <a:noFill/>
          <a:ln>
            <a:noFill/>
          </a:ln>
        </p:spPr>
      </p:pic>
      <p:pic>
        <p:nvPicPr>
          <p:cNvPr id="73" name="Google Shape;73;p13"/>
          <p:cNvPicPr preferRelativeResize="0"/>
          <p:nvPr/>
        </p:nvPicPr>
        <p:blipFill>
          <a:blip r:embed="rId5">
            <a:alphaModFix/>
          </a:blip>
          <a:stretch>
            <a:fillRect/>
          </a:stretch>
        </p:blipFill>
        <p:spPr>
          <a:xfrm>
            <a:off x="1062290" y="2842391"/>
            <a:ext cx="3304767" cy="75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Proof of Bayes Theorem</a:t>
            </a:r>
            <a:endParaRPr/>
          </a:p>
        </p:txBody>
      </p:sp>
      <p:sp>
        <p:nvSpPr>
          <p:cNvPr id="79" name="Google Shape;79;p14"/>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 </a:t>
            </a:r>
            <a:endParaRPr/>
          </a:p>
        </p:txBody>
      </p:sp>
      <p:pic>
        <p:nvPicPr>
          <p:cNvPr id="80" name="Google Shape;80;p14"/>
          <p:cNvPicPr preferRelativeResize="0"/>
          <p:nvPr/>
        </p:nvPicPr>
        <p:blipFill>
          <a:blip r:embed="rId3">
            <a:alphaModFix/>
          </a:blip>
          <a:stretch>
            <a:fillRect/>
          </a:stretch>
        </p:blipFill>
        <p:spPr>
          <a:xfrm>
            <a:off x="2092960" y="1868644"/>
            <a:ext cx="7786345" cy="44307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Distributions of Random Variables</a:t>
            </a:r>
            <a:endParaRPr/>
          </a:p>
        </p:txBody>
      </p:sp>
      <p:sp>
        <p:nvSpPr>
          <p:cNvPr id="86" name="Google Shape;86;p15"/>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Random variables are numerical functions where values come with probabilities.</a:t>
            </a:r>
            <a:endParaRPr/>
          </a:p>
          <a:p>
            <a:pPr marL="0" indent="0">
              <a:buNone/>
            </a:pPr>
            <a:r>
              <a:rPr lang="en"/>
              <a:t>Probability density functions (pdfs) represent RVs, essentially as histograms.</a:t>
            </a:r>
            <a:endParaRPr/>
          </a:p>
          <a:p>
            <a:pPr marL="0" indent="0">
              <a:buNone/>
            </a:pPr>
            <a:r>
              <a:rPr lang="en"/>
              <a:t>Here V is the sum of two dice.</a:t>
            </a:r>
            <a:endParaRPr/>
          </a:p>
          <a:p>
            <a:pPr marL="0" indent="0">
              <a:buNone/>
            </a:pPr>
            <a:endParaRPr/>
          </a:p>
        </p:txBody>
      </p:sp>
      <p:pic>
        <p:nvPicPr>
          <p:cNvPr id="87" name="Google Shape;87;p15" descr="dice-pdf.jpg"/>
          <p:cNvPicPr preferRelativeResize="0"/>
          <p:nvPr/>
        </p:nvPicPr>
        <p:blipFill>
          <a:blip r:embed="rId3">
            <a:alphaModFix/>
          </a:blip>
          <a:stretch>
            <a:fillRect/>
          </a:stretch>
        </p:blipFill>
        <p:spPr>
          <a:xfrm>
            <a:off x="4391280" y="3203107"/>
            <a:ext cx="3777360" cy="23442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Probability/Cumulative Distributions</a:t>
            </a:r>
            <a:endParaRPr/>
          </a:p>
        </p:txBody>
      </p:sp>
      <p:sp>
        <p:nvSpPr>
          <p:cNvPr id="93" name="Google Shape;93;p16"/>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 The cdf is the running sum of the pdf:</a:t>
            </a:r>
            <a:endParaRPr dirty="0"/>
          </a:p>
        </p:txBody>
      </p:sp>
      <p:pic>
        <p:nvPicPr>
          <p:cNvPr id="94" name="Google Shape;94;p16" descr="pdf-cdf.jpg"/>
          <p:cNvPicPr preferRelativeResize="0"/>
          <p:nvPr/>
        </p:nvPicPr>
        <p:blipFill>
          <a:blip r:embed="rId3">
            <a:alphaModFix/>
          </a:blip>
          <a:stretch>
            <a:fillRect/>
          </a:stretch>
        </p:blipFill>
        <p:spPr>
          <a:xfrm>
            <a:off x="6665848" y="3712196"/>
            <a:ext cx="5251833" cy="2494233"/>
          </a:xfrm>
          <a:prstGeom prst="rect">
            <a:avLst/>
          </a:prstGeom>
          <a:noFill/>
          <a:ln>
            <a:noFill/>
          </a:ln>
        </p:spPr>
      </p:pic>
      <p:pic>
        <p:nvPicPr>
          <p:cNvPr id="95" name="Google Shape;95;p16"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4">
            <a:alphaModFix/>
          </a:blip>
          <a:stretch>
            <a:fillRect/>
          </a:stretch>
        </p:blipFill>
        <p:spPr>
          <a:xfrm>
            <a:off x="3205934" y="2615433"/>
            <a:ext cx="4508500" cy="914400"/>
          </a:xfrm>
          <a:prstGeom prst="rect">
            <a:avLst/>
          </a:prstGeom>
          <a:noFill/>
          <a:ln>
            <a:noFill/>
          </a:ln>
        </p:spPr>
      </p:pic>
      <p:sp>
        <p:nvSpPr>
          <p:cNvPr id="96" name="Google Shape;96;p16"/>
          <p:cNvSpPr txBox="1"/>
          <p:nvPr/>
        </p:nvSpPr>
        <p:spPr>
          <a:xfrm>
            <a:off x="609600" y="3879767"/>
            <a:ext cx="5721200" cy="2494400"/>
          </a:xfrm>
          <a:prstGeom prst="rect">
            <a:avLst/>
          </a:prstGeom>
          <a:noFill/>
          <a:ln>
            <a:noFill/>
          </a:ln>
        </p:spPr>
        <p:txBody>
          <a:bodyPr spcFirstLastPara="1" wrap="square" lIns="121900" tIns="121900" rIns="121900" bIns="121900" anchor="t" anchorCtr="0">
            <a:noAutofit/>
          </a:bodyPr>
          <a:lstStyle/>
          <a:p>
            <a:r>
              <a:rPr lang="en" sz="3200" dirty="0"/>
              <a:t>The pdf and cdf contain exactly the same information, one being the integral   / derivative of the other.</a:t>
            </a:r>
            <a:endParaRPr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Visualizing Cumulative Distributions</a:t>
            </a:r>
            <a:endParaRPr/>
          </a:p>
        </p:txBody>
      </p:sp>
      <p:sp>
        <p:nvSpPr>
          <p:cNvPr id="102" name="Google Shape;102;p17"/>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Apple iPhone sales have been exploding, right?</a:t>
            </a:r>
            <a:endParaRPr/>
          </a:p>
        </p:txBody>
      </p:sp>
      <p:pic>
        <p:nvPicPr>
          <p:cNvPr id="103" name="Google Shape;103;p17"/>
          <p:cNvPicPr preferRelativeResize="0"/>
          <p:nvPr/>
        </p:nvPicPr>
        <p:blipFill>
          <a:blip r:embed="rId3">
            <a:alphaModFix/>
          </a:blip>
          <a:stretch>
            <a:fillRect/>
          </a:stretch>
        </p:blipFill>
        <p:spPr>
          <a:xfrm>
            <a:off x="3353532" y="2433680"/>
            <a:ext cx="5484935" cy="3656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How explosive is that growth, really?</a:t>
            </a:r>
            <a:endParaRPr/>
          </a:p>
        </p:txBody>
      </p:sp>
      <p:sp>
        <p:nvSpPr>
          <p:cNvPr id="109" name="Google Shape;109;p18"/>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Cumulative distributions present a misleading</a:t>
            </a:r>
            <a:endParaRPr/>
          </a:p>
          <a:p>
            <a:pPr marL="0" indent="0">
              <a:buNone/>
            </a:pPr>
            <a:r>
              <a:rPr lang="en"/>
              <a:t>view of growth rate.</a:t>
            </a:r>
            <a:endParaRPr/>
          </a:p>
          <a:p>
            <a:pPr marL="0" indent="0">
              <a:buNone/>
            </a:pPr>
            <a:endParaRPr/>
          </a:p>
          <a:p>
            <a:pPr marL="0" indent="0">
              <a:buNone/>
            </a:pPr>
            <a:endParaRPr/>
          </a:p>
        </p:txBody>
      </p:sp>
      <p:pic>
        <p:nvPicPr>
          <p:cNvPr id="110" name="Google Shape;110;p18"/>
          <p:cNvPicPr preferRelativeResize="0"/>
          <p:nvPr/>
        </p:nvPicPr>
        <p:blipFill>
          <a:blip r:embed="rId3">
            <a:alphaModFix/>
          </a:blip>
          <a:stretch>
            <a:fillRect/>
          </a:stretch>
        </p:blipFill>
        <p:spPr>
          <a:xfrm>
            <a:off x="5742334" y="2830833"/>
            <a:ext cx="5941668" cy="3607467"/>
          </a:xfrm>
          <a:prstGeom prst="rect">
            <a:avLst/>
          </a:prstGeom>
          <a:noFill/>
          <a:ln>
            <a:noFill/>
          </a:ln>
        </p:spPr>
      </p:pic>
      <p:sp>
        <p:nvSpPr>
          <p:cNvPr id="111" name="Google Shape;111;p18"/>
          <p:cNvSpPr txBox="1"/>
          <p:nvPr/>
        </p:nvSpPr>
        <p:spPr>
          <a:xfrm>
            <a:off x="803767" y="3279900"/>
            <a:ext cx="4342800" cy="3158400"/>
          </a:xfrm>
          <a:prstGeom prst="rect">
            <a:avLst/>
          </a:prstGeom>
          <a:noFill/>
          <a:ln>
            <a:noFill/>
          </a:ln>
        </p:spPr>
        <p:txBody>
          <a:bodyPr spcFirstLastPara="1" wrap="square" lIns="121900" tIns="121900" rIns="121900" bIns="121900" anchor="t" anchorCtr="0">
            <a:noAutofit/>
          </a:bodyPr>
          <a:lstStyle/>
          <a:p>
            <a:r>
              <a:rPr lang="en" sz="3200" dirty="0"/>
              <a:t>The incremental change is the derivative of this function, which is hard to visualize</a:t>
            </a:r>
            <a:endParaRPr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Descriptive Statistics</a:t>
            </a:r>
            <a:endParaRPr/>
          </a:p>
        </p:txBody>
      </p:sp>
      <p:sp>
        <p:nvSpPr>
          <p:cNvPr id="117" name="Google Shape;117;p19"/>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Descriptive statistics provides ways to capture the properties of a given data set / sample.</a:t>
            </a:r>
            <a:endParaRPr dirty="0"/>
          </a:p>
          <a:p>
            <a:r>
              <a:rPr lang="en" dirty="0">
                <a:solidFill>
                  <a:srgbClr val="FF0000"/>
                </a:solidFill>
              </a:rPr>
              <a:t>Central tendency measures</a:t>
            </a:r>
            <a:r>
              <a:rPr lang="en" dirty="0"/>
              <a:t> describe the center around the data is distributed.</a:t>
            </a:r>
            <a:endParaRPr dirty="0"/>
          </a:p>
          <a:p>
            <a:pPr>
              <a:spcBef>
                <a:spcPts val="0"/>
              </a:spcBef>
            </a:pPr>
            <a:r>
              <a:rPr lang="en" dirty="0">
                <a:solidFill>
                  <a:srgbClr val="FF0000"/>
                </a:solidFill>
              </a:rPr>
              <a:t>Variation or variability measures</a:t>
            </a:r>
            <a:r>
              <a:rPr lang="en" dirty="0"/>
              <a:t> describe data spread, i.e. how far the measurements lie from the center.</a:t>
            </a:r>
            <a:endParaRPr dirty="0"/>
          </a:p>
          <a:p>
            <a:pPr marL="0" indent="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762267" y="296437"/>
            <a:ext cx="10972800" cy="1143200"/>
          </a:xfrm>
          <a:prstGeom prst="rect">
            <a:avLst/>
          </a:prstGeom>
        </p:spPr>
        <p:txBody>
          <a:bodyPr spcFirstLastPara="1" vert="horz" wrap="square" lIns="121900" tIns="121900" rIns="121900" bIns="121900" rtlCol="0" anchor="b" anchorCtr="0">
            <a:noAutofit/>
          </a:bodyPr>
          <a:lstStyle/>
          <a:p>
            <a:r>
              <a:rPr lang="en"/>
              <a:t>Centrality Measure: Mean</a:t>
            </a:r>
            <a:endParaRPr/>
          </a:p>
        </p:txBody>
      </p:sp>
      <p:sp>
        <p:nvSpPr>
          <p:cNvPr id="123" name="Google Shape;123;p20"/>
          <p:cNvSpPr txBox="1">
            <a:spLocks noGrp="1"/>
          </p:cNvSpPr>
          <p:nvPr>
            <p:ph type="body" idx="1"/>
          </p:nvPr>
        </p:nvSpPr>
        <p:spPr>
          <a:xfrm>
            <a:off x="609600" y="1580933"/>
            <a:ext cx="10972800" cy="4967600"/>
          </a:xfrm>
          <a:prstGeom prst="rect">
            <a:avLst/>
          </a:prstGeom>
        </p:spPr>
        <p:txBody>
          <a:bodyPr spcFirstLastPara="1" vert="horz" wrap="square" lIns="121900" tIns="121900" rIns="121900" bIns="121900" rtlCol="0" anchor="t" anchorCtr="0">
            <a:noAutofit/>
          </a:bodyPr>
          <a:lstStyle/>
          <a:p>
            <a:pPr marL="0" indent="0">
              <a:buNone/>
            </a:pPr>
            <a:r>
              <a:rPr lang="en" dirty="0"/>
              <a:t>To calculate the mean, sum values and divide by number of observations:</a:t>
            </a:r>
            <a:endParaRPr dirty="0"/>
          </a:p>
          <a:p>
            <a:pPr marL="0" indent="0">
              <a:buNone/>
            </a:pPr>
            <a:r>
              <a:rPr lang="en" dirty="0"/>
              <a:t>Mean is meaningful for symmetric distributions without outliers.</a:t>
            </a:r>
            <a:endParaRPr dirty="0"/>
          </a:p>
        </p:txBody>
      </p:sp>
      <p:pic>
        <p:nvPicPr>
          <p:cNvPr id="124" name="Google Shape;124;p20" descr="mean-latex.gif"/>
          <p:cNvPicPr preferRelativeResize="0"/>
          <p:nvPr/>
        </p:nvPicPr>
        <p:blipFill>
          <a:blip r:embed="rId3">
            <a:alphaModFix/>
          </a:blip>
          <a:stretch>
            <a:fillRect/>
          </a:stretch>
        </p:blipFill>
        <p:spPr>
          <a:xfrm>
            <a:off x="8819566" y="1864046"/>
            <a:ext cx="2662734" cy="460901"/>
          </a:xfrm>
          <a:prstGeom prst="rect">
            <a:avLst/>
          </a:prstGeom>
          <a:noFill/>
          <a:ln>
            <a:noFill/>
          </a:ln>
        </p:spPr>
      </p:pic>
      <p:pic>
        <p:nvPicPr>
          <p:cNvPr id="125" name="Google Shape;125;p20" descr="Positively Skewed Distribution - Definition, Example &amp; Causes"/>
          <p:cNvPicPr preferRelativeResize="0"/>
          <p:nvPr/>
        </p:nvPicPr>
        <p:blipFill>
          <a:blip r:embed="rId4">
            <a:alphaModFix/>
          </a:blip>
          <a:stretch>
            <a:fillRect/>
          </a:stretch>
        </p:blipFill>
        <p:spPr>
          <a:xfrm>
            <a:off x="8878250" y="3285383"/>
            <a:ext cx="2463800" cy="2286000"/>
          </a:xfrm>
          <a:prstGeom prst="rect">
            <a:avLst/>
          </a:prstGeom>
          <a:noFill/>
          <a:ln>
            <a:noFill/>
          </a:ln>
        </p:spPr>
      </p:pic>
      <p:pic>
        <p:nvPicPr>
          <p:cNvPr id="126" name="Google Shape;126;p20" descr="Symmetric and skewed distributions and outliers — Krista King Math | Online  math help"/>
          <p:cNvPicPr preferRelativeResize="0"/>
          <p:nvPr/>
        </p:nvPicPr>
        <p:blipFill>
          <a:blip r:embed="rId5">
            <a:alphaModFix/>
          </a:blip>
          <a:stretch>
            <a:fillRect/>
          </a:stretch>
        </p:blipFill>
        <p:spPr>
          <a:xfrm>
            <a:off x="4659759" y="3429000"/>
            <a:ext cx="3177815" cy="1998767"/>
          </a:xfrm>
          <a:prstGeom prst="rect">
            <a:avLst/>
          </a:prstGeom>
          <a:noFill/>
          <a:ln>
            <a:noFill/>
          </a:ln>
        </p:spPr>
      </p:pic>
      <p:pic>
        <p:nvPicPr>
          <p:cNvPr id="127" name="Google Shape;127;p20" descr="A normal distribution with outliers, showing the relative positions of... |  Download Scientific Diagram"/>
          <p:cNvPicPr preferRelativeResize="0"/>
          <p:nvPr/>
        </p:nvPicPr>
        <p:blipFill>
          <a:blip r:embed="rId6">
            <a:alphaModFix/>
          </a:blip>
          <a:stretch>
            <a:fillRect/>
          </a:stretch>
        </p:blipFill>
        <p:spPr>
          <a:xfrm>
            <a:off x="849950" y="3146800"/>
            <a:ext cx="3075767" cy="213026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Other Centrality Measures</a:t>
            </a:r>
            <a:endParaRPr/>
          </a:p>
        </p:txBody>
      </p:sp>
      <p:sp>
        <p:nvSpPr>
          <p:cNvPr id="133" name="Google Shape;133;p21"/>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The </a:t>
            </a:r>
            <a:r>
              <a:rPr lang="en" dirty="0">
                <a:solidFill>
                  <a:srgbClr val="0000FF"/>
                </a:solidFill>
              </a:rPr>
              <a:t>median</a:t>
            </a:r>
            <a:r>
              <a:rPr lang="en" dirty="0"/>
              <a:t> represents the middle value.</a:t>
            </a:r>
            <a:endParaRPr dirty="0"/>
          </a:p>
          <a:p>
            <a:pPr marL="0" indent="0">
              <a:buNone/>
            </a:pPr>
            <a:r>
              <a:rPr lang="en" dirty="0"/>
              <a:t>The </a:t>
            </a:r>
            <a:r>
              <a:rPr lang="en" dirty="0">
                <a:solidFill>
                  <a:srgbClr val="0000FF"/>
                </a:solidFill>
              </a:rPr>
              <a:t>geometric mean</a:t>
            </a:r>
            <a:r>
              <a:rPr lang="en" dirty="0"/>
              <a:t> is the nth root of the product of n values:</a:t>
            </a:r>
            <a:endParaRPr dirty="0"/>
          </a:p>
          <a:p>
            <a:pPr marL="0" indent="0">
              <a:buNone/>
            </a:pPr>
            <a:endParaRPr lang="en" dirty="0"/>
          </a:p>
          <a:p>
            <a:pPr marL="0" indent="0">
              <a:buNone/>
            </a:pPr>
            <a:r>
              <a:rPr lang="en" dirty="0"/>
              <a:t>The geometric mean is always &lt;= arithmetic mean, and more sensitive to values near zero.</a:t>
            </a:r>
            <a:endParaRPr dirty="0"/>
          </a:p>
          <a:p>
            <a:pPr marL="0" indent="0">
              <a:buNone/>
            </a:pPr>
            <a:r>
              <a:rPr lang="en" dirty="0"/>
              <a:t>Geometric means make sense with ratios:</a:t>
            </a:r>
            <a:endParaRPr dirty="0"/>
          </a:p>
          <a:p>
            <a:pPr marL="0" indent="0">
              <a:buNone/>
            </a:pPr>
            <a:r>
              <a:rPr lang="en" dirty="0"/>
              <a:t> 1/2 and 2/1 </a:t>
            </a:r>
            <a:r>
              <a:rPr lang="en" i="1" dirty="0"/>
              <a:t>should</a:t>
            </a:r>
            <a:r>
              <a:rPr lang="en" dirty="0"/>
              <a:t> average to 1.</a:t>
            </a:r>
            <a:endParaRPr dirty="0"/>
          </a:p>
          <a:p>
            <a:pPr marL="0" indent="0">
              <a:buNone/>
            </a:pPr>
            <a:endParaRPr dirty="0"/>
          </a:p>
          <a:p>
            <a:pPr marL="0" indent="0">
              <a:buNone/>
            </a:pPr>
            <a:endParaRPr dirty="0"/>
          </a:p>
        </p:txBody>
      </p:sp>
      <p:pic>
        <p:nvPicPr>
          <p:cNvPr id="134" name="Google Shape;134;p21"/>
          <p:cNvPicPr preferRelativeResize="0"/>
          <p:nvPr/>
        </p:nvPicPr>
        <p:blipFill>
          <a:blip r:embed="rId3">
            <a:alphaModFix/>
          </a:blip>
          <a:stretch>
            <a:fillRect/>
          </a:stretch>
        </p:blipFill>
        <p:spPr>
          <a:xfrm>
            <a:off x="7508957" y="1945640"/>
            <a:ext cx="2832100" cy="723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5F0E-FDB1-9128-1D4F-5BFD271F567C}"/>
              </a:ext>
            </a:extLst>
          </p:cNvPr>
          <p:cNvSpPr>
            <a:spLocks noGrp="1"/>
          </p:cNvSpPr>
          <p:nvPr>
            <p:ph type="title"/>
          </p:nvPr>
        </p:nvSpPr>
        <p:spPr/>
        <p:txBody>
          <a:bodyPr/>
          <a:lstStyle/>
          <a:p>
            <a:r>
              <a:rPr lang="en" dirty="0"/>
              <a:t>Which Measure is Best?</a:t>
            </a:r>
            <a:endParaRPr lang="en-CA" dirty="0"/>
          </a:p>
        </p:txBody>
      </p:sp>
      <p:sp>
        <p:nvSpPr>
          <p:cNvPr id="3" name="Text Placeholder 2">
            <a:extLst>
              <a:ext uri="{FF2B5EF4-FFF2-40B4-BE49-F238E27FC236}">
                <a16:creationId xmlns:a16="http://schemas.microsoft.com/office/drawing/2014/main" id="{02D8A0EA-C700-718D-9753-B5C24024C30D}"/>
              </a:ext>
            </a:extLst>
          </p:cNvPr>
          <p:cNvSpPr>
            <a:spLocks noGrp="1"/>
          </p:cNvSpPr>
          <p:nvPr>
            <p:ph type="body" idx="1"/>
          </p:nvPr>
        </p:nvSpPr>
        <p:spPr/>
        <p:txBody>
          <a:bodyPr/>
          <a:lstStyle/>
          <a:p>
            <a:endParaRPr lang="en-CA" dirty="0"/>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C1C376A5-2C60-9C70-0905-C3FB45ADF388}"/>
                  </a:ext>
                </a:extLst>
              </p:cNvPr>
              <p:cNvGraphicFramePr>
                <a:graphicFrameLocks noGrp="1"/>
              </p:cNvGraphicFramePr>
              <p:nvPr>
                <p:extLst>
                  <p:ext uri="{D42A27DB-BD31-4B8C-83A1-F6EECF244321}">
                    <p14:modId xmlns:p14="http://schemas.microsoft.com/office/powerpoint/2010/main" val="1784437476"/>
                  </p:ext>
                </p:extLst>
              </p:nvPr>
            </p:nvGraphicFramePr>
            <p:xfrm>
              <a:off x="372533" y="2006036"/>
              <a:ext cx="10464800" cy="4022724"/>
            </p:xfrm>
            <a:graphic>
              <a:graphicData uri="http://schemas.openxmlformats.org/drawingml/2006/table">
                <a:tbl>
                  <a:tblPr>
                    <a:tableStyleId>{3C2FFA5D-87B4-456A-9821-1D502468CF0F}</a:tableStyleId>
                  </a:tblPr>
                  <a:tblGrid>
                    <a:gridCol w="2092960">
                      <a:extLst>
                        <a:ext uri="{9D8B030D-6E8A-4147-A177-3AD203B41FA5}">
                          <a16:colId xmlns:a16="http://schemas.microsoft.com/office/drawing/2014/main" val="3868904343"/>
                        </a:ext>
                      </a:extLst>
                    </a:gridCol>
                    <a:gridCol w="2092960">
                      <a:extLst>
                        <a:ext uri="{9D8B030D-6E8A-4147-A177-3AD203B41FA5}">
                          <a16:colId xmlns:a16="http://schemas.microsoft.com/office/drawing/2014/main" val="293651756"/>
                        </a:ext>
                      </a:extLst>
                    </a:gridCol>
                    <a:gridCol w="2092960">
                      <a:extLst>
                        <a:ext uri="{9D8B030D-6E8A-4147-A177-3AD203B41FA5}">
                          <a16:colId xmlns:a16="http://schemas.microsoft.com/office/drawing/2014/main" val="1294998935"/>
                        </a:ext>
                      </a:extLst>
                    </a:gridCol>
                    <a:gridCol w="2092960">
                      <a:extLst>
                        <a:ext uri="{9D8B030D-6E8A-4147-A177-3AD203B41FA5}">
                          <a16:colId xmlns:a16="http://schemas.microsoft.com/office/drawing/2014/main" val="712437102"/>
                        </a:ext>
                      </a:extLst>
                    </a:gridCol>
                    <a:gridCol w="2092960">
                      <a:extLst>
                        <a:ext uri="{9D8B030D-6E8A-4147-A177-3AD203B41FA5}">
                          <a16:colId xmlns:a16="http://schemas.microsoft.com/office/drawing/2014/main" val="3563155546"/>
                        </a:ext>
                      </a:extLst>
                    </a:gridCol>
                  </a:tblGrid>
                  <a:tr h="309440">
                    <a:tc>
                      <a:txBody>
                        <a:bodyPr/>
                        <a:lstStyle/>
                        <a:p>
                          <a:pPr>
                            <a:buNone/>
                          </a:pPr>
                          <a:r>
                            <a:rPr lang="en-CA" sz="1500"/>
                            <a:t>Measure</a:t>
                          </a:r>
                        </a:p>
                      </a:txBody>
                      <a:tcPr marL="77360" marR="77360" marT="38680" marB="38680" anchor="ctr"/>
                    </a:tc>
                    <a:tc>
                      <a:txBody>
                        <a:bodyPr/>
                        <a:lstStyle/>
                        <a:p>
                          <a:pPr>
                            <a:buNone/>
                          </a:pPr>
                          <a:r>
                            <a:rPr lang="en-CA" sz="1500"/>
                            <a:t>Definition</a:t>
                          </a:r>
                        </a:p>
                      </a:txBody>
                      <a:tcPr marL="77360" marR="77360" marT="38680" marB="38680" anchor="ctr"/>
                    </a:tc>
                    <a:tc>
                      <a:txBody>
                        <a:bodyPr/>
                        <a:lstStyle/>
                        <a:p>
                          <a:pPr>
                            <a:buNone/>
                          </a:pPr>
                          <a:r>
                            <a:rPr lang="en-CA" sz="1500"/>
                            <a:t>Pros</a:t>
                          </a:r>
                        </a:p>
                      </a:txBody>
                      <a:tcPr marL="77360" marR="77360" marT="38680" marB="38680" anchor="ctr"/>
                    </a:tc>
                    <a:tc>
                      <a:txBody>
                        <a:bodyPr/>
                        <a:lstStyle/>
                        <a:p>
                          <a:pPr>
                            <a:buNone/>
                          </a:pPr>
                          <a:r>
                            <a:rPr lang="en-CA" sz="1500"/>
                            <a:t>Cons</a:t>
                          </a:r>
                        </a:p>
                      </a:txBody>
                      <a:tcPr marL="77360" marR="77360" marT="38680" marB="38680" anchor="ctr"/>
                    </a:tc>
                    <a:tc>
                      <a:txBody>
                        <a:bodyPr/>
                        <a:lstStyle/>
                        <a:p>
                          <a:pPr>
                            <a:buNone/>
                          </a:pPr>
                          <a:r>
                            <a:rPr lang="en-CA" sz="1500"/>
                            <a:t>Example</a:t>
                          </a:r>
                        </a:p>
                      </a:txBody>
                      <a:tcPr marL="77360" marR="77360" marT="38680" marB="38680" anchor="ctr"/>
                    </a:tc>
                    <a:extLst>
                      <a:ext uri="{0D108BD9-81ED-4DB2-BD59-A6C34878D82A}">
                        <a16:rowId xmlns:a16="http://schemas.microsoft.com/office/drawing/2014/main" val="3290953558"/>
                      </a:ext>
                    </a:extLst>
                  </a:tr>
                  <a:tr h="1005681">
                    <a:tc>
                      <a:txBody>
                        <a:bodyPr/>
                        <a:lstStyle/>
                        <a:p>
                          <a:pPr>
                            <a:buNone/>
                          </a:pPr>
                          <a:r>
                            <a:rPr lang="en-CA" sz="1500" b="1"/>
                            <a:t>Mean (Arithmetic Mean)</a:t>
                          </a:r>
                          <a:endParaRPr lang="en-CA" sz="1500"/>
                        </a:p>
                      </a:txBody>
                      <a:tcPr marL="77360" marR="77360" marT="38680" marB="38680" anchor="ctr"/>
                    </a:tc>
                    <a:tc>
                      <a:txBody>
                        <a:bodyPr/>
                        <a:lstStyle/>
                        <a:p>
                          <a:pPr>
                            <a:buNone/>
                          </a:pPr>
                          <a:r>
                            <a:rPr lang="en-CA" sz="1500"/>
                            <a:t>Sum of all values ÷ number of values</a:t>
                          </a:r>
                        </a:p>
                      </a:txBody>
                      <a:tcPr marL="77360" marR="77360" marT="38680" marB="38680" anchor="ctr"/>
                    </a:tc>
                    <a:tc>
                      <a:txBody>
                        <a:bodyPr/>
                        <a:lstStyle/>
                        <a:p>
                          <a:pPr>
                            <a:buNone/>
                          </a:pPr>
                          <a:r>
                            <a:rPr lang="en-CA" sz="1500" dirty="0"/>
                            <a:t>- Uses all data points- Easy to compute</a:t>
                          </a:r>
                        </a:p>
                      </a:txBody>
                      <a:tcPr marL="77360" marR="77360" marT="38680" marB="38680" anchor="ctr"/>
                    </a:tc>
                    <a:tc>
                      <a:txBody>
                        <a:bodyPr/>
                        <a:lstStyle/>
                        <a:p>
                          <a:pPr>
                            <a:buNone/>
                          </a:pPr>
                          <a:r>
                            <a:rPr lang="en-CA" sz="1500" dirty="0"/>
                            <a:t>- Distorted by outliers- Misleading for skewed data</a:t>
                          </a:r>
                        </a:p>
                      </a:txBody>
                      <a:tcPr marL="77360" marR="77360" marT="38680" marB="38680" anchor="ctr"/>
                    </a:tc>
                    <a:tc>
                      <a:txBody>
                        <a:bodyPr/>
                        <a:lstStyle/>
                        <a:p>
                          <a:pPr>
                            <a:buNone/>
                          </a:pPr>
                          <a:r>
                            <a:rPr lang="en-CA" sz="1500"/>
                            <a:t>Salaries: [50k, 50k, 60k, 70k, 5M]Mean ≈ </a:t>
                          </a:r>
                          <a:r>
                            <a:rPr lang="en-CA" sz="1500" b="1"/>
                            <a:t>1.06M</a:t>
                          </a:r>
                          <a:r>
                            <a:rPr lang="en-CA" sz="1500"/>
                            <a:t> (not representative)</a:t>
                          </a:r>
                        </a:p>
                      </a:txBody>
                      <a:tcPr marL="77360" marR="77360" marT="38680" marB="38680" anchor="ctr"/>
                    </a:tc>
                    <a:extLst>
                      <a:ext uri="{0D108BD9-81ED-4DB2-BD59-A6C34878D82A}">
                        <a16:rowId xmlns:a16="http://schemas.microsoft.com/office/drawing/2014/main" val="3739041577"/>
                      </a:ext>
                    </a:extLst>
                  </a:tr>
                  <a:tr h="1005681">
                    <a:tc>
                      <a:txBody>
                        <a:bodyPr/>
                        <a:lstStyle/>
                        <a:p>
                          <a:pPr>
                            <a:buNone/>
                          </a:pPr>
                          <a:r>
                            <a:rPr lang="en-CA" sz="1500" b="1" dirty="0"/>
                            <a:t>Median</a:t>
                          </a:r>
                          <a:endParaRPr lang="en-CA" sz="1500" dirty="0"/>
                        </a:p>
                      </a:txBody>
                      <a:tcPr marL="77360" marR="77360" marT="38680" marB="38680" anchor="ctr"/>
                    </a:tc>
                    <a:tc>
                      <a:txBody>
                        <a:bodyPr/>
                        <a:lstStyle/>
                        <a:p>
                          <a:pPr>
                            <a:buNone/>
                          </a:pPr>
                          <a:r>
                            <a:rPr lang="en-CA" sz="1500" dirty="0"/>
                            <a:t>Middle value when data is sorted</a:t>
                          </a:r>
                        </a:p>
                      </a:txBody>
                      <a:tcPr marL="77360" marR="77360" marT="38680" marB="38680" anchor="ctr"/>
                    </a:tc>
                    <a:tc>
                      <a:txBody>
                        <a:bodyPr/>
                        <a:lstStyle/>
                        <a:p>
                          <a:pPr>
                            <a:buNone/>
                          </a:pPr>
                          <a:r>
                            <a:rPr lang="en-CA" sz="1500" dirty="0"/>
                            <a:t>- Not affected by outliers- Good for skewed data</a:t>
                          </a:r>
                        </a:p>
                      </a:txBody>
                      <a:tcPr marL="77360" marR="77360" marT="38680" marB="38680" anchor="ctr"/>
                    </a:tc>
                    <a:tc>
                      <a:txBody>
                        <a:bodyPr/>
                        <a:lstStyle/>
                        <a:p>
                          <a:pPr>
                            <a:buNone/>
                          </a:pPr>
                          <a:r>
                            <a:rPr lang="en-CA" sz="1500"/>
                            <a:t>- Ignores exact values of most data- Less useful for symmetric data</a:t>
                          </a:r>
                        </a:p>
                      </a:txBody>
                      <a:tcPr marL="77360" marR="77360" marT="38680" marB="38680" anchor="ctr"/>
                    </a:tc>
                    <a:tc>
                      <a:txBody>
                        <a:bodyPr/>
                        <a:lstStyle/>
                        <a:p>
                          <a:pPr>
                            <a:buNone/>
                          </a:pPr>
                          <a:r>
                            <a:rPr lang="en-CA" sz="1500"/>
                            <a:t>Same salaries: Median = </a:t>
                          </a:r>
                          <a:r>
                            <a:rPr lang="en-CA" sz="1500" b="1"/>
                            <a:t>60k</a:t>
                          </a:r>
                          <a:r>
                            <a:rPr lang="en-CA" sz="1500"/>
                            <a:t> (better “typical” salary)</a:t>
                          </a:r>
                        </a:p>
                      </a:txBody>
                      <a:tcPr marL="77360" marR="77360" marT="38680" marB="38680" anchor="ctr"/>
                    </a:tc>
                    <a:extLst>
                      <a:ext uri="{0D108BD9-81ED-4DB2-BD59-A6C34878D82A}">
                        <a16:rowId xmlns:a16="http://schemas.microsoft.com/office/drawing/2014/main" val="3758738483"/>
                      </a:ext>
                    </a:extLst>
                  </a:tr>
                  <a:tr h="1701922">
                    <a:tc>
                      <a:txBody>
                        <a:bodyPr/>
                        <a:lstStyle/>
                        <a:p>
                          <a:pPr>
                            <a:buNone/>
                          </a:pPr>
                          <a:r>
                            <a:rPr lang="en-CA" sz="1500" b="1"/>
                            <a:t>Geometric Mean</a:t>
                          </a:r>
                          <a:endParaRPr lang="en-CA" sz="1500"/>
                        </a:p>
                      </a:txBody>
                      <a:tcPr marL="77360" marR="77360" marT="38680" marB="38680" anchor="ctr"/>
                    </a:tc>
                    <a:tc>
                      <a:txBody>
                        <a:bodyPr/>
                        <a:lstStyle/>
                        <a:p>
                          <a:pPr>
                            <a:buNone/>
                          </a:pPr>
                          <a:endParaRPr lang="en-CA" sz="1500" dirty="0"/>
                        </a:p>
                      </a:txBody>
                      <a:tcPr marL="77360" marR="77360" marT="38680" marB="38680" anchor="ctr"/>
                    </a:tc>
                    <a:tc>
                      <a:txBody>
                        <a:bodyPr/>
                        <a:lstStyle/>
                        <a:p>
                          <a:pPr>
                            <a:buNone/>
                          </a:pPr>
                          <a:r>
                            <a:rPr lang="en-CA" sz="1500" dirty="0"/>
                            <a:t>- Best for ratios, percentages, and growth rates- Handles proportional change well</a:t>
                          </a:r>
                        </a:p>
                      </a:txBody>
                      <a:tcPr marL="77360" marR="77360" marT="38680" marB="38680" anchor="ctr"/>
                    </a:tc>
                    <a:tc>
                      <a:txBody>
                        <a:bodyPr/>
                        <a:lstStyle/>
                        <a:p>
                          <a:pPr>
                            <a:buNone/>
                          </a:pPr>
                          <a:r>
                            <a:rPr lang="en-CA" sz="1500"/>
                            <a:t>- Cannot use with negative values- More complex to compute</a:t>
                          </a:r>
                        </a:p>
                      </a:txBody>
                      <a:tcPr marL="77360" marR="77360" marT="38680" marB="38680" anchor="ctr"/>
                    </a:tc>
                    <a:tc>
                      <a:txBody>
                        <a:bodyPr/>
                        <a:lstStyle/>
                        <a:p>
                          <a:pPr>
                            <a:buNone/>
                          </a:pPr>
                          <a:r>
                            <a:rPr lang="en-CA" sz="1500" dirty="0"/>
                            <a:t>Growth rates: +50%, –50%Arithmetic mean = 0% ❌Geometric mean ≈ </a:t>
                          </a:r>
                          <a14:m>
                            <m:oMath xmlns:m="http://schemas.openxmlformats.org/officeDocument/2006/math">
                              <m:r>
                                <a:rPr lang="en-CA" sz="1500" b="1" dirty="0" smtClean="0">
                                  <a:latin typeface="Cambria Math" panose="02040503050406030204" pitchFamily="18" charset="0"/>
                                </a:rPr>
                                <m:t>0.866</m:t>
                              </m:r>
                            </m:oMath>
                          </a14:m>
                          <a:r>
                            <a:rPr lang="en-CA" sz="1500" b="1" dirty="0"/>
                            <a:t>% per year</a:t>
                          </a:r>
                          <a:r>
                            <a:rPr lang="en-CA" sz="1500" dirty="0"/>
                            <a:t> ✅</a:t>
                          </a:r>
                        </a:p>
                      </a:txBody>
                      <a:tcPr marL="77360" marR="77360" marT="38680" marB="38680" anchor="ctr"/>
                    </a:tc>
                    <a:extLst>
                      <a:ext uri="{0D108BD9-81ED-4DB2-BD59-A6C34878D82A}">
                        <a16:rowId xmlns:a16="http://schemas.microsoft.com/office/drawing/2014/main" val="2439946875"/>
                      </a:ext>
                    </a:extLst>
                  </a:tr>
                </a:tbl>
              </a:graphicData>
            </a:graphic>
          </p:graphicFrame>
        </mc:Choice>
        <mc:Fallback>
          <p:graphicFrame>
            <p:nvGraphicFramePr>
              <p:cNvPr id="4" name="Table 3">
                <a:extLst>
                  <a:ext uri="{FF2B5EF4-FFF2-40B4-BE49-F238E27FC236}">
                    <a16:creationId xmlns:a16="http://schemas.microsoft.com/office/drawing/2014/main" id="{C1C376A5-2C60-9C70-0905-C3FB45ADF388}"/>
                  </a:ext>
                </a:extLst>
              </p:cNvPr>
              <p:cNvGraphicFramePr>
                <a:graphicFrameLocks noGrp="1"/>
              </p:cNvGraphicFramePr>
              <p:nvPr>
                <p:extLst>
                  <p:ext uri="{D42A27DB-BD31-4B8C-83A1-F6EECF244321}">
                    <p14:modId xmlns:p14="http://schemas.microsoft.com/office/powerpoint/2010/main" val="1784437476"/>
                  </p:ext>
                </p:extLst>
              </p:nvPr>
            </p:nvGraphicFramePr>
            <p:xfrm>
              <a:off x="372533" y="2006036"/>
              <a:ext cx="10464800" cy="4022724"/>
            </p:xfrm>
            <a:graphic>
              <a:graphicData uri="http://schemas.openxmlformats.org/drawingml/2006/table">
                <a:tbl>
                  <a:tblPr>
                    <a:tableStyleId>{3C2FFA5D-87B4-456A-9821-1D502468CF0F}</a:tableStyleId>
                  </a:tblPr>
                  <a:tblGrid>
                    <a:gridCol w="2092960">
                      <a:extLst>
                        <a:ext uri="{9D8B030D-6E8A-4147-A177-3AD203B41FA5}">
                          <a16:colId xmlns:a16="http://schemas.microsoft.com/office/drawing/2014/main" val="3868904343"/>
                        </a:ext>
                      </a:extLst>
                    </a:gridCol>
                    <a:gridCol w="2092960">
                      <a:extLst>
                        <a:ext uri="{9D8B030D-6E8A-4147-A177-3AD203B41FA5}">
                          <a16:colId xmlns:a16="http://schemas.microsoft.com/office/drawing/2014/main" val="293651756"/>
                        </a:ext>
                      </a:extLst>
                    </a:gridCol>
                    <a:gridCol w="2092960">
                      <a:extLst>
                        <a:ext uri="{9D8B030D-6E8A-4147-A177-3AD203B41FA5}">
                          <a16:colId xmlns:a16="http://schemas.microsoft.com/office/drawing/2014/main" val="1294998935"/>
                        </a:ext>
                      </a:extLst>
                    </a:gridCol>
                    <a:gridCol w="2092960">
                      <a:extLst>
                        <a:ext uri="{9D8B030D-6E8A-4147-A177-3AD203B41FA5}">
                          <a16:colId xmlns:a16="http://schemas.microsoft.com/office/drawing/2014/main" val="712437102"/>
                        </a:ext>
                      </a:extLst>
                    </a:gridCol>
                    <a:gridCol w="2092960">
                      <a:extLst>
                        <a:ext uri="{9D8B030D-6E8A-4147-A177-3AD203B41FA5}">
                          <a16:colId xmlns:a16="http://schemas.microsoft.com/office/drawing/2014/main" val="3563155546"/>
                        </a:ext>
                      </a:extLst>
                    </a:gridCol>
                  </a:tblGrid>
                  <a:tr h="309440">
                    <a:tc>
                      <a:txBody>
                        <a:bodyPr/>
                        <a:lstStyle/>
                        <a:p>
                          <a:pPr>
                            <a:buNone/>
                          </a:pPr>
                          <a:r>
                            <a:rPr lang="en-CA" sz="1500"/>
                            <a:t>Measure</a:t>
                          </a:r>
                        </a:p>
                      </a:txBody>
                      <a:tcPr marL="77360" marR="77360" marT="38680" marB="38680" anchor="ctr"/>
                    </a:tc>
                    <a:tc>
                      <a:txBody>
                        <a:bodyPr/>
                        <a:lstStyle/>
                        <a:p>
                          <a:pPr>
                            <a:buNone/>
                          </a:pPr>
                          <a:r>
                            <a:rPr lang="en-CA" sz="1500"/>
                            <a:t>Definition</a:t>
                          </a:r>
                        </a:p>
                      </a:txBody>
                      <a:tcPr marL="77360" marR="77360" marT="38680" marB="38680" anchor="ctr"/>
                    </a:tc>
                    <a:tc>
                      <a:txBody>
                        <a:bodyPr/>
                        <a:lstStyle/>
                        <a:p>
                          <a:pPr>
                            <a:buNone/>
                          </a:pPr>
                          <a:r>
                            <a:rPr lang="en-CA" sz="1500"/>
                            <a:t>Pros</a:t>
                          </a:r>
                        </a:p>
                      </a:txBody>
                      <a:tcPr marL="77360" marR="77360" marT="38680" marB="38680" anchor="ctr"/>
                    </a:tc>
                    <a:tc>
                      <a:txBody>
                        <a:bodyPr/>
                        <a:lstStyle/>
                        <a:p>
                          <a:pPr>
                            <a:buNone/>
                          </a:pPr>
                          <a:r>
                            <a:rPr lang="en-CA" sz="1500"/>
                            <a:t>Cons</a:t>
                          </a:r>
                        </a:p>
                      </a:txBody>
                      <a:tcPr marL="77360" marR="77360" marT="38680" marB="38680" anchor="ctr"/>
                    </a:tc>
                    <a:tc>
                      <a:txBody>
                        <a:bodyPr/>
                        <a:lstStyle/>
                        <a:p>
                          <a:pPr>
                            <a:buNone/>
                          </a:pPr>
                          <a:r>
                            <a:rPr lang="en-CA" sz="1500"/>
                            <a:t>Example</a:t>
                          </a:r>
                        </a:p>
                      </a:txBody>
                      <a:tcPr marL="77360" marR="77360" marT="38680" marB="38680" anchor="ctr"/>
                    </a:tc>
                    <a:extLst>
                      <a:ext uri="{0D108BD9-81ED-4DB2-BD59-A6C34878D82A}">
                        <a16:rowId xmlns:a16="http://schemas.microsoft.com/office/drawing/2014/main" val="3290953558"/>
                      </a:ext>
                    </a:extLst>
                  </a:tr>
                  <a:tr h="1005681">
                    <a:tc>
                      <a:txBody>
                        <a:bodyPr/>
                        <a:lstStyle/>
                        <a:p>
                          <a:pPr>
                            <a:buNone/>
                          </a:pPr>
                          <a:r>
                            <a:rPr lang="en-CA" sz="1500" b="1"/>
                            <a:t>Mean (Arithmetic Mean)</a:t>
                          </a:r>
                          <a:endParaRPr lang="en-CA" sz="1500"/>
                        </a:p>
                      </a:txBody>
                      <a:tcPr marL="77360" marR="77360" marT="38680" marB="38680" anchor="ctr"/>
                    </a:tc>
                    <a:tc>
                      <a:txBody>
                        <a:bodyPr/>
                        <a:lstStyle/>
                        <a:p>
                          <a:pPr>
                            <a:buNone/>
                          </a:pPr>
                          <a:r>
                            <a:rPr lang="en-CA" sz="1500"/>
                            <a:t>Sum of all values ÷ number of values</a:t>
                          </a:r>
                        </a:p>
                      </a:txBody>
                      <a:tcPr marL="77360" marR="77360" marT="38680" marB="38680" anchor="ctr"/>
                    </a:tc>
                    <a:tc>
                      <a:txBody>
                        <a:bodyPr/>
                        <a:lstStyle/>
                        <a:p>
                          <a:pPr>
                            <a:buNone/>
                          </a:pPr>
                          <a:r>
                            <a:rPr lang="en-CA" sz="1500" dirty="0"/>
                            <a:t>- Uses all data points- Easy to compute</a:t>
                          </a:r>
                        </a:p>
                      </a:txBody>
                      <a:tcPr marL="77360" marR="77360" marT="38680" marB="38680" anchor="ctr"/>
                    </a:tc>
                    <a:tc>
                      <a:txBody>
                        <a:bodyPr/>
                        <a:lstStyle/>
                        <a:p>
                          <a:pPr>
                            <a:buNone/>
                          </a:pPr>
                          <a:r>
                            <a:rPr lang="en-CA" sz="1500" dirty="0"/>
                            <a:t>- Distorted by outliers- Misleading for skewed data</a:t>
                          </a:r>
                        </a:p>
                      </a:txBody>
                      <a:tcPr marL="77360" marR="77360" marT="38680" marB="38680" anchor="ctr"/>
                    </a:tc>
                    <a:tc>
                      <a:txBody>
                        <a:bodyPr/>
                        <a:lstStyle/>
                        <a:p>
                          <a:pPr>
                            <a:buNone/>
                          </a:pPr>
                          <a:r>
                            <a:rPr lang="en-CA" sz="1500"/>
                            <a:t>Salaries: [50k, 50k, 60k, 70k, 5M]Mean ≈ </a:t>
                          </a:r>
                          <a:r>
                            <a:rPr lang="en-CA" sz="1500" b="1"/>
                            <a:t>1.06M</a:t>
                          </a:r>
                          <a:r>
                            <a:rPr lang="en-CA" sz="1500"/>
                            <a:t> (not representative)</a:t>
                          </a:r>
                        </a:p>
                      </a:txBody>
                      <a:tcPr marL="77360" marR="77360" marT="38680" marB="38680" anchor="ctr"/>
                    </a:tc>
                    <a:extLst>
                      <a:ext uri="{0D108BD9-81ED-4DB2-BD59-A6C34878D82A}">
                        <a16:rowId xmlns:a16="http://schemas.microsoft.com/office/drawing/2014/main" val="3739041577"/>
                      </a:ext>
                    </a:extLst>
                  </a:tr>
                  <a:tr h="1005681">
                    <a:tc>
                      <a:txBody>
                        <a:bodyPr/>
                        <a:lstStyle/>
                        <a:p>
                          <a:pPr>
                            <a:buNone/>
                          </a:pPr>
                          <a:r>
                            <a:rPr lang="en-CA" sz="1500" b="1" dirty="0"/>
                            <a:t>Median</a:t>
                          </a:r>
                          <a:endParaRPr lang="en-CA" sz="1500" dirty="0"/>
                        </a:p>
                      </a:txBody>
                      <a:tcPr marL="77360" marR="77360" marT="38680" marB="38680" anchor="ctr"/>
                    </a:tc>
                    <a:tc>
                      <a:txBody>
                        <a:bodyPr/>
                        <a:lstStyle/>
                        <a:p>
                          <a:pPr>
                            <a:buNone/>
                          </a:pPr>
                          <a:r>
                            <a:rPr lang="en-CA" sz="1500" dirty="0"/>
                            <a:t>Middle value when data is sorted</a:t>
                          </a:r>
                        </a:p>
                      </a:txBody>
                      <a:tcPr marL="77360" marR="77360" marT="38680" marB="38680" anchor="ctr"/>
                    </a:tc>
                    <a:tc>
                      <a:txBody>
                        <a:bodyPr/>
                        <a:lstStyle/>
                        <a:p>
                          <a:pPr>
                            <a:buNone/>
                          </a:pPr>
                          <a:r>
                            <a:rPr lang="en-CA" sz="1500" dirty="0"/>
                            <a:t>- Not affected by outliers- Good for skewed data</a:t>
                          </a:r>
                        </a:p>
                      </a:txBody>
                      <a:tcPr marL="77360" marR="77360" marT="38680" marB="38680" anchor="ctr"/>
                    </a:tc>
                    <a:tc>
                      <a:txBody>
                        <a:bodyPr/>
                        <a:lstStyle/>
                        <a:p>
                          <a:pPr>
                            <a:buNone/>
                          </a:pPr>
                          <a:r>
                            <a:rPr lang="en-CA" sz="1500"/>
                            <a:t>- Ignores exact values of most data- Less useful for symmetric data</a:t>
                          </a:r>
                        </a:p>
                      </a:txBody>
                      <a:tcPr marL="77360" marR="77360" marT="38680" marB="38680" anchor="ctr"/>
                    </a:tc>
                    <a:tc>
                      <a:txBody>
                        <a:bodyPr/>
                        <a:lstStyle/>
                        <a:p>
                          <a:pPr>
                            <a:buNone/>
                          </a:pPr>
                          <a:r>
                            <a:rPr lang="en-CA" sz="1500"/>
                            <a:t>Same salaries: Median = </a:t>
                          </a:r>
                          <a:r>
                            <a:rPr lang="en-CA" sz="1500" b="1"/>
                            <a:t>60k</a:t>
                          </a:r>
                          <a:r>
                            <a:rPr lang="en-CA" sz="1500"/>
                            <a:t> (better “typical” salary)</a:t>
                          </a:r>
                        </a:p>
                      </a:txBody>
                      <a:tcPr marL="77360" marR="77360" marT="38680" marB="38680" anchor="ctr"/>
                    </a:tc>
                    <a:extLst>
                      <a:ext uri="{0D108BD9-81ED-4DB2-BD59-A6C34878D82A}">
                        <a16:rowId xmlns:a16="http://schemas.microsoft.com/office/drawing/2014/main" val="3758738483"/>
                      </a:ext>
                    </a:extLst>
                  </a:tr>
                  <a:tr h="1701922">
                    <a:tc>
                      <a:txBody>
                        <a:bodyPr/>
                        <a:lstStyle/>
                        <a:p>
                          <a:pPr>
                            <a:buNone/>
                          </a:pPr>
                          <a:r>
                            <a:rPr lang="en-CA" sz="1500" b="1"/>
                            <a:t>Geometric Mean</a:t>
                          </a:r>
                          <a:endParaRPr lang="en-CA" sz="1500"/>
                        </a:p>
                      </a:txBody>
                      <a:tcPr marL="77360" marR="77360" marT="38680" marB="38680" anchor="ctr"/>
                    </a:tc>
                    <a:tc>
                      <a:txBody>
                        <a:bodyPr/>
                        <a:lstStyle/>
                        <a:p>
                          <a:pPr>
                            <a:buNone/>
                          </a:pPr>
                          <a:endParaRPr lang="en-CA" sz="1500" dirty="0"/>
                        </a:p>
                      </a:txBody>
                      <a:tcPr marL="77360" marR="77360" marT="38680" marB="38680" anchor="ctr"/>
                    </a:tc>
                    <a:tc>
                      <a:txBody>
                        <a:bodyPr/>
                        <a:lstStyle/>
                        <a:p>
                          <a:pPr>
                            <a:buNone/>
                          </a:pPr>
                          <a:r>
                            <a:rPr lang="en-CA" sz="1500" dirty="0"/>
                            <a:t>- Best for ratios, percentages, and growth rates- Handles proportional change well</a:t>
                          </a:r>
                        </a:p>
                      </a:txBody>
                      <a:tcPr marL="77360" marR="77360" marT="38680" marB="38680" anchor="ctr"/>
                    </a:tc>
                    <a:tc>
                      <a:txBody>
                        <a:bodyPr/>
                        <a:lstStyle/>
                        <a:p>
                          <a:pPr>
                            <a:buNone/>
                          </a:pPr>
                          <a:r>
                            <a:rPr lang="en-CA" sz="1500"/>
                            <a:t>- Cannot use with negative values- More complex to compute</a:t>
                          </a:r>
                        </a:p>
                      </a:txBody>
                      <a:tcPr marL="77360" marR="77360" marT="38680" marB="38680" anchor="ctr"/>
                    </a:tc>
                    <a:tc>
                      <a:txBody>
                        <a:bodyPr/>
                        <a:lstStyle/>
                        <a:p>
                          <a:endParaRPr lang="en-US"/>
                        </a:p>
                      </a:txBody>
                      <a:tcPr marL="77360" marR="77360" marT="38680" marB="38680" anchor="ctr">
                        <a:blipFill>
                          <a:blip r:embed="rId3"/>
                          <a:stretch>
                            <a:fillRect l="-400875" t="-137634" r="-583" b="-1075"/>
                          </a:stretch>
                        </a:blipFill>
                      </a:tcPr>
                    </a:tc>
                    <a:extLst>
                      <a:ext uri="{0D108BD9-81ED-4DB2-BD59-A6C34878D82A}">
                        <a16:rowId xmlns:a16="http://schemas.microsoft.com/office/drawing/2014/main" val="2439946875"/>
                      </a:ext>
                    </a:extLst>
                  </a:tr>
                </a:tbl>
              </a:graphicData>
            </a:graphic>
          </p:graphicFrame>
        </mc:Fallback>
      </mc:AlternateContent>
      <p:pic>
        <p:nvPicPr>
          <p:cNvPr id="5" name="Google Shape;134;p21">
            <a:extLst>
              <a:ext uri="{FF2B5EF4-FFF2-40B4-BE49-F238E27FC236}">
                <a16:creationId xmlns:a16="http://schemas.microsoft.com/office/drawing/2014/main" id="{08B2D10A-1587-4001-9AE9-3B00C729DB8D}"/>
              </a:ext>
            </a:extLst>
          </p:cNvPr>
          <p:cNvPicPr preferRelativeResize="0"/>
          <p:nvPr/>
        </p:nvPicPr>
        <p:blipFill>
          <a:blip r:embed="rId4">
            <a:alphaModFix/>
          </a:blip>
          <a:stretch>
            <a:fillRect/>
          </a:stretch>
        </p:blipFill>
        <p:spPr>
          <a:xfrm>
            <a:off x="2517423" y="4526845"/>
            <a:ext cx="1998568" cy="618772"/>
          </a:xfrm>
          <a:prstGeom prst="rect">
            <a:avLst/>
          </a:prstGeom>
          <a:noFill/>
          <a:ln>
            <a:noFill/>
          </a:ln>
        </p:spPr>
      </p:pic>
    </p:spTree>
    <p:extLst>
      <p:ext uri="{BB962C8B-B14F-4D97-AF65-F5344CB8AC3E}">
        <p14:creationId xmlns:p14="http://schemas.microsoft.com/office/powerpoint/2010/main" val="83176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Variance Metric: Standard Deviation</a:t>
            </a:r>
            <a:endParaRPr/>
          </a:p>
        </p:txBody>
      </p:sp>
      <p:sp>
        <p:nvSpPr>
          <p:cNvPr id="146" name="Google Shape;146;p23"/>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endParaRPr lang="en" dirty="0"/>
          </a:p>
          <a:p>
            <a:r>
              <a:rPr lang="en-CA" b="1" dirty="0"/>
              <a:t>Standard deviation (SD)</a:t>
            </a:r>
            <a:r>
              <a:rPr lang="en-CA" dirty="0"/>
              <a:t> measures how spread out the data is around the mean.</a:t>
            </a:r>
          </a:p>
          <a:p>
            <a:r>
              <a:rPr lang="en-CA" b="1" dirty="0"/>
              <a:t>Variance</a:t>
            </a:r>
            <a:r>
              <a:rPr lang="en-CA" dirty="0"/>
              <a:t> is just the square root of the standard deviation.</a:t>
            </a:r>
            <a:endParaRPr lang="en" dirty="0"/>
          </a:p>
          <a:p>
            <a:r>
              <a:rPr lang="en" dirty="0"/>
              <a:t>Do we divide by n or n-1?</a:t>
            </a:r>
            <a:endParaRPr dirty="0"/>
          </a:p>
          <a:p>
            <a:pPr marL="0" indent="0">
              <a:buNone/>
            </a:pPr>
            <a:endParaRPr dirty="0"/>
          </a:p>
          <a:p>
            <a:pPr marL="952485" lvl="1" indent="-342900"/>
            <a:r>
              <a:rPr lang="en" dirty="0"/>
              <a:t>The population SD divides by n, the sample SD by n-1, but for large n, n ~ (n-1) so it doesn’t really matter.</a:t>
            </a:r>
            <a:endParaRPr dirty="0"/>
          </a:p>
          <a:p>
            <a:pPr marL="0" indent="0">
              <a:buNone/>
            </a:pPr>
            <a:endParaRPr dirty="0"/>
          </a:p>
          <a:p>
            <a:pPr marL="0" indent="0">
              <a:buNone/>
            </a:pPr>
            <a:endParaRPr dirty="0"/>
          </a:p>
        </p:txBody>
      </p:sp>
      <p:pic>
        <p:nvPicPr>
          <p:cNvPr id="147" name="Google Shape;147;p23" descr="sigma.jpg"/>
          <p:cNvPicPr preferRelativeResize="0"/>
          <p:nvPr/>
        </p:nvPicPr>
        <p:blipFill>
          <a:blip r:embed="rId3">
            <a:alphaModFix/>
          </a:blip>
          <a:stretch>
            <a:fillRect/>
          </a:stretch>
        </p:blipFill>
        <p:spPr>
          <a:xfrm>
            <a:off x="3962400" y="4561490"/>
            <a:ext cx="2789837" cy="159908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Interpreting Variance (Stock Market)</a:t>
            </a:r>
            <a:endParaRPr/>
          </a:p>
        </p:txBody>
      </p:sp>
      <p:sp>
        <p:nvSpPr>
          <p:cNvPr id="153" name="Google Shape;153;p24"/>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t>It is hard to measure “signal to noise” ratio, cause much of what you see is just variance.</a:t>
            </a:r>
            <a:endParaRPr dirty="0"/>
          </a:p>
          <a:p>
            <a:pPr marL="0" indent="0">
              <a:buNone/>
            </a:pPr>
            <a:r>
              <a:rPr lang="en" dirty="0">
                <a:solidFill>
                  <a:srgbClr val="0000FF"/>
                </a:solidFill>
              </a:rPr>
              <a:t>Consider measuring the relative “skill” of different stock market investors.</a:t>
            </a:r>
            <a:endParaRPr dirty="0">
              <a:solidFill>
                <a:srgbClr val="0000FF"/>
              </a:solidFill>
            </a:endParaRPr>
          </a:p>
          <a:p>
            <a:pPr marL="0" indent="0">
              <a:buNone/>
            </a:pPr>
            <a:r>
              <a:rPr lang="en-CA" dirty="0"/>
              <a:t>Because performance has high variance, it is difficult to determine how much of the observed difference is due to skill versus luck.</a:t>
            </a:r>
            <a:endParaRPr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Interpreting Variance (Batting Avg)</a:t>
            </a:r>
            <a:endParaRPr/>
          </a:p>
        </p:txBody>
      </p:sp>
      <p:sp>
        <p:nvSpPr>
          <p:cNvPr id="159" name="Google Shape;159;p25"/>
          <p:cNvSpPr txBox="1">
            <a:spLocks noGrp="1"/>
          </p:cNvSpPr>
          <p:nvPr>
            <p:ph type="body" idx="1"/>
          </p:nvPr>
        </p:nvSpPr>
        <p:spPr>
          <a:xfrm>
            <a:off x="609600" y="1614400"/>
            <a:ext cx="10972800" cy="4967600"/>
          </a:xfrm>
          <a:prstGeom prst="rect">
            <a:avLst/>
          </a:prstGeom>
        </p:spPr>
        <p:txBody>
          <a:bodyPr spcFirstLastPara="1" vert="horz" wrap="square" lIns="121900" tIns="121900" rIns="121900" bIns="121900" rtlCol="0" anchor="t" anchorCtr="0">
            <a:noAutofit/>
          </a:bodyPr>
          <a:lstStyle/>
          <a:p>
            <a:pPr marL="0" indent="0">
              <a:buNone/>
            </a:pPr>
            <a:r>
              <a:rPr lang="en" dirty="0"/>
              <a:t>In baseball, 0.300 hitters (30% success rate) represent consistency over 500 at-bats/season.</a:t>
            </a:r>
            <a:endParaRPr dirty="0"/>
          </a:p>
        </p:txBody>
      </p:sp>
      <p:pic>
        <p:nvPicPr>
          <p:cNvPr id="160" name="Google Shape;160;p25" descr="bat300.jpg"/>
          <p:cNvPicPr preferRelativeResize="0"/>
          <p:nvPr/>
        </p:nvPicPr>
        <p:blipFill>
          <a:blip r:embed="rId3">
            <a:alphaModFix/>
          </a:blip>
          <a:stretch>
            <a:fillRect/>
          </a:stretch>
        </p:blipFill>
        <p:spPr>
          <a:xfrm>
            <a:off x="6821904" y="2899611"/>
            <a:ext cx="5164137" cy="2829923"/>
          </a:xfrm>
          <a:prstGeom prst="rect">
            <a:avLst/>
          </a:prstGeom>
          <a:noFill/>
          <a:ln>
            <a:noFill/>
          </a:ln>
        </p:spPr>
      </p:pic>
      <p:sp>
        <p:nvSpPr>
          <p:cNvPr id="161" name="Google Shape;161;p25"/>
          <p:cNvSpPr txBox="1"/>
          <p:nvPr/>
        </p:nvSpPr>
        <p:spPr>
          <a:xfrm>
            <a:off x="795133" y="3251500"/>
            <a:ext cx="5687600" cy="3138400"/>
          </a:xfrm>
          <a:prstGeom prst="rect">
            <a:avLst/>
          </a:prstGeom>
          <a:noFill/>
          <a:ln>
            <a:noFill/>
          </a:ln>
        </p:spPr>
        <p:txBody>
          <a:bodyPr spcFirstLastPara="1" wrap="square" lIns="121900" tIns="121900" rIns="121900" bIns="121900" anchor="t" anchorCtr="0">
            <a:noAutofit/>
          </a:bodyPr>
          <a:lstStyle/>
          <a:p>
            <a:r>
              <a:rPr lang="en" sz="2400" dirty="0"/>
              <a:t>But simulations show a real 0.300 hitter has a 11% chance of hitting 0.275 or below.</a:t>
            </a:r>
            <a:endParaRPr sz="2400" dirty="0"/>
          </a:p>
          <a:p>
            <a:endParaRPr sz="2400" dirty="0"/>
          </a:p>
          <a:p>
            <a:r>
              <a:rPr lang="en" sz="2400" dirty="0"/>
              <a:t>They also have a 11% chance of hitting 0.325 or above.</a:t>
            </a:r>
            <a:endParaRPr sz="2400" dirty="0"/>
          </a:p>
          <a:p>
            <a:endParaRPr sz="2400" dirty="0"/>
          </a:p>
          <a:p>
            <a:r>
              <a:rPr lang="en" sz="2400" dirty="0">
                <a:solidFill>
                  <a:srgbClr val="FF0000"/>
                </a:solidFill>
              </a:rPr>
              <a:t>Good or bad season, or lucky/unlucky?</a:t>
            </a:r>
            <a:endParaRPr sz="24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Interpreting Variance (Many Models)</a:t>
            </a:r>
            <a:endParaRPr/>
          </a:p>
        </p:txBody>
      </p:sp>
      <p:sp>
        <p:nvSpPr>
          <p:cNvPr id="167" name="Google Shape;167;p26"/>
          <p:cNvSpPr txBox="1">
            <a:spLocks noGrp="1"/>
          </p:cNvSpPr>
          <p:nvPr>
            <p:ph type="body" idx="1"/>
          </p:nvPr>
        </p:nvSpPr>
        <p:spPr>
          <a:xfrm>
            <a:off x="609600" y="1986793"/>
            <a:ext cx="10972800" cy="5150000"/>
          </a:xfrm>
          <a:prstGeom prst="rect">
            <a:avLst/>
          </a:prstGeom>
        </p:spPr>
        <p:txBody>
          <a:bodyPr spcFirstLastPara="1" vert="horz" wrap="square" lIns="121900" tIns="121900" rIns="121900" bIns="121900" rtlCol="0" anchor="t" anchorCtr="0">
            <a:noAutofit/>
          </a:bodyPr>
          <a:lstStyle/>
          <a:p>
            <a:pPr marL="342900" indent="-342900"/>
            <a:r>
              <a:rPr lang="en" dirty="0"/>
              <a:t>We will typically develop several models for each challenge, from very simple to complex.</a:t>
            </a:r>
            <a:endParaRPr dirty="0"/>
          </a:p>
          <a:p>
            <a:pPr marL="342900" indent="-342900"/>
            <a:r>
              <a:rPr lang="en" dirty="0">
                <a:solidFill>
                  <a:srgbClr val="0000FF"/>
                </a:solidFill>
              </a:rPr>
              <a:t>Some difference in performance will be explained by simple variance: which training/evaluation pairs were selected, how well parameters were optimized, etc.</a:t>
            </a:r>
          </a:p>
          <a:p>
            <a:pPr marL="0" indent="0">
              <a:buNone/>
            </a:pPr>
            <a:endParaRPr lang="en" dirty="0">
              <a:solidFill>
                <a:srgbClr val="0000FF"/>
              </a:solidFill>
            </a:endParaRPr>
          </a:p>
          <a:p>
            <a:r>
              <a:rPr lang="en-CA" dirty="0"/>
              <a:t>A small performance improvement (e.g., 0.5% better accuracy) might just be </a:t>
            </a:r>
            <a:r>
              <a:rPr lang="en-CA" b="1" dirty="0"/>
              <a:t>noise</a:t>
            </a:r>
            <a:r>
              <a:rPr lang="en-CA" dirty="0"/>
              <a:t>.</a:t>
            </a:r>
          </a:p>
          <a:p>
            <a:r>
              <a:rPr lang="en-CA" dirty="0"/>
              <a:t>In such cases, it’s often better to choose the </a:t>
            </a:r>
            <a:r>
              <a:rPr lang="en-CA" b="1" dirty="0"/>
              <a:t>simpler model</a:t>
            </a:r>
            <a:r>
              <a:rPr lang="en-CA" dirty="0"/>
              <a:t> → easier to interpret, faster to run, less risk of overfitting.</a:t>
            </a:r>
          </a:p>
          <a:p>
            <a:pPr marL="0" lvl="0" indent="0">
              <a:spcBef>
                <a:spcPts val="0"/>
              </a:spcBef>
              <a:buNone/>
            </a:pPr>
            <a:endParaRPr lang="en-CA" dirty="0"/>
          </a:p>
          <a:p>
            <a:pPr marL="0" indent="0">
              <a:buNone/>
            </a:pPr>
            <a:endParaRPr lang="en" dirty="0">
              <a:solidFill>
                <a:srgbClr val="0000FF"/>
              </a:solidFill>
            </a:endParaRPr>
          </a:p>
          <a:p>
            <a:pPr marL="0" indent="0">
              <a:buNone/>
            </a:pPr>
            <a:endParaRPr lang="en" dirty="0">
              <a:solidFill>
                <a:srgbClr val="0000FF"/>
              </a:solidFill>
            </a:endParaRPr>
          </a:p>
          <a:p>
            <a:pPr marL="0" indent="0">
              <a:buNone/>
            </a:pPr>
            <a:endParaRPr dirty="0">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Variance Reduction Methods</a:t>
            </a:r>
            <a:endParaRPr/>
          </a:p>
        </p:txBody>
      </p:sp>
      <p:sp>
        <p:nvSpPr>
          <p:cNvPr id="173" name="Google Shape;173;p27"/>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342900" indent="-342900"/>
            <a:r>
              <a:rPr lang="en" dirty="0"/>
              <a:t>Although walking to class is slower than taking the bus, arrival times have lower variance.</a:t>
            </a:r>
            <a:endParaRPr dirty="0"/>
          </a:p>
          <a:p>
            <a:pPr marL="342900" indent="-342900"/>
            <a:r>
              <a:rPr lang="en" dirty="0"/>
              <a:t>Repeating an experiment multiple times reduces variance (k-fold cross validation).</a:t>
            </a:r>
            <a:endParaRPr dirty="0"/>
          </a:p>
          <a:p>
            <a:pPr marL="342900" indent="-342900"/>
            <a:r>
              <a:rPr lang="en" dirty="0"/>
              <a:t>Proper random and deterministic sampling</a:t>
            </a:r>
            <a:endParaRPr dirty="0"/>
          </a:p>
          <a:p>
            <a:pPr marL="342900" indent="-342900"/>
            <a:r>
              <a:rPr lang="en" dirty="0"/>
              <a:t>Eliminating outlier values (if justifiable) reduces variance.</a:t>
            </a:r>
            <a:endParaRPr dirty="0"/>
          </a:p>
        </p:txBody>
      </p:sp>
      <p:pic>
        <p:nvPicPr>
          <p:cNvPr id="174" name="Google Shape;174;p27" descr="Hundreds of students not picked up by South Bend school buses | WSBT"/>
          <p:cNvPicPr preferRelativeResize="0"/>
          <p:nvPr/>
        </p:nvPicPr>
        <p:blipFill>
          <a:blip r:embed="rId3">
            <a:alphaModFix/>
          </a:blip>
          <a:stretch>
            <a:fillRect/>
          </a:stretch>
        </p:blipFill>
        <p:spPr>
          <a:xfrm>
            <a:off x="9480200" y="0"/>
            <a:ext cx="2630701" cy="1475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a:spLocks noGrp="1"/>
          </p:cNvSpPr>
          <p:nvPr>
            <p:ph type="title"/>
          </p:nvPr>
        </p:nvSpPr>
        <p:spPr>
          <a:xfrm>
            <a:off x="609600" y="274633"/>
            <a:ext cx="11274400" cy="1143200"/>
          </a:xfrm>
          <a:prstGeom prst="rect">
            <a:avLst/>
          </a:prstGeom>
        </p:spPr>
        <p:txBody>
          <a:bodyPr spcFirstLastPara="1" vert="horz" wrap="square" lIns="121900" tIns="121900" rIns="121900" bIns="121900" rtlCol="0" anchor="b" anchorCtr="0">
            <a:noAutofit/>
          </a:bodyPr>
          <a:lstStyle/>
          <a:p>
            <a:r>
              <a:rPr lang="en"/>
              <a:t>The Printer Cartridge Life Distribution</a:t>
            </a:r>
            <a:endParaRPr/>
          </a:p>
        </p:txBody>
      </p:sp>
      <p:sp>
        <p:nvSpPr>
          <p:cNvPr id="180" name="Google Shape;180;p28"/>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342900" indent="-342900"/>
            <a:r>
              <a:rPr lang="en" dirty="0"/>
              <a:t>Distributions with the same mean can look very different.</a:t>
            </a:r>
          </a:p>
          <a:p>
            <a:pPr marL="342900" indent="-342900"/>
            <a:r>
              <a:rPr lang="en" dirty="0"/>
              <a:t>But together, the mean and standard deviation fairly well characterize any distribution.</a:t>
            </a:r>
            <a:endParaRPr dirty="0"/>
          </a:p>
          <a:p>
            <a:pPr marL="0" indent="0">
              <a:buNone/>
            </a:pPr>
            <a:endParaRPr dirty="0"/>
          </a:p>
        </p:txBody>
      </p:sp>
      <p:pic>
        <p:nvPicPr>
          <p:cNvPr id="181" name="Google Shape;181;p28" descr="lightbulbs.jpg"/>
          <p:cNvPicPr preferRelativeResize="0"/>
          <p:nvPr/>
        </p:nvPicPr>
        <p:blipFill>
          <a:blip r:embed="rId3">
            <a:alphaModFix/>
          </a:blip>
          <a:stretch>
            <a:fillRect/>
          </a:stretch>
        </p:blipFill>
        <p:spPr>
          <a:xfrm>
            <a:off x="2827663" y="3566767"/>
            <a:ext cx="5624732" cy="16910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CA" b="1" dirty="0"/>
              <a:t>Chebyshev’s inequality: </a:t>
            </a:r>
            <a:r>
              <a:rPr lang="en" b="1" dirty="0"/>
              <a:t>Parameterizing Distributions</a:t>
            </a:r>
            <a:endParaRPr b="1" dirty="0"/>
          </a:p>
        </p:txBody>
      </p:sp>
      <p:sp>
        <p:nvSpPr>
          <p:cNvPr id="187" name="Google Shape;187;p29"/>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dirty="0">
                <a:solidFill>
                  <a:srgbClr val="0000FF"/>
                </a:solidFill>
              </a:rPr>
              <a:t>Regardless of how data is distributed, at least  </a:t>
            </a:r>
            <a:r>
              <a:rPr lang="en" i="1" dirty="0">
                <a:solidFill>
                  <a:srgbClr val="0000FF"/>
                </a:solidFill>
              </a:rPr>
              <a:t>(                     )  th </a:t>
            </a:r>
            <a:r>
              <a:rPr lang="en" dirty="0">
                <a:solidFill>
                  <a:srgbClr val="0000FF"/>
                </a:solidFill>
              </a:rPr>
              <a:t>of the mass must lie within </a:t>
            </a:r>
            <a:r>
              <a:rPr lang="en" i="1" dirty="0">
                <a:solidFill>
                  <a:srgbClr val="0000FF"/>
                </a:solidFill>
              </a:rPr>
              <a:t>k</a:t>
            </a:r>
            <a:r>
              <a:rPr lang="en" dirty="0">
                <a:solidFill>
                  <a:srgbClr val="0000FF"/>
                </a:solidFill>
              </a:rPr>
              <a:t> sigma of the mean. </a:t>
            </a:r>
            <a:endParaRPr dirty="0">
              <a:solidFill>
                <a:srgbClr val="000000"/>
              </a:solidFill>
            </a:endParaRPr>
          </a:p>
          <a:p>
            <a:pPr marL="0" indent="0">
              <a:buNone/>
            </a:pPr>
            <a:r>
              <a:rPr lang="en" dirty="0"/>
              <a:t>Thus at least 75% must lie within two sigma of the mean (at most 25% &gt; two sigma away).</a:t>
            </a:r>
            <a:endParaRPr dirty="0"/>
          </a:p>
          <a:p>
            <a:pPr marL="0" indent="0">
              <a:buNone/>
            </a:pPr>
            <a:r>
              <a:rPr lang="en" dirty="0"/>
              <a:t>Even tighter bounds apply for normal distributions.</a:t>
            </a:r>
            <a:endParaRPr dirty="0"/>
          </a:p>
        </p:txBody>
      </p:sp>
      <p:pic>
        <p:nvPicPr>
          <p:cNvPr id="188" name="Google Shape;188;p29"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5627274" y="1686559"/>
            <a:ext cx="1088486" cy="527701"/>
          </a:xfrm>
          <a:prstGeom prst="rect">
            <a:avLst/>
          </a:prstGeom>
          <a:noFill/>
          <a:ln>
            <a:noFill/>
          </a:ln>
        </p:spPr>
      </p:pic>
      <p:pic>
        <p:nvPicPr>
          <p:cNvPr id="189" name="Google Shape;189;p29" descr="Chebyshev's Inequality - Finance Train"/>
          <p:cNvPicPr preferRelativeResize="0"/>
          <p:nvPr/>
        </p:nvPicPr>
        <p:blipFill>
          <a:blip r:embed="rId4">
            <a:alphaModFix/>
          </a:blip>
          <a:stretch>
            <a:fillRect/>
          </a:stretch>
        </p:blipFill>
        <p:spPr>
          <a:xfrm>
            <a:off x="4297945" y="3512400"/>
            <a:ext cx="3647175" cy="14863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DAEBD-8ACA-1940-9581-140D6070B1E6}"/>
              </a:ext>
            </a:extLst>
          </p:cNvPr>
          <p:cNvSpPr>
            <a:spLocks noGrp="1"/>
          </p:cNvSpPr>
          <p:nvPr>
            <p:ph type="title"/>
          </p:nvPr>
        </p:nvSpPr>
        <p:spPr/>
        <p:txBody>
          <a:bodyPr>
            <a:normAutofit/>
          </a:bodyPr>
          <a:lstStyle/>
          <a:p>
            <a:r>
              <a:rPr lang="en-CA" dirty="0"/>
              <a:t>Resources </a:t>
            </a:r>
          </a:p>
        </p:txBody>
      </p:sp>
      <p:sp>
        <p:nvSpPr>
          <p:cNvPr id="3" name="Text Placeholder 2">
            <a:extLst>
              <a:ext uri="{FF2B5EF4-FFF2-40B4-BE49-F238E27FC236}">
                <a16:creationId xmlns:a16="http://schemas.microsoft.com/office/drawing/2014/main" id="{769DFCAC-1319-6DC5-6C70-195B01321F4A}"/>
              </a:ext>
            </a:extLst>
          </p:cNvPr>
          <p:cNvSpPr>
            <a:spLocks noGrp="1"/>
          </p:cNvSpPr>
          <p:nvPr>
            <p:ph type="body" idx="1"/>
          </p:nvPr>
        </p:nvSpPr>
        <p:spPr/>
        <p:txBody>
          <a:bodyPr/>
          <a:lstStyle/>
          <a:p>
            <a:pPr marL="118531" indent="0">
              <a:buNone/>
            </a:pPr>
            <a:endParaRPr lang="en-CA" dirty="0"/>
          </a:p>
          <a:p>
            <a:pPr marL="118531" indent="0">
              <a:buNone/>
            </a:pPr>
            <a:r>
              <a:rPr lang="en-CA" dirty="0"/>
              <a:t>I would like to thank </a:t>
            </a:r>
            <a:r>
              <a:rPr lang="en-CA" b="1" dirty="0"/>
              <a:t>Dr. Steven S. </a:t>
            </a:r>
            <a:r>
              <a:rPr lang="en-CA" b="1" dirty="0" err="1"/>
              <a:t>Skiena</a:t>
            </a:r>
            <a:r>
              <a:rPr lang="en-CA" dirty="0"/>
              <a:t>, </a:t>
            </a:r>
            <a:r>
              <a:rPr lang="en-CA" b="1" dirty="0"/>
              <a:t>Dr. Christian Kästner</a:t>
            </a:r>
            <a:r>
              <a:rPr lang="en-CA" dirty="0"/>
              <a:t>, and </a:t>
            </a:r>
            <a:r>
              <a:rPr lang="en-CA" b="1" dirty="0"/>
              <a:t>Chip Huyen</a:t>
            </a:r>
            <a:r>
              <a:rPr lang="en-CA" dirty="0"/>
              <a:t> for the valuable resources they have provided through their coursework in machine learning and data science. Their materials have been instrumental in shaping my teaching in these areas.</a:t>
            </a:r>
          </a:p>
          <a:p>
            <a:pPr lvl="0"/>
            <a:r>
              <a:rPr lang="en-CA" dirty="0"/>
              <a:t>The Data Science Design Manual, Steven S. </a:t>
            </a:r>
            <a:r>
              <a:rPr lang="en-CA" dirty="0" err="1"/>
              <a:t>Skiena</a:t>
            </a:r>
            <a:endParaRPr lang="en-CA" dirty="0"/>
          </a:p>
          <a:p>
            <a:pPr lvl="0"/>
            <a:r>
              <a:rPr lang="en-CA" dirty="0"/>
              <a:t>Learning From Data, by Yaser S. Abu-Mostafa, Malik </a:t>
            </a:r>
            <a:r>
              <a:rPr lang="en-CA" dirty="0" err="1"/>
              <a:t>Magdon</a:t>
            </a:r>
            <a:r>
              <a:rPr lang="en-CA" dirty="0"/>
              <a:t>-Ismail, Hsuan-Tien Lin</a:t>
            </a:r>
          </a:p>
          <a:p>
            <a:pPr lvl="0"/>
            <a:r>
              <a:rPr lang="en-CA" dirty="0"/>
              <a:t>Machine Learning in Production: From Models to Products by Christian Kästner</a:t>
            </a:r>
          </a:p>
          <a:p>
            <a:pPr lvl="0"/>
            <a:r>
              <a:rPr lang="en-CA" dirty="0"/>
              <a:t>Designing Machine Learning Systems, Chip Huyen</a:t>
            </a:r>
          </a:p>
          <a:p>
            <a:pPr marL="118531" indent="0">
              <a:buNone/>
            </a:pPr>
            <a:endParaRPr lang="en-CA" dirty="0"/>
          </a:p>
        </p:txBody>
      </p:sp>
    </p:spTree>
    <p:extLst>
      <p:ext uri="{BB962C8B-B14F-4D97-AF65-F5344CB8AC3E}">
        <p14:creationId xmlns:p14="http://schemas.microsoft.com/office/powerpoint/2010/main" val="206160159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4078</TotalTime>
  <Words>3961</Words>
  <Application>Microsoft Office PowerPoint</Application>
  <PresentationFormat>Widescreen</PresentationFormat>
  <Paragraphs>331</Paragraphs>
  <Slides>23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Calibri Light</vt:lpstr>
      <vt:lpstr>Cambria Math</vt:lpstr>
      <vt:lpstr>Retrospect</vt:lpstr>
      <vt:lpstr>Mathematical Preliminaries</vt:lpstr>
      <vt:lpstr>Probability</vt:lpstr>
      <vt:lpstr>Probability vs. Statistics</vt:lpstr>
      <vt:lpstr>Compound Events and Independence</vt:lpstr>
      <vt:lpstr>Conditional Probability</vt:lpstr>
      <vt:lpstr>Bayes Theorem</vt:lpstr>
      <vt:lpstr>Proof of Bayes Theorem</vt:lpstr>
      <vt:lpstr>Distributions of Random Variables</vt:lpstr>
      <vt:lpstr>Probability/Cumulative Distributions</vt:lpstr>
      <vt:lpstr>Visualizing Cumulative Distributions</vt:lpstr>
      <vt:lpstr>How explosive is that growth, really?</vt:lpstr>
      <vt:lpstr>Descriptive Statistics</vt:lpstr>
      <vt:lpstr>Centrality Measure: Mean</vt:lpstr>
      <vt:lpstr>Other Centrality Measures</vt:lpstr>
      <vt:lpstr>Which Measure is Best?</vt:lpstr>
      <vt:lpstr>Variance Metric: Standard Deviation</vt:lpstr>
      <vt:lpstr>Interpreting Variance (Stock Market)</vt:lpstr>
      <vt:lpstr>Interpreting Variance (Batting Avg)</vt:lpstr>
      <vt:lpstr>Interpreting Variance (Many Models)</vt:lpstr>
      <vt:lpstr>Variance Reduction Methods</vt:lpstr>
      <vt:lpstr>The Printer Cartridge Life Distribution</vt:lpstr>
      <vt:lpstr>Chebyshev’s inequality: Parameterizing Distributions</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Riahi</dc:creator>
  <cp:lastModifiedBy>Fatemeh Riahi</cp:lastModifiedBy>
  <cp:revision>1</cp:revision>
  <dcterms:created xsi:type="dcterms:W3CDTF">2025-07-23T22:38:47Z</dcterms:created>
  <dcterms:modified xsi:type="dcterms:W3CDTF">2026-09-16T18:39:42Z</dcterms:modified>
</cp:coreProperties>
</file>