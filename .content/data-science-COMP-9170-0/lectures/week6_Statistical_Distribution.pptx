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5" r:id="rId1"/>
  </p:sldMasterIdLst>
  <p:notesMasterIdLst>
    <p:notesMasterId r:id="rId28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7" r:id="rId11"/>
    <p:sldId id="308" r:id="rId12"/>
    <p:sldId id="309" r:id="rId13"/>
    <p:sldId id="310" r:id="rId14"/>
    <p:sldId id="311" r:id="rId15"/>
    <p:sldId id="331" r:id="rId16"/>
    <p:sldId id="312" r:id="rId17"/>
    <p:sldId id="332" r:id="rId18"/>
    <p:sldId id="313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7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CADFBD-49F7-4CF6-A0FA-3C5935C94044}" v="2" dt="2026-10-08T23:57:52.607"/>
  </p1510:revLst>
</p1510:revInfo>
</file>

<file path=ppt/tableStyles.xml><?xml version="1.0" encoding="utf-8"?>
<a:tblStyleLst xmlns:a="http://schemas.openxmlformats.org/drawingml/2006/main" def="{3375C79F-15B2-4227-ABAE-34BE07E8A4C8}">
  <a:tblStyle styleId="{3375C79F-15B2-4227-ABAE-34BE07E8A4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720" autoAdjust="0"/>
  </p:normalViewPr>
  <p:slideViewPr>
    <p:cSldViewPr snapToGrid="0">
      <p:cViewPr varScale="1">
        <p:scale>
          <a:sx n="63" d="100"/>
          <a:sy n="63" d="100"/>
        </p:scale>
        <p:origin x="13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emeh Riahi" userId="74741997-fb4f-4f28-9311-b07723505439" providerId="ADAL" clId="{FFDDAFA8-B5D5-4209-8C2A-81F22C0401E0}"/>
    <pc:docChg chg="undo custSel addSld delSld modSld">
      <pc:chgData name="Fatemeh Riahi" userId="74741997-fb4f-4f28-9311-b07723505439" providerId="ADAL" clId="{FFDDAFA8-B5D5-4209-8C2A-81F22C0401E0}" dt="2026-10-09T00:16:05.453" v="112" actId="47"/>
      <pc:docMkLst>
        <pc:docMk/>
      </pc:docMkLst>
      <pc:sldChg chg="modSp add del mod">
        <pc:chgData name="Fatemeh Riahi" userId="74741997-fb4f-4f28-9311-b07723505439" providerId="ADAL" clId="{FFDDAFA8-B5D5-4209-8C2A-81F22C0401E0}" dt="2026-10-09T00:16:03.417" v="111" actId="20577"/>
        <pc:sldMkLst>
          <pc:docMk/>
          <pc:sldMk cId="0" sldId="256"/>
        </pc:sldMkLst>
        <pc:spChg chg="mod">
          <ac:chgData name="Fatemeh Riahi" userId="74741997-fb4f-4f28-9311-b07723505439" providerId="ADAL" clId="{FFDDAFA8-B5D5-4209-8C2A-81F22C0401E0}" dt="2026-10-09T00:16:03.417" v="111" actId="20577"/>
          <ac:spMkLst>
            <pc:docMk/>
            <pc:sldMk cId="0" sldId="256"/>
            <ac:spMk id="35" creationId="{00000000-0000-0000-0000-000000000000}"/>
          </ac:spMkLst>
        </pc:spChg>
      </pc:sldChg>
      <pc:sldChg chg="del">
        <pc:chgData name="Fatemeh Riahi" userId="74741997-fb4f-4f28-9311-b07723505439" providerId="ADAL" clId="{FFDDAFA8-B5D5-4209-8C2A-81F22C0401E0}" dt="2026-10-09T00:15:36.630" v="80" actId="47"/>
        <pc:sldMkLst>
          <pc:docMk/>
          <pc:sldMk cId="0" sldId="257"/>
        </pc:sldMkLst>
      </pc:sldChg>
      <pc:sldChg chg="del">
        <pc:chgData name="Fatemeh Riahi" userId="74741997-fb4f-4f28-9311-b07723505439" providerId="ADAL" clId="{FFDDAFA8-B5D5-4209-8C2A-81F22C0401E0}" dt="2026-10-09T00:15:37.137" v="81" actId="47"/>
        <pc:sldMkLst>
          <pc:docMk/>
          <pc:sldMk cId="0" sldId="258"/>
        </pc:sldMkLst>
      </pc:sldChg>
      <pc:sldChg chg="del">
        <pc:chgData name="Fatemeh Riahi" userId="74741997-fb4f-4f28-9311-b07723505439" providerId="ADAL" clId="{FFDDAFA8-B5D5-4209-8C2A-81F22C0401E0}" dt="2026-10-09T00:15:37.582" v="82" actId="47"/>
        <pc:sldMkLst>
          <pc:docMk/>
          <pc:sldMk cId="0" sldId="259"/>
        </pc:sldMkLst>
      </pc:sldChg>
      <pc:sldChg chg="del">
        <pc:chgData name="Fatemeh Riahi" userId="74741997-fb4f-4f28-9311-b07723505439" providerId="ADAL" clId="{FFDDAFA8-B5D5-4209-8C2A-81F22C0401E0}" dt="2026-10-09T00:15:37.958" v="83" actId="47"/>
        <pc:sldMkLst>
          <pc:docMk/>
          <pc:sldMk cId="0" sldId="260"/>
        </pc:sldMkLst>
      </pc:sldChg>
      <pc:sldChg chg="del">
        <pc:chgData name="Fatemeh Riahi" userId="74741997-fb4f-4f28-9311-b07723505439" providerId="ADAL" clId="{FFDDAFA8-B5D5-4209-8C2A-81F22C0401E0}" dt="2026-10-09T00:15:38.290" v="84" actId="47"/>
        <pc:sldMkLst>
          <pc:docMk/>
          <pc:sldMk cId="0" sldId="261"/>
        </pc:sldMkLst>
      </pc:sldChg>
      <pc:sldChg chg="del">
        <pc:chgData name="Fatemeh Riahi" userId="74741997-fb4f-4f28-9311-b07723505439" providerId="ADAL" clId="{FFDDAFA8-B5D5-4209-8C2A-81F22C0401E0}" dt="2026-10-09T00:15:38.568" v="85" actId="47"/>
        <pc:sldMkLst>
          <pc:docMk/>
          <pc:sldMk cId="0" sldId="263"/>
        </pc:sldMkLst>
      </pc:sldChg>
      <pc:sldChg chg="del">
        <pc:chgData name="Fatemeh Riahi" userId="74741997-fb4f-4f28-9311-b07723505439" providerId="ADAL" clId="{FFDDAFA8-B5D5-4209-8C2A-81F22C0401E0}" dt="2026-10-09T00:15:38.780" v="86" actId="47"/>
        <pc:sldMkLst>
          <pc:docMk/>
          <pc:sldMk cId="0" sldId="265"/>
        </pc:sldMkLst>
      </pc:sldChg>
      <pc:sldChg chg="del">
        <pc:chgData name="Fatemeh Riahi" userId="74741997-fb4f-4f28-9311-b07723505439" providerId="ADAL" clId="{FFDDAFA8-B5D5-4209-8C2A-81F22C0401E0}" dt="2026-10-09T00:15:38.995" v="87" actId="47"/>
        <pc:sldMkLst>
          <pc:docMk/>
          <pc:sldMk cId="0" sldId="266"/>
        </pc:sldMkLst>
      </pc:sldChg>
      <pc:sldChg chg="del">
        <pc:chgData name="Fatemeh Riahi" userId="74741997-fb4f-4f28-9311-b07723505439" providerId="ADAL" clId="{FFDDAFA8-B5D5-4209-8C2A-81F22C0401E0}" dt="2026-10-09T00:15:39.217" v="88" actId="47"/>
        <pc:sldMkLst>
          <pc:docMk/>
          <pc:sldMk cId="0" sldId="267"/>
        </pc:sldMkLst>
      </pc:sldChg>
      <pc:sldChg chg="del">
        <pc:chgData name="Fatemeh Riahi" userId="74741997-fb4f-4f28-9311-b07723505439" providerId="ADAL" clId="{FFDDAFA8-B5D5-4209-8C2A-81F22C0401E0}" dt="2026-10-09T00:15:39.508" v="89" actId="47"/>
        <pc:sldMkLst>
          <pc:docMk/>
          <pc:sldMk cId="0" sldId="268"/>
        </pc:sldMkLst>
      </pc:sldChg>
      <pc:sldChg chg="del">
        <pc:chgData name="Fatemeh Riahi" userId="74741997-fb4f-4f28-9311-b07723505439" providerId="ADAL" clId="{FFDDAFA8-B5D5-4209-8C2A-81F22C0401E0}" dt="2026-10-09T00:15:39.952" v="91" actId="47"/>
        <pc:sldMkLst>
          <pc:docMk/>
          <pc:sldMk cId="0" sldId="271"/>
        </pc:sldMkLst>
      </pc:sldChg>
      <pc:sldChg chg="del">
        <pc:chgData name="Fatemeh Riahi" userId="74741997-fb4f-4f28-9311-b07723505439" providerId="ADAL" clId="{FFDDAFA8-B5D5-4209-8C2A-81F22C0401E0}" dt="2026-10-09T00:15:40.160" v="92" actId="47"/>
        <pc:sldMkLst>
          <pc:docMk/>
          <pc:sldMk cId="0" sldId="272"/>
        </pc:sldMkLst>
      </pc:sldChg>
      <pc:sldChg chg="del">
        <pc:chgData name="Fatemeh Riahi" userId="74741997-fb4f-4f28-9311-b07723505439" providerId="ADAL" clId="{FFDDAFA8-B5D5-4209-8C2A-81F22C0401E0}" dt="2026-10-09T00:15:40.392" v="93" actId="47"/>
        <pc:sldMkLst>
          <pc:docMk/>
          <pc:sldMk cId="0" sldId="276"/>
        </pc:sldMkLst>
      </pc:sldChg>
      <pc:sldChg chg="del">
        <pc:chgData name="Fatemeh Riahi" userId="74741997-fb4f-4f28-9311-b07723505439" providerId="ADAL" clId="{FFDDAFA8-B5D5-4209-8C2A-81F22C0401E0}" dt="2026-10-09T00:15:40.662" v="94" actId="47"/>
        <pc:sldMkLst>
          <pc:docMk/>
          <pc:sldMk cId="0" sldId="277"/>
        </pc:sldMkLst>
      </pc:sldChg>
      <pc:sldChg chg="del">
        <pc:chgData name="Fatemeh Riahi" userId="74741997-fb4f-4f28-9311-b07723505439" providerId="ADAL" clId="{FFDDAFA8-B5D5-4209-8C2A-81F22C0401E0}" dt="2026-10-09T00:15:41.062" v="95" actId="47"/>
        <pc:sldMkLst>
          <pc:docMk/>
          <pc:sldMk cId="0" sldId="278"/>
        </pc:sldMkLst>
      </pc:sldChg>
      <pc:sldChg chg="del">
        <pc:chgData name="Fatemeh Riahi" userId="74741997-fb4f-4f28-9311-b07723505439" providerId="ADAL" clId="{FFDDAFA8-B5D5-4209-8C2A-81F22C0401E0}" dt="2026-10-09T00:15:41.423" v="96" actId="47"/>
        <pc:sldMkLst>
          <pc:docMk/>
          <pc:sldMk cId="0" sldId="279"/>
        </pc:sldMkLst>
      </pc:sldChg>
      <pc:sldChg chg="del">
        <pc:chgData name="Fatemeh Riahi" userId="74741997-fb4f-4f28-9311-b07723505439" providerId="ADAL" clId="{FFDDAFA8-B5D5-4209-8C2A-81F22C0401E0}" dt="2026-10-09T00:15:42.285" v="98" actId="47"/>
        <pc:sldMkLst>
          <pc:docMk/>
          <pc:sldMk cId="0" sldId="281"/>
        </pc:sldMkLst>
      </pc:sldChg>
      <pc:sldChg chg="del">
        <pc:chgData name="Fatemeh Riahi" userId="74741997-fb4f-4f28-9311-b07723505439" providerId="ADAL" clId="{FFDDAFA8-B5D5-4209-8C2A-81F22C0401E0}" dt="2026-10-09T00:15:42.709" v="99" actId="47"/>
        <pc:sldMkLst>
          <pc:docMk/>
          <pc:sldMk cId="0" sldId="282"/>
        </pc:sldMkLst>
      </pc:sldChg>
      <pc:sldChg chg="del">
        <pc:chgData name="Fatemeh Riahi" userId="74741997-fb4f-4f28-9311-b07723505439" providerId="ADAL" clId="{FFDDAFA8-B5D5-4209-8C2A-81F22C0401E0}" dt="2026-10-09T00:15:43.185" v="100" actId="47"/>
        <pc:sldMkLst>
          <pc:docMk/>
          <pc:sldMk cId="0" sldId="283"/>
        </pc:sldMkLst>
      </pc:sldChg>
      <pc:sldChg chg="del">
        <pc:chgData name="Fatemeh Riahi" userId="74741997-fb4f-4f28-9311-b07723505439" providerId="ADAL" clId="{FFDDAFA8-B5D5-4209-8C2A-81F22C0401E0}" dt="2026-10-09T00:15:43.846" v="101" actId="47"/>
        <pc:sldMkLst>
          <pc:docMk/>
          <pc:sldMk cId="0" sldId="284"/>
        </pc:sldMkLst>
      </pc:sldChg>
      <pc:sldChg chg="del">
        <pc:chgData name="Fatemeh Riahi" userId="74741997-fb4f-4f28-9311-b07723505439" providerId="ADAL" clId="{FFDDAFA8-B5D5-4209-8C2A-81F22C0401E0}" dt="2026-10-09T00:15:47.055" v="102" actId="47"/>
        <pc:sldMkLst>
          <pc:docMk/>
          <pc:sldMk cId="0" sldId="285"/>
        </pc:sldMkLst>
      </pc:sldChg>
      <pc:sldChg chg="del">
        <pc:chgData name="Fatemeh Riahi" userId="74741997-fb4f-4f28-9311-b07723505439" providerId="ADAL" clId="{FFDDAFA8-B5D5-4209-8C2A-81F22C0401E0}" dt="2026-10-09T00:15:49.478" v="103" actId="47"/>
        <pc:sldMkLst>
          <pc:docMk/>
          <pc:sldMk cId="0" sldId="286"/>
        </pc:sldMkLst>
      </pc:sldChg>
      <pc:sldChg chg="del">
        <pc:chgData name="Fatemeh Riahi" userId="74741997-fb4f-4f28-9311-b07723505439" providerId="ADAL" clId="{FFDDAFA8-B5D5-4209-8C2A-81F22C0401E0}" dt="2026-10-09T00:15:52.304" v="106" actId="47"/>
        <pc:sldMkLst>
          <pc:docMk/>
          <pc:sldMk cId="0" sldId="287"/>
        </pc:sldMkLst>
      </pc:sldChg>
      <pc:sldChg chg="del">
        <pc:chgData name="Fatemeh Riahi" userId="74741997-fb4f-4f28-9311-b07723505439" providerId="ADAL" clId="{FFDDAFA8-B5D5-4209-8C2A-81F22C0401E0}" dt="2026-10-09T00:15:52.900" v="107" actId="47"/>
        <pc:sldMkLst>
          <pc:docMk/>
          <pc:sldMk cId="0" sldId="288"/>
        </pc:sldMkLst>
      </pc:sldChg>
      <pc:sldChg chg="del">
        <pc:chgData name="Fatemeh Riahi" userId="74741997-fb4f-4f28-9311-b07723505439" providerId="ADAL" clId="{FFDDAFA8-B5D5-4209-8C2A-81F22C0401E0}" dt="2026-10-09T00:15:53.724" v="108" actId="47"/>
        <pc:sldMkLst>
          <pc:docMk/>
          <pc:sldMk cId="0" sldId="289"/>
        </pc:sldMkLst>
      </pc:sldChg>
      <pc:sldChg chg="del">
        <pc:chgData name="Fatemeh Riahi" userId="74741997-fb4f-4f28-9311-b07723505439" providerId="ADAL" clId="{FFDDAFA8-B5D5-4209-8C2A-81F22C0401E0}" dt="2026-10-09T00:16:05.453" v="112" actId="47"/>
        <pc:sldMkLst>
          <pc:docMk/>
          <pc:sldMk cId="0" sldId="294"/>
        </pc:sldMkLst>
      </pc:sldChg>
      <pc:sldChg chg="delSp modSp mod">
        <pc:chgData name="Fatemeh Riahi" userId="74741997-fb4f-4f28-9311-b07723505439" providerId="ADAL" clId="{FFDDAFA8-B5D5-4209-8C2A-81F22C0401E0}" dt="2026-10-08T23:57:52.607" v="75" actId="120"/>
        <pc:sldMkLst>
          <pc:docMk/>
          <pc:sldMk cId="0" sldId="302"/>
        </pc:sldMkLst>
        <pc:graphicFrameChg chg="mod">
          <ac:chgData name="Fatemeh Riahi" userId="74741997-fb4f-4f28-9311-b07723505439" providerId="ADAL" clId="{FFDDAFA8-B5D5-4209-8C2A-81F22C0401E0}" dt="2026-10-08T23:57:52.607" v="75" actId="120"/>
          <ac:graphicFrameMkLst>
            <pc:docMk/>
            <pc:sldMk cId="0" sldId="302"/>
            <ac:graphicFrameMk id="2" creationId="{36DAB37C-F9C5-C565-D033-D6E2B2BA9A81}"/>
          </ac:graphicFrameMkLst>
        </pc:graphicFrameChg>
        <pc:inkChg chg="del">
          <ac:chgData name="Fatemeh Riahi" userId="74741997-fb4f-4f28-9311-b07723505439" providerId="ADAL" clId="{FFDDAFA8-B5D5-4209-8C2A-81F22C0401E0}" dt="2026-10-08T23:56:39.045" v="73" actId="478"/>
          <ac:inkMkLst>
            <pc:docMk/>
            <pc:sldMk cId="0" sldId="302"/>
            <ac:inkMk id="3" creationId="{A5D1A894-2A0D-8492-F480-DF133B6D6D40}"/>
          </ac:inkMkLst>
        </pc:inkChg>
      </pc:sldChg>
      <pc:sldChg chg="modNotesTx">
        <pc:chgData name="Fatemeh Riahi" userId="74741997-fb4f-4f28-9311-b07723505439" providerId="ADAL" clId="{FFDDAFA8-B5D5-4209-8C2A-81F22C0401E0}" dt="2026-10-09T00:00:54.985" v="78" actId="20577"/>
        <pc:sldMkLst>
          <pc:docMk/>
          <pc:sldMk cId="0" sldId="303"/>
        </pc:sldMkLst>
      </pc:sldChg>
      <pc:sldChg chg="modSp mod">
        <pc:chgData name="Fatemeh Riahi" userId="74741997-fb4f-4f28-9311-b07723505439" providerId="ADAL" clId="{FFDDAFA8-B5D5-4209-8C2A-81F22C0401E0}" dt="2026-10-09T00:05:45.934" v="79" actId="1036"/>
        <pc:sldMkLst>
          <pc:docMk/>
          <pc:sldMk cId="0" sldId="309"/>
        </pc:sldMkLst>
        <pc:picChg chg="mod">
          <ac:chgData name="Fatemeh Riahi" userId="74741997-fb4f-4f28-9311-b07723505439" providerId="ADAL" clId="{FFDDAFA8-B5D5-4209-8C2A-81F22C0401E0}" dt="2026-10-09T00:05:45.934" v="79" actId="1036"/>
          <ac:picMkLst>
            <pc:docMk/>
            <pc:sldMk cId="0" sldId="309"/>
            <ac:picMk id="146" creationId="{00000000-0000-0000-0000-000000000000}"/>
          </ac:picMkLst>
        </pc:picChg>
      </pc:sldChg>
      <pc:sldChg chg="del">
        <pc:chgData name="Fatemeh Riahi" userId="74741997-fb4f-4f28-9311-b07723505439" providerId="ADAL" clId="{FFDDAFA8-B5D5-4209-8C2A-81F22C0401E0}" dt="2026-10-09T00:15:41.882" v="97" actId="47"/>
        <pc:sldMkLst>
          <pc:docMk/>
          <pc:sldMk cId="573316435" sldId="328"/>
        </pc:sldMkLst>
      </pc:sldChg>
      <pc:sldChg chg="del">
        <pc:chgData name="Fatemeh Riahi" userId="74741997-fb4f-4f28-9311-b07723505439" providerId="ADAL" clId="{FFDDAFA8-B5D5-4209-8C2A-81F22C0401E0}" dt="2026-10-09T00:15:50.040" v="104" actId="47"/>
        <pc:sldMkLst>
          <pc:docMk/>
          <pc:sldMk cId="3043053139" sldId="329"/>
        </pc:sldMkLst>
      </pc:sldChg>
      <pc:sldChg chg="del">
        <pc:chgData name="Fatemeh Riahi" userId="74741997-fb4f-4f28-9311-b07723505439" providerId="ADAL" clId="{FFDDAFA8-B5D5-4209-8C2A-81F22C0401E0}" dt="2026-10-09T00:15:51.879" v="105" actId="47"/>
        <pc:sldMkLst>
          <pc:docMk/>
          <pc:sldMk cId="933039256" sldId="330"/>
        </pc:sldMkLst>
      </pc:sldChg>
      <pc:sldChg chg="new del modNotesTx">
        <pc:chgData name="Fatemeh Riahi" userId="74741997-fb4f-4f28-9311-b07723505439" providerId="ADAL" clId="{FFDDAFA8-B5D5-4209-8C2A-81F22C0401E0}" dt="2026-10-09T00:15:39.732" v="90" actId="47"/>
        <pc:sldMkLst>
          <pc:docMk/>
          <pc:sldMk cId="1563569496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Page r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78cab69e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78cab69e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78cab69e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78cab69e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from the lecture slides at www.gs.washington.edu/academics/courses/akey/56008/lecture/lecture2.pdf</a:t>
            </a:r>
          </a:p>
          <a:p>
            <a:r>
              <a:rPr lang="en-CA" b="0" dirty="0"/>
              <a:t>🧠 The big idea</a:t>
            </a:r>
          </a:p>
          <a:p>
            <a:r>
              <a:rPr lang="en-CA" b="0" dirty="0"/>
              <a:t>This diagram summarizes the entire logic of statistics in one loop.</a:t>
            </a:r>
            <a:br>
              <a:rPr lang="en-CA" b="0" dirty="0"/>
            </a:br>
            <a:r>
              <a:rPr lang="en-CA" b="0" dirty="0"/>
              <a:t>It shows how we move between populations and samples, using two key processes:</a:t>
            </a:r>
          </a:p>
          <a:p>
            <a:r>
              <a:rPr lang="en-CA" b="0" dirty="0"/>
              <a:t>Probability (top arrow)</a:t>
            </a:r>
          </a:p>
          <a:p>
            <a:r>
              <a:rPr lang="en-CA" b="0" dirty="0"/>
              <a:t>Inference (bottom arrow)</a:t>
            </a:r>
          </a:p>
          <a:p>
            <a:r>
              <a:rPr lang="en-CA" b="0" dirty="0"/>
              <a:t>This is called the </a:t>
            </a:r>
            <a:r>
              <a:rPr lang="en-CA" b="0" i="1" dirty="0"/>
              <a:t>Central Dogma of Statistics</a:t>
            </a:r>
            <a:r>
              <a:rPr lang="en-CA" b="0" dirty="0"/>
              <a:t> because almost everything in statistics — from simple averages to deep learning — builds on this flow.</a:t>
            </a:r>
          </a:p>
          <a:p>
            <a:r>
              <a:rPr lang="en-CA" b="0" dirty="0"/>
              <a:t>🔁 Step-by-step explanation</a:t>
            </a:r>
          </a:p>
          <a:p>
            <a:r>
              <a:rPr lang="en-CA" b="0" dirty="0"/>
              <a:t>1️⃣ Population → Sample (via Probability)</a:t>
            </a:r>
          </a:p>
          <a:p>
            <a:r>
              <a:rPr lang="en-CA" b="0" dirty="0"/>
              <a:t>The population is the entire set of things we care about (e.g., all voters, all trees in BC, all patients in a study).</a:t>
            </a:r>
          </a:p>
          <a:p>
            <a:r>
              <a:rPr lang="en-CA" b="0" dirty="0"/>
              <a:t>But we can’t observe or measure everyone — it’s too large.</a:t>
            </a:r>
          </a:p>
          <a:p>
            <a:r>
              <a:rPr lang="en-CA" b="0" dirty="0"/>
              <a:t>So we use probability to model how a sample is drawn from that population.</a:t>
            </a:r>
          </a:p>
          <a:p>
            <a:r>
              <a:rPr lang="en-CA" b="0" dirty="0"/>
              <a:t>Example: randomly selecting 1,000 voters from all voters in Canada.</a:t>
            </a:r>
          </a:p>
          <a:p>
            <a:r>
              <a:rPr lang="en-CA" b="0" dirty="0"/>
              <a:t>🎯 Goal: ensure the sample is representative, so we can trust it.</a:t>
            </a:r>
          </a:p>
          <a:p>
            <a:r>
              <a:rPr lang="en-CA" b="0" dirty="0"/>
              <a:t>2️⃣ Sample → Descriptive Statistics</a:t>
            </a:r>
          </a:p>
          <a:p>
            <a:r>
              <a:rPr lang="en-CA" b="0" dirty="0"/>
              <a:t>Once we have the sample, we calculate descriptive statistics — things like:</a:t>
            </a:r>
          </a:p>
          <a:p>
            <a:pPr lvl="1"/>
            <a:r>
              <a:rPr lang="en-CA" b="0" dirty="0"/>
              <a:t>Mean, median, standard deviation</a:t>
            </a:r>
          </a:p>
          <a:p>
            <a:pPr lvl="1"/>
            <a:r>
              <a:rPr lang="en-CA" b="0" dirty="0"/>
              <a:t>Graphs, histograms, boxplots</a:t>
            </a:r>
          </a:p>
          <a:p>
            <a:r>
              <a:rPr lang="en-CA" b="0" dirty="0"/>
              <a:t>These describe what we actually observed in the sample.</a:t>
            </a:r>
          </a:p>
          <a:p>
            <a:r>
              <a:rPr lang="en-CA" b="0" dirty="0"/>
              <a:t>Example: “The average income in our sample is $60,000.”</a:t>
            </a:r>
          </a:p>
          <a:p>
            <a:r>
              <a:rPr lang="en-CA" b="0" dirty="0"/>
              <a:t>🎯 Goal: summarize the data we have.</a:t>
            </a:r>
          </a:p>
          <a:p>
            <a:r>
              <a:rPr lang="en-CA" b="0" dirty="0"/>
              <a:t>3️⃣ Sample → Population (via Inference)</a:t>
            </a:r>
          </a:p>
          <a:p>
            <a:r>
              <a:rPr lang="en-CA" b="0" dirty="0"/>
              <a:t>Using inferential statistics, we go </a:t>
            </a:r>
            <a:r>
              <a:rPr lang="en-CA" b="0" i="1" dirty="0"/>
              <a:t>backward</a:t>
            </a:r>
            <a:r>
              <a:rPr lang="en-CA" b="0" dirty="0"/>
              <a:t> from the sample to the population.</a:t>
            </a:r>
          </a:p>
          <a:p>
            <a:r>
              <a:rPr lang="en-CA" b="0" dirty="0"/>
              <a:t>We estimate unknown population characteristics (parameters) and quantify uncertainty.</a:t>
            </a:r>
          </a:p>
          <a:p>
            <a:r>
              <a:rPr lang="en-CA" b="0" dirty="0"/>
              <a:t>Example: “We estimate that the average income in the population is $60,000 ± $3,000.”</a:t>
            </a:r>
          </a:p>
          <a:p>
            <a:r>
              <a:rPr lang="en-CA" b="0" dirty="0"/>
              <a:t>🎯 Goal: make conclusions about the population from limited data.</a:t>
            </a:r>
          </a:p>
          <a:p>
            <a:r>
              <a:rPr lang="en-CA" b="0" dirty="0"/>
              <a:t>4️⃣ Population → Sample (closing the loop)</a:t>
            </a:r>
          </a:p>
          <a:p>
            <a:r>
              <a:rPr lang="en-CA" b="0" dirty="0"/>
              <a:t>In theory, the population model (via probability) generates samples.</a:t>
            </a:r>
          </a:p>
          <a:p>
            <a:r>
              <a:rPr lang="en-CA" b="0" dirty="0"/>
              <a:t>In practice, we reverse engineer this:</a:t>
            </a:r>
          </a:p>
          <a:p>
            <a:pPr lvl="1"/>
            <a:r>
              <a:rPr lang="en-CA" b="0" dirty="0"/>
              <a:t>We observe a sample and try to guess what kind of population model produced it.</a:t>
            </a:r>
          </a:p>
          <a:p>
            <a:r>
              <a:rPr lang="en-CA" b="0" dirty="0"/>
              <a:t>That’s why the loop connects probability (forward thinking) and inference (backward reasoning).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78cab69e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78cab69e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78cab69e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78cab69e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78cab69e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78cab69e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The binomial distribution describes the number of successes in a fixed number of independent trials, each with the same probability of success.</a:t>
            </a:r>
          </a:p>
          <a:p>
            <a:r>
              <a:rPr lang="en-CA" b="0" dirty="0"/>
              <a:t>It’s used when you repeat an experiment multiple times — like flipping a coin, rolling a die, or a baseball player taking swings — and count </a:t>
            </a:r>
            <a:r>
              <a:rPr lang="en-CA" b="0" i="1" dirty="0"/>
              <a:t>how many times</a:t>
            </a:r>
            <a:r>
              <a:rPr lang="en-CA" b="0" dirty="0"/>
              <a:t> you get a certain outcome (like a hit, head, or success).</a:t>
            </a:r>
          </a:p>
          <a:p>
            <a:r>
              <a:rPr lang="en-CA" b="0" dirty="0"/>
              <a:t>⚙️ The setup</a:t>
            </a:r>
          </a:p>
          <a:p>
            <a:r>
              <a:rPr lang="en-CA" b="0" dirty="0"/>
              <a:t>We have:</a:t>
            </a:r>
          </a:p>
          <a:p>
            <a:r>
              <a:rPr lang="en-CA" b="0" dirty="0"/>
              <a:t>n: number of trials (e.g., 100 swings, 10 coin flips)</a:t>
            </a:r>
          </a:p>
          <a:p>
            <a:r>
              <a:rPr lang="en-CA" b="0" dirty="0"/>
              <a:t>p: probability of success on each trial (e.g., 0.3 chance of getting a hit)</a:t>
            </a:r>
          </a:p>
          <a:p>
            <a:r>
              <a:rPr lang="en-CA" b="0" dirty="0"/>
              <a:t>X: number of successes (how many hits)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78cab69e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78cab69e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⚙️ The big idea</a:t>
            </a:r>
          </a:p>
          <a:p>
            <a:r>
              <a:rPr lang="en-CA" b="0" dirty="0"/>
              <a:t>The binomial distribution depends on two parameters:</a:t>
            </a:r>
          </a:p>
          <a:p>
            <a:r>
              <a:rPr lang="en-CA" b="0" dirty="0"/>
              <a:t>n: the number of trials</a:t>
            </a:r>
          </a:p>
          <a:p>
            <a:r>
              <a:rPr lang="en-CA" b="0" dirty="0"/>
              <a:t>p: the probability of success on each trial</a:t>
            </a:r>
          </a:p>
          <a:p>
            <a:r>
              <a:rPr lang="en-CA" b="0" dirty="0"/>
              <a:t>Different combinations of n and p produce very different shapes — even though the same formula defines them.</a:t>
            </a:r>
          </a:p>
          <a:p>
            <a:r>
              <a:rPr lang="en-CA" b="0" dirty="0"/>
              <a:t>💬 “The binomial distribution’s shape and spread depend entirely on how likely success is, and how many chances you get.”</a:t>
            </a:r>
          </a:p>
          <a:p>
            <a:r>
              <a:rPr lang="en-CA" b="0" dirty="0"/>
              <a:t>🎯 Key property</a:t>
            </a:r>
          </a:p>
          <a:p>
            <a:r>
              <a:rPr lang="en-CA" b="0" dirty="0"/>
              <a:t>It’s discrete (counts only whole numbers), but its shape can vary:</a:t>
            </a:r>
          </a:p>
          <a:p>
            <a:r>
              <a:rPr lang="en-CA" b="0" dirty="0"/>
              <a:t>Symmetric like a bell curve (when p≈0.5p \</a:t>
            </a:r>
            <a:r>
              <a:rPr lang="en-CA" b="0" dirty="0" err="1"/>
              <a:t>approx</a:t>
            </a:r>
            <a:r>
              <a:rPr lang="en-CA" b="0" dirty="0"/>
              <a:t> 0.5p≈0.5)</a:t>
            </a:r>
          </a:p>
          <a:p>
            <a:r>
              <a:rPr lang="en-CA" b="0" dirty="0"/>
              <a:t>Skewed (when </a:t>
            </a:r>
            <a:r>
              <a:rPr lang="en-CA" b="0" dirty="0" err="1"/>
              <a:t>ppp</a:t>
            </a:r>
            <a:r>
              <a:rPr lang="en-CA" b="0" dirty="0"/>
              <a:t> is very small or very large)</a:t>
            </a:r>
          </a:p>
          <a:p>
            <a:r>
              <a:rPr lang="en-CA" b="0" dirty="0"/>
              <a:t>🪙 Example 1: Coin flips</a:t>
            </a:r>
          </a:p>
          <a:p>
            <a:r>
              <a:rPr lang="en-CA" b="0" dirty="0"/>
              <a:t>n=200, p=0.5 </a:t>
            </a:r>
          </a:p>
          <a:p>
            <a:r>
              <a:rPr lang="en-CA" b="0" dirty="0"/>
              <a:t>Each trial has two outcomes: heads or tails.</a:t>
            </a:r>
          </a:p>
          <a:p>
            <a:r>
              <a:rPr lang="en-CA" b="0" dirty="0"/>
              <a:t>Here, the probability of success (0.5) is balanced.</a:t>
            </a:r>
            <a:br>
              <a:rPr lang="en-CA" b="0" dirty="0"/>
            </a:br>
            <a:r>
              <a:rPr lang="en-CA" b="0" dirty="0"/>
              <a:t>With many trials (200), the binomial distribution becomes almost symmetric and bell-shaped, centered around np=100.</a:t>
            </a:r>
          </a:p>
          <a:p>
            <a:r>
              <a:rPr lang="en-CA" b="0" dirty="0"/>
              <a:t>This looks like a Normal (Gaussian) curve because of the Central Limit Theorem:</a:t>
            </a:r>
          </a:p>
          <a:p>
            <a:r>
              <a:rPr lang="en-CA" b="0" dirty="0"/>
              <a:t>“When you repeat a fair random process many times, the sum (or count) tends to form a bell curve.”</a:t>
            </a:r>
          </a:p>
          <a:p>
            <a:r>
              <a:rPr lang="en-CA" b="0" dirty="0"/>
              <a:t>✅ Interpretation:</a:t>
            </a:r>
            <a:br>
              <a:rPr lang="en-CA" b="0" dirty="0"/>
            </a:br>
            <a:r>
              <a:rPr lang="en-CA" b="0" dirty="0"/>
              <a:t>Most outcomes are near 100 heads, but very few near 70 or 130.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49b191b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49b191b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78cab69e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78cab69e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The normal distribution — also called the Gaussian distribution — is one of the most important and commonly used probability distributions in statistics.</a:t>
            </a:r>
          </a:p>
          <a:p>
            <a:r>
              <a:rPr lang="en-CA" b="0" dirty="0"/>
              <a:t>It’s the classic “bell curve”, symmetric around the mean, where most observations cluster near the center and fewer occur at the extremes.</a:t>
            </a:r>
          </a:p>
          <a:p>
            <a:r>
              <a:rPr lang="en-CA" b="0" dirty="0"/>
              <a:t>📊 2️⃣ Real-world examples</a:t>
            </a:r>
          </a:p>
          <a:p>
            <a:r>
              <a:rPr lang="en-CA" b="0" dirty="0"/>
              <a:t>Many natural and human-made measurements follow (or approximately follow) a normal distribution:</a:t>
            </a:r>
          </a:p>
          <a:p>
            <a:r>
              <a:rPr lang="en-CA" b="0" dirty="0"/>
              <a:t>Heights of people</a:t>
            </a:r>
          </a:p>
          <a:p>
            <a:r>
              <a:rPr lang="en-CA" b="0" dirty="0"/>
              <a:t>IQ scores</a:t>
            </a:r>
          </a:p>
          <a:p>
            <a:r>
              <a:rPr lang="en-CA" b="0" dirty="0"/>
              <a:t>Measurement errors in experiments</a:t>
            </a:r>
          </a:p>
          <a:p>
            <a:r>
              <a:rPr lang="en-CA" b="0" dirty="0"/>
              <a:t>Blood pressure, exam scores, or machine tolerances</a:t>
            </a:r>
          </a:p>
          <a:p>
            <a:r>
              <a:rPr lang="en-CA" b="0" dirty="0"/>
              <a:t>💬 “Whenever you have many small, independent factors adding up, the result tends to be approximately normal.”</a:t>
            </a:r>
          </a:p>
          <a:p>
            <a:r>
              <a:rPr lang="en-CA" b="0" dirty="0"/>
              <a:t>This is why it appears so frequently in practice — a direct result of the Central Limit Theorem.</a:t>
            </a:r>
          </a:p>
          <a:p>
            <a:r>
              <a:rPr lang="en-CA" b="0" dirty="0"/>
              <a:t>⚙️ 3️⃣ The formula</a:t>
            </a:r>
          </a:p>
          <a:p>
            <a:r>
              <a:rPr lang="en-CA" b="0" dirty="0"/>
              <a:t>the mean (center) — shifts the curve left or right</a:t>
            </a:r>
          </a:p>
          <a:p>
            <a:r>
              <a:rPr lang="en-CA" b="0" dirty="0"/>
              <a:t>σ\</a:t>
            </a:r>
            <a:r>
              <a:rPr lang="en-CA" b="0" dirty="0" err="1"/>
              <a:t>sigmaσ</a:t>
            </a:r>
            <a:r>
              <a:rPr lang="en-CA" b="0" dirty="0"/>
              <a:t>: the standard deviation — controls the spread or width of the bell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78cab69e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78cab69e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78cab69ef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78cab69ef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87bd43a0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87bd43a0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⚙️ 1️⃣ The Big Idea</a:t>
            </a:r>
          </a:p>
          <a:p>
            <a:r>
              <a:rPr lang="en-CA" b="0" dirty="0"/>
              <a:t>The Central Limit Theorem (CLT) is one of the most important results in statistics.</a:t>
            </a:r>
            <a:br>
              <a:rPr lang="en-CA" b="0" dirty="0"/>
            </a:br>
            <a:r>
              <a:rPr lang="en-CA" b="0" dirty="0"/>
              <a:t>It explains </a:t>
            </a:r>
            <a:r>
              <a:rPr lang="en-CA" b="0" i="1" dirty="0"/>
              <a:t>why the normal distribution shows up so often</a:t>
            </a:r>
            <a:r>
              <a:rPr lang="en-CA" b="0" dirty="0"/>
              <a:t> — even when the original data are not normal.</a:t>
            </a:r>
          </a:p>
          <a:p>
            <a:r>
              <a:rPr lang="en-CA" b="0" dirty="0"/>
              <a:t>💬 “No matter what your data look like, if you take enough averages, those averages will look normal.”</a:t>
            </a:r>
          </a:p>
          <a:p>
            <a:r>
              <a:rPr lang="en-CA" b="0" dirty="0"/>
              <a:t>🧩 2️⃣ The setup</a:t>
            </a:r>
          </a:p>
          <a:p>
            <a:r>
              <a:rPr lang="en-CA" b="0" dirty="0"/>
              <a:t>You have:</a:t>
            </a:r>
          </a:p>
          <a:p>
            <a:r>
              <a:rPr lang="en-CA" b="0" dirty="0"/>
              <a:t>A population (of </a:t>
            </a:r>
            <a:r>
              <a:rPr lang="en-CA" b="0" i="1" dirty="0"/>
              <a:t>any</a:t>
            </a:r>
            <a:r>
              <a:rPr lang="en-CA" b="0" dirty="0"/>
              <a:t> shape: skewed, uniform, random, etc.)</a:t>
            </a:r>
          </a:p>
          <a:p>
            <a:r>
              <a:rPr lang="en-CA" b="0" dirty="0"/>
              <a:t>Population mean = μ\</a:t>
            </a:r>
            <a:r>
              <a:rPr lang="en-CA" b="0" dirty="0" err="1"/>
              <a:t>muμ</a:t>
            </a:r>
            <a:endParaRPr lang="en-CA" b="0" dirty="0"/>
          </a:p>
          <a:p>
            <a:r>
              <a:rPr lang="en-CA" b="0" dirty="0"/>
              <a:t>Population standard deviation = σ\</a:t>
            </a:r>
            <a:r>
              <a:rPr lang="en-CA" b="0" dirty="0" err="1"/>
              <a:t>sigmaσ</a:t>
            </a:r>
            <a:endParaRPr lang="en-CA" b="0" dirty="0"/>
          </a:p>
          <a:p>
            <a:r>
              <a:rPr lang="en-CA" b="0" dirty="0"/>
              <a:t>Now, you take many samples, each of size </a:t>
            </a:r>
            <a:r>
              <a:rPr lang="en-CA" b="0" dirty="0" err="1"/>
              <a:t>nnn</a:t>
            </a:r>
            <a:r>
              <a:rPr lang="en-CA" b="0" dirty="0"/>
              <a:t>, and calculate their sample means Xˉ\bar{X}Xˉ.</a:t>
            </a:r>
          </a:p>
          <a:p>
            <a:r>
              <a:rPr lang="en-CA" b="0" dirty="0"/>
              <a:t>📈 3️⃣ What the theorem says</a:t>
            </a:r>
          </a:p>
          <a:p>
            <a:r>
              <a:rPr lang="en-CA" b="0" dirty="0"/>
              <a:t>As </a:t>
            </a:r>
            <a:r>
              <a:rPr lang="en-CA" b="0" dirty="0" err="1"/>
              <a:t>nnn</a:t>
            </a:r>
            <a:r>
              <a:rPr lang="en-CA" b="0" dirty="0"/>
              <a:t> (sample size) gets larger:</a:t>
            </a:r>
          </a:p>
          <a:p>
            <a:r>
              <a:rPr lang="en-CA" b="0" dirty="0"/>
              <a:t>The distribution of the sample means becomes approximately normal,</a:t>
            </a:r>
            <a:br>
              <a:rPr lang="en-CA" b="0" dirty="0"/>
            </a:br>
            <a:r>
              <a:rPr lang="en-CA" b="0" dirty="0"/>
              <a:t>even if the original population is not normal.</a:t>
            </a:r>
          </a:p>
          <a:p>
            <a:r>
              <a:rPr lang="en-CA" b="0" dirty="0"/>
              <a:t>The mean of those sample means = μ\</a:t>
            </a:r>
            <a:r>
              <a:rPr lang="en-CA" b="0" dirty="0" err="1"/>
              <a:t>muμ</a:t>
            </a:r>
            <a:r>
              <a:rPr lang="en-CA" b="0" dirty="0"/>
              <a:t> (same as the population mean)</a:t>
            </a:r>
          </a:p>
          <a:p>
            <a:r>
              <a:rPr lang="en-CA" b="0" dirty="0"/>
              <a:t>The standard deviation of the sample means =</a:t>
            </a:r>
          </a:p>
          <a:p>
            <a:r>
              <a:rPr lang="en-CA" b="0" dirty="0"/>
              <a:t>Standard Error=</a:t>
            </a:r>
            <a:r>
              <a:rPr lang="en-CA" b="0" dirty="0" err="1"/>
              <a:t>σn</a:t>
            </a:r>
            <a:r>
              <a:rPr lang="en-CA" b="0" dirty="0"/>
              <a:t>\text{Standard Error} = \frac{\sigma}{\sqrt{n}}Standard Error=n​σ​ </a:t>
            </a:r>
          </a:p>
          <a:p>
            <a:r>
              <a:rPr lang="en-CA" b="0" dirty="0"/>
              <a:t>💬 “The more data you average, the more stable and predictable that average becomes.”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87bd43a08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87bd43a08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The binomial distribution counts the number of “successes” (like heads in coin flips) across n independent trials with probability p of success per trial.</a:t>
            </a:r>
          </a:p>
          <a:p>
            <a:r>
              <a:rPr lang="en-CA" b="0" dirty="0"/>
              <a:t>When the number of trials </a:t>
            </a:r>
            <a:r>
              <a:rPr lang="en-CA" b="0" dirty="0" err="1"/>
              <a:t>nnn</a:t>
            </a:r>
            <a:r>
              <a:rPr lang="en-CA" b="0" dirty="0"/>
              <a:t> is large, this binomial distribution becomes approximately normal.</a:t>
            </a:r>
          </a:p>
          <a:p>
            <a:r>
              <a:rPr lang="en-CA" b="0" dirty="0"/>
              <a:t>💬 “A binomial distribution is just the sum of many little 0–1 random variables — and sums of many random variables tend to look normal.”</a:t>
            </a:r>
          </a:p>
          <a:p>
            <a:r>
              <a:rPr lang="en-CA" b="0" dirty="0"/>
              <a:t>This is a direct application of the Central Limit Theorem.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78cab69ef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78cab69ef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The idea</a:t>
            </a:r>
          </a:p>
          <a:p>
            <a:r>
              <a:rPr lang="en-CA" b="0" dirty="0"/>
              <a:t>The geometric distribution models the number of trials needed to get the first success (or first failure).</a:t>
            </a:r>
          </a:p>
          <a:p>
            <a:r>
              <a:rPr lang="en-CA" b="0" dirty="0"/>
              <a:t>In this context, “success” means the event happens — e.g., a lightbulb burns out, or a person dies.</a:t>
            </a:r>
          </a:p>
          <a:p>
            <a:r>
              <a:rPr lang="en-CA" b="0" dirty="0"/>
              <a:t>So the question is:</a:t>
            </a:r>
          </a:p>
          <a:p>
            <a:r>
              <a:rPr lang="en-CA" b="0" dirty="0"/>
              <a:t>“If you have a constant chance p of dying (or failing) each day,</a:t>
            </a:r>
            <a:br>
              <a:rPr lang="en-CA" b="0" dirty="0"/>
            </a:br>
            <a:r>
              <a:rPr lang="en-CA" b="0" dirty="0"/>
              <a:t>what’s the probability that you survive until day n−1 and die on day n?”</a:t>
            </a:r>
          </a:p>
          <a:p>
            <a:r>
              <a:rPr lang="en-CA" b="0" dirty="0"/>
              <a:t>The probability formula</a:t>
            </a:r>
          </a:p>
          <a:p>
            <a:r>
              <a:rPr lang="en-CA" b="0" dirty="0"/>
              <a:t>here’s what each term means:</a:t>
            </a:r>
          </a:p>
          <a:p>
            <a:r>
              <a:rPr lang="en-CA" b="0" dirty="0"/>
              <a:t>P^n-1 probability of surviving for n−1</a:t>
            </a:r>
            <a:br>
              <a:rPr lang="en-CA" b="0" dirty="0"/>
            </a:br>
            <a:r>
              <a:rPr lang="en-CA" b="0" dirty="0"/>
              <a:t>(you didn’t fail yet — success each previous day)</a:t>
            </a:r>
          </a:p>
          <a:p>
            <a:r>
              <a:rPr lang="en-CA" b="0" dirty="0"/>
              <a:t>(1−p): probability of failing (dying/burning out) on the nth day</a:t>
            </a:r>
          </a:p>
          <a:p>
            <a:r>
              <a:rPr lang="en-CA" b="0" dirty="0"/>
              <a:t>So this gives the chance that the first failure happens on day 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368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78cab69ef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78cab69ef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dirty="0"/>
              <a:t>The </a:t>
            </a:r>
            <a:r>
              <a:rPr lang="en-CA" b="1" dirty="0"/>
              <a:t>Poisson distribution</a:t>
            </a:r>
            <a:r>
              <a:rPr lang="en-CA" dirty="0"/>
              <a:t> models how many times a </a:t>
            </a:r>
            <a:r>
              <a:rPr lang="en-CA" i="1" dirty="0"/>
              <a:t>rare event</a:t>
            </a:r>
            <a:r>
              <a:rPr lang="en-CA" dirty="0"/>
              <a:t> occurs in a fixed interval of </a:t>
            </a:r>
            <a:r>
              <a:rPr lang="en-CA" b="1" dirty="0"/>
              <a:t>time</a:t>
            </a:r>
            <a:r>
              <a:rPr lang="en-CA" dirty="0"/>
              <a:t>, </a:t>
            </a:r>
            <a:r>
              <a:rPr lang="en-CA" b="1" dirty="0"/>
              <a:t>space</a:t>
            </a:r>
            <a:r>
              <a:rPr lang="en-CA" dirty="0"/>
              <a:t>, or </a:t>
            </a:r>
            <a:r>
              <a:rPr lang="en-CA" b="1" dirty="0"/>
              <a:t>area</a:t>
            </a:r>
            <a:r>
              <a:rPr lang="en-CA" dirty="0"/>
              <a:t>.</a:t>
            </a:r>
          </a:p>
          <a:p>
            <a:r>
              <a:rPr lang="en-CA" dirty="0"/>
              <a:t>It’s perfect for describing </a:t>
            </a:r>
            <a:r>
              <a:rPr lang="en-CA" b="1" dirty="0"/>
              <a:t>counts of infrequent events</a:t>
            </a:r>
            <a:r>
              <a:rPr lang="en-CA" dirty="0"/>
              <a:t> — like:</a:t>
            </a:r>
          </a:p>
          <a:p>
            <a:r>
              <a:rPr lang="en-CA" dirty="0"/>
              <a:t>Number of accidents per week</a:t>
            </a:r>
          </a:p>
          <a:p>
            <a:r>
              <a:rPr lang="en-CA" dirty="0"/>
              <a:t>Number of emails received per hour</a:t>
            </a:r>
          </a:p>
          <a:p>
            <a:r>
              <a:rPr lang="en-CA" dirty="0"/>
              <a:t>Number of typing errors on a page</a:t>
            </a:r>
          </a:p>
          <a:p>
            <a:r>
              <a:rPr lang="en-CA" dirty="0"/>
              <a:t>Number of bacteria in a petri dish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f5223c217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f5223c2170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78cab69ef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78cab69ef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0" dirty="0"/>
              <a:t>🧠 1️⃣ The question being asked</a:t>
            </a:r>
          </a:p>
          <a:p>
            <a:r>
              <a:rPr lang="en-CA" b="0" dirty="0"/>
              <a:t>We know the average number of children per U.S. family is about 2.2,</a:t>
            </a:r>
            <a:br>
              <a:rPr lang="en-CA" b="0" dirty="0"/>
            </a:br>
            <a:r>
              <a:rPr lang="en-CA" b="0" dirty="0"/>
              <a:t>but averages alone don’t tell the full story.</a:t>
            </a:r>
          </a:p>
          <a:p>
            <a:r>
              <a:rPr lang="en-CA" b="0" dirty="0"/>
              <a:t>💬 “If the average is 2.2, does that mean every family has two or three kids? Of course not — the real question is: how are family sizes </a:t>
            </a:r>
            <a:r>
              <a:rPr lang="en-CA" b="0" i="1" dirty="0"/>
              <a:t>distributed</a:t>
            </a:r>
            <a:r>
              <a:rPr lang="en-CA" b="0" dirty="0"/>
              <a:t>?”</a:t>
            </a:r>
          </a:p>
          <a:p>
            <a:r>
              <a:rPr lang="en-CA" b="0" dirty="0"/>
              <a:t>That’s where the Poisson distribution can help.</a:t>
            </a:r>
          </a:p>
          <a:p>
            <a:r>
              <a:rPr lang="en-CA" b="0" dirty="0"/>
              <a:t>⚙️ 2️⃣ Why Poisson makes sense here</a:t>
            </a:r>
          </a:p>
          <a:p>
            <a:r>
              <a:rPr lang="en-CA" b="0" dirty="0"/>
              <a:t>The Poisson distribution models the number of events (like births) that occur over a fixed interval,</a:t>
            </a:r>
            <a:br>
              <a:rPr lang="en-CA" b="0" dirty="0"/>
            </a:br>
            <a:r>
              <a:rPr lang="en-CA" b="0" dirty="0"/>
              <a:t>when:</a:t>
            </a:r>
          </a:p>
          <a:p>
            <a:r>
              <a:rPr lang="en-CA" b="0" dirty="0"/>
              <a:t>Each event happens independently,</a:t>
            </a:r>
          </a:p>
          <a:p>
            <a:r>
              <a:rPr lang="en-CA" b="0" dirty="0"/>
              <a:t>There’s a constant average rate λ\</a:t>
            </a:r>
            <a:r>
              <a:rPr lang="en-CA" b="0" dirty="0" err="1"/>
              <a:t>lambdaλ</a:t>
            </a:r>
            <a:r>
              <a:rPr lang="en-CA" b="0" dirty="0"/>
              <a:t>,</a:t>
            </a:r>
          </a:p>
          <a:p>
            <a:r>
              <a:rPr lang="en-CA" b="0" dirty="0"/>
              <a:t>And the probability of two events happening “at once” is very small.</a:t>
            </a:r>
          </a:p>
          <a:p>
            <a:r>
              <a:rPr lang="en-CA" b="0" dirty="0"/>
              <a:t>If we think of “having a child” as a rare event that happens independently over a couple’s childbearing years,</a:t>
            </a:r>
            <a:br>
              <a:rPr lang="en-CA" b="0" dirty="0"/>
            </a:br>
            <a:r>
              <a:rPr lang="en-CA" b="0" dirty="0"/>
              <a:t>then the number of kids per family can be modeled by a Poisson distribution.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78cab69e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78cab69ef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dirty="0"/>
              <a:t>“Most of the time in statistics, we deal with </a:t>
            </a:r>
            <a:r>
              <a:rPr lang="en-CA" b="1" dirty="0"/>
              <a:t>normal distributions</a:t>
            </a:r>
            <a:r>
              <a:rPr lang="en-CA" dirty="0"/>
              <a:t> —</a:t>
            </a:r>
            <a:br>
              <a:rPr lang="en-CA" dirty="0"/>
            </a:br>
            <a:r>
              <a:rPr lang="en-CA" dirty="0"/>
              <a:t>where values cluster around a mean: most people are average height,</a:t>
            </a:r>
            <a:br>
              <a:rPr lang="en-CA" dirty="0"/>
            </a:br>
            <a:r>
              <a:rPr lang="en-CA" dirty="0"/>
              <a:t>a few are shorter or taller, but not drastically so.”</a:t>
            </a:r>
          </a:p>
          <a:p>
            <a:r>
              <a:rPr lang="en-CA" dirty="0"/>
              <a:t>“Power laws are the opposite: they describe systems where </a:t>
            </a:r>
            <a:r>
              <a:rPr lang="en-CA" b="1" dirty="0"/>
              <a:t>a few values are extremely large</a:t>
            </a:r>
            <a:r>
              <a:rPr lang="en-CA" dirty="0"/>
              <a:t>, and most are small — but those extreme values happen </a:t>
            </a:r>
            <a:r>
              <a:rPr lang="en-CA" i="1" dirty="0"/>
              <a:t>consistently enough</a:t>
            </a:r>
            <a:r>
              <a:rPr lang="en-CA" dirty="0"/>
              <a:t> to shape the system.”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Here, α\alphaα (alpha) controls how fast probabilities drop off —</a:t>
            </a:r>
            <a:br>
              <a:rPr lang="en-CA" dirty="0"/>
            </a:br>
            <a:r>
              <a:rPr lang="en-CA" dirty="0"/>
              <a:t>larger α means fewer large values.</a:t>
            </a:r>
            <a:br>
              <a:rPr lang="en-CA" dirty="0"/>
            </a:br>
            <a:r>
              <a:rPr lang="en-CA"/>
              <a:t>The constant ccc just makes sure everything adds up to 1</a:t>
            </a:r>
            <a:endParaRPr b="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78cab69e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78cab69e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78cab69ef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78cab69ef_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78cab69ef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78cab69ef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78cab69e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78cab69e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78cab69e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78cab69ef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6448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569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0563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908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763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9207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94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67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7515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519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649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863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71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ctrTitle"/>
          </p:nvPr>
        </p:nvSpPr>
        <p:spPr>
          <a:xfrm>
            <a:off x="457200" y="716160"/>
            <a:ext cx="82296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800" dirty="0"/>
              <a:t>Statistical Distribution </a:t>
            </a:r>
            <a:endParaRPr sz="4800"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CA" sz="3600" dirty="0"/>
              <a:t>Fatemeh Riahi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CA" sz="3600" dirty="0"/>
              <a:t>BCIT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and Data Science</a:t>
            </a:r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“A data scientist is someone who knows more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statistics than a computer scientist and more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computer science than a statistician.”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Josh Blumenstock (Univ. of Washington)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Central Dogma of Statistics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0" name="Google Shape;70;p13" descr="central-dogm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600" y="1376227"/>
            <a:ext cx="6001050" cy="337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Statistical Data Distributions</a:t>
            </a:r>
            <a:endParaRPr dirty="0"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463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Every observed random variable has a particular frequency/probability distribution.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Some distributions occur often in practice/theory: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The Binomial Distribution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The Normal Distribution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The Poisson Distribution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The Power Law Distribution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5929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 of Classical Distributions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Classical probability distributions arise often in practice, so look out for them.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Closed-form formulas and special statistical tests often exist for particular distributions.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FF"/>
                </a:solidFill>
              </a:rPr>
              <a:t>However, your observed data does not necessarily come from a particular distribution just because the shape looks similar.</a:t>
            </a:r>
            <a:endParaRPr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Binomial Distributions</a:t>
            </a:r>
            <a:endParaRPr dirty="0"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Experiments consist of </a:t>
            </a:r>
            <a:r>
              <a:rPr lang="en" i="1" dirty="0"/>
              <a:t>n</a:t>
            </a:r>
            <a:r>
              <a:rPr lang="en" dirty="0"/>
              <a:t> </a:t>
            </a:r>
            <a:r>
              <a:rPr lang="en" i="1" dirty="0"/>
              <a:t>identical, independent</a:t>
            </a:r>
            <a:r>
              <a:rPr lang="en" dirty="0"/>
              <a:t> trials which have two possible outcomes, with probabilities </a:t>
            </a:r>
            <a:r>
              <a:rPr lang="en" i="1" dirty="0"/>
              <a:t>p</a:t>
            </a:r>
            <a:r>
              <a:rPr lang="en" dirty="0"/>
              <a:t> and </a:t>
            </a:r>
            <a:r>
              <a:rPr lang="en" i="1" dirty="0"/>
              <a:t>(1-p)</a:t>
            </a:r>
            <a:r>
              <a:rPr lang="en" dirty="0"/>
              <a:t> like heads or tails.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FF"/>
                </a:solidFill>
              </a:rPr>
              <a:t>The observed season batting averages of a </a:t>
            </a:r>
            <a:r>
              <a:rPr lang="en" i="1" dirty="0">
                <a:solidFill>
                  <a:srgbClr val="0000FF"/>
                </a:solidFill>
              </a:rPr>
              <a:t>p=0.300</a:t>
            </a:r>
            <a:r>
              <a:rPr lang="en" dirty="0">
                <a:solidFill>
                  <a:srgbClr val="0000FF"/>
                </a:solidFill>
              </a:rPr>
              <a:t> hitter were drawn from a binomial distribution.</a:t>
            </a:r>
            <a:endParaRPr dirty="0">
              <a:solidFill>
                <a:srgbClr val="0000FF"/>
              </a:solidFill>
            </a:endParaRPr>
          </a:p>
        </p:txBody>
      </p:sp>
      <p:pic>
        <p:nvPicPr>
          <p:cNvPr id="89" name="Google Shape;89;p16" descr="binomial-dis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559" y="2487098"/>
            <a:ext cx="3567450" cy="6222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6DAB37C-F9C5-C565-D033-D6E2B2BA9A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904034"/>
                  </p:ext>
                </p:extLst>
              </p:nvPr>
            </p:nvGraphicFramePr>
            <p:xfrm>
              <a:off x="578250" y="3246120"/>
              <a:ext cx="7543800" cy="1394460"/>
            </p:xfrm>
            <a:graphic>
              <a:graphicData uri="http://schemas.openxmlformats.org/drawingml/2006/table">
                <a:tbl>
                  <a:tblPr>
                    <a:tableStyleId>{3C2FFA5D-87B4-456A-9821-1D502468CF0F}</a:tableStyleId>
                  </a:tblPr>
                  <a:tblGrid>
                    <a:gridCol w="3771900">
                      <a:extLst>
                        <a:ext uri="{9D8B030D-6E8A-4147-A177-3AD203B41FA5}">
                          <a16:colId xmlns:a16="http://schemas.microsoft.com/office/drawing/2014/main" val="640477178"/>
                        </a:ext>
                      </a:extLst>
                    </a:gridCol>
                    <a:gridCol w="3771900">
                      <a:extLst>
                        <a:ext uri="{9D8B030D-6E8A-4147-A177-3AD203B41FA5}">
                          <a16:colId xmlns:a16="http://schemas.microsoft.com/office/drawing/2014/main" val="201382338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90856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</m:m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/>
                            <a:t>Number of ways to choose x successes out of n trials (combinations)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76030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 dirty="0"/>
                            <a:t>( </a:t>
                          </a:r>
                          <a:r>
                            <a:rPr lang="en-CA" dirty="0" err="1"/>
                            <a:t>p^x</a:t>
                          </a:r>
                          <a:r>
                            <a:rPr lang="en-CA" dirty="0"/>
                            <a:t> 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/>
                            <a:t>Probability of getting x successes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83807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/>
                            <a:t>( (1 - p)^{n - x} 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 dirty="0"/>
                            <a:t>Probability of getting the remaining n - x failures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74052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6DAB37C-F9C5-C565-D033-D6E2B2BA9A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904034"/>
                  </p:ext>
                </p:extLst>
              </p:nvPr>
            </p:nvGraphicFramePr>
            <p:xfrm>
              <a:off x="578250" y="3246120"/>
              <a:ext cx="7543800" cy="1394460"/>
            </p:xfrm>
            <a:graphic>
              <a:graphicData uri="http://schemas.openxmlformats.org/drawingml/2006/table">
                <a:tbl>
                  <a:tblPr>
                    <a:tableStyleId>{3C2FFA5D-87B4-456A-9821-1D502468CF0F}</a:tableStyleId>
                  </a:tblPr>
                  <a:tblGrid>
                    <a:gridCol w="3771900">
                      <a:extLst>
                        <a:ext uri="{9D8B030D-6E8A-4147-A177-3AD203B41FA5}">
                          <a16:colId xmlns:a16="http://schemas.microsoft.com/office/drawing/2014/main" val="640477178"/>
                        </a:ext>
                      </a:extLst>
                    </a:gridCol>
                    <a:gridCol w="3771900">
                      <a:extLst>
                        <a:ext uri="{9D8B030D-6E8A-4147-A177-3AD203B41FA5}">
                          <a16:colId xmlns:a16="http://schemas.microsoft.com/office/drawing/2014/main" val="2013823388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9085649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1" t="-60241" r="-100161" b="-1289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/>
                            <a:t>Number of ways to choose x successes out of n trials (combinations)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7603051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 dirty="0"/>
                            <a:t>( </a:t>
                          </a:r>
                          <a:r>
                            <a:rPr lang="en-CA" dirty="0" err="1"/>
                            <a:t>p^x</a:t>
                          </a:r>
                          <a:r>
                            <a:rPr lang="en-CA" dirty="0"/>
                            <a:t> 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/>
                            <a:t>Probability of getting x successes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8380781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/>
                            <a:t>( (1 - p)^{n - x} 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A" dirty="0"/>
                            <a:t>Probability of getting the remaining n - x failures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740528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Binomial Distributions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463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Discrete, but bell (or half-bell) shaped</a:t>
            </a:r>
            <a:endParaRPr dirty="0"/>
          </a:p>
        </p:txBody>
      </p:sp>
      <p:pic>
        <p:nvPicPr>
          <p:cNvPr id="96" name="Google Shape;96;p17" descr="binomial-lightbul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750" y="2293992"/>
            <a:ext cx="3410250" cy="22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descr="binomial-coi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500" y="2293992"/>
            <a:ext cx="3387625" cy="211535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353625" y="1932192"/>
            <a:ext cx="3154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Coin flips:  p=0.5     n=200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4380075" y="1639919"/>
            <a:ext cx="30540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Lightbulb burnouts: p=0.001 n=1000</a:t>
            </a:r>
            <a:endParaRPr dirty="0"/>
          </a:p>
        </p:txBody>
      </p:sp>
      <p:sp>
        <p:nvSpPr>
          <p:cNvPr id="100" name="Google Shape;100;p17"/>
          <p:cNvSpPr txBox="1"/>
          <p:nvPr/>
        </p:nvSpPr>
        <p:spPr>
          <a:xfrm>
            <a:off x="7279631" y="2441488"/>
            <a:ext cx="1941642" cy="20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distribution is a function of n and p.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 of the Binomial Distribution</a:t>
            </a: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3694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closed form is:                     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mode, mean, and median is </a:t>
            </a:r>
            <a:r>
              <a:rPr lang="en" i="1" dirty="0"/>
              <a:t>np</a:t>
            </a:r>
            <a:r>
              <a:rPr lang="en" dirty="0"/>
              <a:t> for integers.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probability of getting exactly </a:t>
            </a:r>
            <a:r>
              <a:rPr lang="en" i="1" dirty="0"/>
              <a:t>n/2</a:t>
            </a:r>
            <a:r>
              <a:rPr lang="en" dirty="0"/>
              <a:t> heads is </a:t>
            </a:r>
            <a:r>
              <a:rPr lang="en" i="1" dirty="0"/>
              <a:t>O(1/sqrt{n}), </a:t>
            </a:r>
            <a:r>
              <a:rPr lang="en" dirty="0"/>
              <a:t>so it is actually quite low.</a:t>
            </a:r>
            <a:endParaRPr dirty="0"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879" y="1303867"/>
            <a:ext cx="1676061" cy="295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9240" y="2837199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5385" y="2939975"/>
            <a:ext cx="2466989" cy="15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Distribution</a:t>
            </a:r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bell-shaped distribution of height, IQ, etc.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Completely parameterized by mean and standard deviation: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Not all bell-shaped distributions are normal but it is generally a reasonable start.</a:t>
            </a:r>
          </a:p>
          <a:p>
            <a:pPr marL="0" lvl="0" indent="0">
              <a:buNone/>
            </a:pPr>
            <a:r>
              <a:rPr lang="en-CA" dirty="0"/>
              <a:t>whenever you want to calculate the </a:t>
            </a:r>
            <a:r>
              <a:rPr lang="en-CA" b="1" dirty="0"/>
              <a:t>probability density</a:t>
            </a:r>
            <a:r>
              <a:rPr lang="en-CA" dirty="0"/>
              <a:t> of a continuous variable that follows (or approximately follows) a </a:t>
            </a:r>
            <a:r>
              <a:rPr lang="en-CA" b="1" dirty="0"/>
              <a:t>normal distribution</a:t>
            </a:r>
            <a:r>
              <a:rPr lang="en-CA" dirty="0"/>
              <a:t>.</a:t>
            </a:r>
          </a:p>
          <a:p>
            <a:pPr marL="0" lvl="0" indent="0">
              <a:buNone/>
            </a:pPr>
            <a:r>
              <a:rPr lang="en-CA" dirty="0"/>
              <a:t>For example:</a:t>
            </a:r>
            <a:br>
              <a:rPr lang="en-CA" dirty="0"/>
            </a:br>
            <a:r>
              <a:rPr lang="en-CA" dirty="0"/>
              <a:t>If X∼N(100,15^2) (IQ scores),</a:t>
            </a:r>
            <a:br>
              <a:rPr lang="en-CA" dirty="0"/>
            </a:br>
            <a:r>
              <a:rPr lang="en-CA" dirty="0"/>
              <a:t>and you want to know how </a:t>
            </a:r>
            <a:r>
              <a:rPr lang="en-CA" i="1" dirty="0"/>
              <a:t>likely</a:t>
            </a:r>
            <a:r>
              <a:rPr lang="en-CA" dirty="0"/>
              <a:t> someone with IQ = 130 is,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16" name="Google Shape;116;p19" descr="normal-dis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4858" y="2571750"/>
            <a:ext cx="3446579" cy="857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336E27-2F0C-C1D4-921F-66C851A0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330751"/>
              </p:ext>
            </p:extLst>
          </p:nvPr>
        </p:nvGraphicFramePr>
        <p:xfrm>
          <a:off x="593725" y="3348990"/>
          <a:ext cx="7543800" cy="11887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2699198535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965160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Approx. % of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225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μ ± 1σ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918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μ ± 2σ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797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μ ± 3σ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99.7%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9645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the Normal Distribution</a:t>
            </a: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Tight bounds on probability follow for Z-scores from normally distributed random variables:</a:t>
            </a:r>
            <a:endParaRPr sz="2000" dirty="0"/>
          </a:p>
        </p:txBody>
      </p:sp>
      <p:pic>
        <p:nvPicPr>
          <p:cNvPr id="130" name="Google Shape;130;p21" descr="normal-curv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673" y="2440023"/>
            <a:ext cx="3975350" cy="23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580075" y="2417338"/>
            <a:ext cx="4060500" cy="23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IQ is normally distributed, with mean 100 and standard deviation 15.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Thus about 2.5% of people have IQs above 130.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not Normal?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Not all bell-shaped distributions are normal (i.e. stock returns are log normal with fat tails).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Mixtures of normal distributions are not normal, like full population heights.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6650" y="2489199"/>
            <a:ext cx="3073175" cy="21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373375" y="2489199"/>
            <a:ext cx="5143500" cy="14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Statistical tests exist to establish whether data is drawn from a normal distribution, but populations are generally mixtures of multiple distributions: height, weight, IQ</a:t>
            </a:r>
            <a:endParaRPr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Central Limit Theorem</a:t>
            </a:r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The mean of </a:t>
            </a:r>
            <a:r>
              <a:rPr lang="en" sz="2000" i="1" dirty="0"/>
              <a:t>n</a:t>
            </a:r>
            <a:r>
              <a:rPr lang="en" sz="2000" dirty="0"/>
              <a:t> </a:t>
            </a:r>
            <a:r>
              <a:rPr lang="en" sz="2000" b="1" dirty="0"/>
              <a:t>independent</a:t>
            </a:r>
            <a:r>
              <a:rPr lang="en" sz="2000" dirty="0"/>
              <a:t> samples from </a:t>
            </a:r>
            <a:r>
              <a:rPr lang="en" sz="2000" b="1" dirty="0"/>
              <a:t>any</a:t>
            </a:r>
            <a:r>
              <a:rPr lang="en" sz="2000" dirty="0"/>
              <a:t> distribution converges to the normal distribution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If the population distribution has mean    and SD   , the mean distribution of </a:t>
            </a:r>
            <a:r>
              <a:rPr lang="en" sz="2000" i="1" dirty="0"/>
              <a:t>n </a:t>
            </a:r>
            <a:r>
              <a:rPr lang="en" sz="2000" dirty="0"/>
              <a:t>samples has mean      and SD </a:t>
            </a:r>
            <a:endParaRPr sz="2000" dirty="0"/>
          </a:p>
        </p:txBody>
      </p:sp>
      <p:pic>
        <p:nvPicPr>
          <p:cNvPr id="146" name="Google Shape;146;p23" descr="Python - Central Limit Theorem - GeeksforGeek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36" y="2843252"/>
            <a:ext cx="3160728" cy="15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9186" y="2455069"/>
            <a:ext cx="3194798" cy="2234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1548" y="234107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9186" y="2085850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5549" y="2085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0764" y="2279164"/>
            <a:ext cx="762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 descr="Sampling Distribution of the Mea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94815" y="2739786"/>
            <a:ext cx="1723069" cy="1714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Binomial Distribution is Normal</a:t>
            </a:r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body" idx="1"/>
          </p:nvPr>
        </p:nvSpPr>
        <p:spPr>
          <a:xfrm>
            <a:off x="457200" y="1211125"/>
            <a:ext cx="76692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number of heads in n tosses is the sum of n independent samples of a 0-1 random variable with mean p and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Thus the average number of heads is approximated by the normal distribution.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Head count Z-scores are normal</a:t>
            </a:r>
            <a:endParaRPr dirty="0"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383" y="1592498"/>
            <a:ext cx="1469938" cy="27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 descr="Binomial Approximati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734" y="2726267"/>
            <a:ext cx="3288798" cy="203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 descr="The normal approximation and random samples of the binomial distribution -  The DO Loop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866" y="2448869"/>
            <a:ext cx="3124721" cy="2307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Lifespan/Geometric Distributions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68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your chance of surviving any given day is probability </a:t>
            </a:r>
            <a:r>
              <a:rPr lang="en" i="1"/>
              <a:t>p</a:t>
            </a:r>
            <a:r>
              <a:rPr lang="en"/>
              <a:t>, what is your lifespan distribution?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lifespan of </a:t>
            </a:r>
            <a:r>
              <a:rPr lang="en" i="1"/>
              <a:t>n</a:t>
            </a:r>
            <a:r>
              <a:rPr lang="en"/>
              <a:t> days means dying for the first time on day </a:t>
            </a:r>
            <a:r>
              <a:rPr lang="en" i="1"/>
              <a:t>n</a:t>
            </a:r>
            <a:r>
              <a:rPr lang="en"/>
              <a:t>, so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Lightbulb life spans are better modeled with such a distribution, not dead bulbs per 1000 hours.</a:t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808" y="1633397"/>
            <a:ext cx="25241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39A7FC-28A2-2FF8-0436-E48551BD5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81334"/>
            <a:ext cx="5477639" cy="11717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EC6E-B18B-6E32-EEF5-14ED6719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9AF7C-A2B9-F51E-3D0F-856D14E09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Scenario</a:t>
            </a:r>
          </a:p>
          <a:p>
            <a:r>
              <a:rPr lang="en-CA" dirty="0"/>
              <a:t>You have a factory that makes </a:t>
            </a:r>
            <a:r>
              <a:rPr lang="en-CA" b="1" dirty="0"/>
              <a:t>LED lightbulbs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Each bulb has a </a:t>
            </a:r>
            <a:r>
              <a:rPr lang="en-CA" b="1" dirty="0"/>
              <a:t>1% chance (p = 0.01)</a:t>
            </a:r>
            <a:r>
              <a:rPr lang="en-CA" dirty="0"/>
              <a:t> of burning out on any given day.</a:t>
            </a:r>
            <a:br>
              <a:rPr lang="en-CA" dirty="0"/>
            </a:br>
            <a:r>
              <a:rPr lang="en-CA" dirty="0"/>
              <a:t>The bulbs are tested daily, and we want to find:</a:t>
            </a:r>
          </a:p>
          <a:p>
            <a:r>
              <a:rPr lang="en-CA" dirty="0"/>
              <a:t>“What is the probability that a bulb lasts for a certain number of days before it burns out for the first time?”</a:t>
            </a:r>
          </a:p>
          <a:p>
            <a:endParaRPr lang="en-CA" dirty="0"/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F7565F-EBF9-691C-3F10-9AF227EB2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533" y="2638341"/>
            <a:ext cx="3681990" cy="1305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09E57F-EA60-E979-93CF-6A5C28A13907}"/>
              </a:ext>
            </a:extLst>
          </p:cNvPr>
          <p:cNvSpPr txBox="1"/>
          <p:nvPr/>
        </p:nvSpPr>
        <p:spPr>
          <a:xfrm>
            <a:off x="762000" y="394335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What’s the expected lifespan?</a:t>
            </a:r>
          </a:p>
          <a:p>
            <a:pPr>
              <a:buNone/>
            </a:pPr>
            <a:r>
              <a:rPr lang="en-CA" dirty="0"/>
              <a:t>The mean (expected number of days until burnout) is: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BA7D51-E5BB-C956-F181-655A26288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533" y="3990619"/>
            <a:ext cx="3724795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86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Poisson Distribution</a:t>
            </a:r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dirty="0"/>
              <a:t>The Poisson distribution measures the frequency of intervals between rare events.</a:t>
            </a:r>
            <a:endParaRPr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dirty="0"/>
              <a:t>Instead of event probability </a:t>
            </a:r>
            <a:r>
              <a:rPr lang="en" sz="2800" i="1" dirty="0"/>
              <a:t>p</a:t>
            </a:r>
            <a:r>
              <a:rPr lang="en" sz="2800" dirty="0"/>
              <a:t>, it is parameterized by mean </a:t>
            </a:r>
            <a:r>
              <a:rPr lang="en" sz="2800" i="1" dirty="0"/>
              <a:t>mu</a:t>
            </a:r>
            <a:r>
              <a:rPr lang="en" sz="2800" dirty="0"/>
              <a:t>, equivalent because </a:t>
            </a:r>
            <a:endParaRPr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700" dirty="0"/>
              <a:t>The Poisson distribution is Normal with </a:t>
            </a:r>
            <a:endParaRPr sz="27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712" y="1804643"/>
            <a:ext cx="18764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493" y="3074578"/>
            <a:ext cx="1768864" cy="719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6415" y="4149223"/>
            <a:ext cx="755235" cy="195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6B6AF-1AC0-D063-8AFE-A6FD9492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FFFD1-A067-ED86-3682-4B4B64B5C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EA05C-0EBF-0A63-4447-CD1081334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0" y="1200150"/>
            <a:ext cx="7964011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72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Human Lifespans</a:t>
            </a:r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307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an average lifespan = 80, the Poisson distribution looks kind of reasonable.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is the probability of dying each day constant over all ages?</a:t>
            </a: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7989" y="1300389"/>
            <a:ext cx="3116117" cy="1647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 descr="16 Biomarkers May Predict Human Lifespa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7754" y="3561020"/>
            <a:ext cx="2615025" cy="11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 descr="Mean vs. Median Life Expectancy for Retirement Planning — Oblivious Investo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5386" y="3184595"/>
            <a:ext cx="2981325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Kids per Family</a:t>
            </a: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69852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The average U.S. family has 2.2 kids, but how are they distributed?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families repeatedly decide whether to have any more children with fixed probability</a:t>
            </a:r>
            <a:r>
              <a:rPr lang="en" i="1"/>
              <a:t> p</a:t>
            </a:r>
            <a:r>
              <a:rPr lang="en"/>
              <a:t> we get a Poisson distribution:</a:t>
            </a:r>
            <a:endParaRPr/>
          </a:p>
        </p:txBody>
      </p:sp>
      <p:pic>
        <p:nvPicPr>
          <p:cNvPr id="200" name="Google Shape;200;p29" descr="poisson-kidsperfamil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275" y="-23836"/>
            <a:ext cx="2707200" cy="168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903C2D-8325-FC18-2D53-CAF217810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248226"/>
              </p:ext>
            </p:extLst>
          </p:nvPr>
        </p:nvGraphicFramePr>
        <p:xfrm>
          <a:off x="263725" y="2571750"/>
          <a:ext cx="7543800" cy="20802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95940464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6814660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01421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x (children)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P(X=x)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Approx. % of families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74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11% (no children)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163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949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030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063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653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&lt;0.07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Less than 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4184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Law Distributions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Power laws are defined </a:t>
            </a:r>
            <a:r>
              <a:rPr lang="en" i="1"/>
              <a:t>p(x) = c x^{-a}</a:t>
            </a:r>
            <a:r>
              <a:rPr lang="en"/>
              <a:t>, for exponent </a:t>
            </a:r>
            <a:r>
              <a:rPr lang="en" i="1"/>
              <a:t>a</a:t>
            </a:r>
            <a:r>
              <a:rPr lang="en"/>
              <a:t> and normalization constant </a:t>
            </a:r>
            <a:r>
              <a:rPr lang="en" i="1"/>
              <a:t>c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They do not cluster around a mean like a normal distribution, instead having very large values rarely but consistently.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They define 80-20 rules: 20% of the </a:t>
            </a:r>
            <a:r>
              <a:rPr lang="en" i="1">
                <a:solidFill>
                  <a:srgbClr val="0000FF"/>
                </a:solidFill>
              </a:rPr>
              <a:t>X</a:t>
            </a:r>
            <a:r>
              <a:rPr lang="en">
                <a:solidFill>
                  <a:srgbClr val="0000FF"/>
                </a:solidFill>
              </a:rPr>
              <a:t> get 80% of the </a:t>
            </a:r>
            <a:r>
              <a:rPr lang="en" i="1">
                <a:solidFill>
                  <a:srgbClr val="0000FF"/>
                </a:solidFill>
              </a:rPr>
              <a:t>Y.</a:t>
            </a:r>
            <a:endParaRPr i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City Population Yield Power Laws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average big US city has population 165,719.   Even with a huge standard deviation of 410,730, the biggest city under a normal distribution should be Indianapolis (780K).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New York city had 8,008,278 people in the 2000 census.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Power laws arise when the rich get richer.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6868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and Log-Log Plots for City Pop</a:t>
            </a:r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Straight lines on log-log plots say power law.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biggest values are out of scale on linear plots.</a:t>
            </a:r>
            <a:endParaRPr/>
          </a:p>
        </p:txBody>
      </p:sp>
      <p:pic>
        <p:nvPicPr>
          <p:cNvPr id="220" name="Google Shape;220;p32" descr="citypo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22" y="2475481"/>
            <a:ext cx="342900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 descr="citypop-loglo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030" y="2571750"/>
            <a:ext cx="34290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Wealth Yields Power Laws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 Bill Gates has $80 billion.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 Hyperbillionaries have $40 billion each.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25 SuperBillionaries have $20 billion each.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125 MultiBillionaries have $10 billion each.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625 Billionaries have $5 billion each.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Power law: as you multiply the value by </a:t>
            </a:r>
            <a:r>
              <a:rPr lang="en" i="1">
                <a:solidFill>
                  <a:srgbClr val="0000FF"/>
                </a:solidFill>
              </a:rPr>
              <a:t>x</a:t>
            </a:r>
            <a:r>
              <a:rPr lang="en">
                <a:solidFill>
                  <a:srgbClr val="0000FF"/>
                </a:solidFill>
              </a:rPr>
              <a:t>, you divide the number of people by </a:t>
            </a:r>
            <a:r>
              <a:rPr lang="en" i="1">
                <a:solidFill>
                  <a:srgbClr val="0000FF"/>
                </a:solidFill>
              </a:rPr>
              <a:t>y</a:t>
            </a:r>
            <a:r>
              <a:rPr lang="en">
                <a:solidFill>
                  <a:srgbClr val="0000FF"/>
                </a:solidFill>
              </a:rPr>
              <a:t>.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 of Power Laws</a:t>
            </a:r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For a power law distributed variable X,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constant </a:t>
            </a:r>
            <a:r>
              <a:rPr lang="en" i="1" dirty="0"/>
              <a:t>c</a:t>
            </a:r>
            <a:r>
              <a:rPr lang="en" dirty="0"/>
              <a:t> is unimportant: for a given </a:t>
            </a:r>
            <a:r>
              <a:rPr lang="en" i="1" dirty="0"/>
              <a:t>a </a:t>
            </a:r>
            <a:r>
              <a:rPr lang="en" dirty="0"/>
              <a:t>this constant </a:t>
            </a:r>
            <a:r>
              <a:rPr lang="en" i="1" dirty="0"/>
              <a:t>c</a:t>
            </a:r>
            <a:r>
              <a:rPr lang="en" dirty="0"/>
              <a:t> ensures the probability sums to 1.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Doubling x (to 2x) reduces the probability by a factor of 2^a, so larger values keep getting rarer at steady, non-decreasing rate.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190" y="1903855"/>
            <a:ext cx="22002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>
            <a:spLocks noGrp="1"/>
          </p:cNvSpPr>
          <p:nvPr>
            <p:ph type="title"/>
          </p:nvPr>
        </p:nvSpPr>
        <p:spPr>
          <a:xfrm>
            <a:off x="457200" y="18652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Distributions are Power Laws</a:t>
            </a:r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659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Internet sites with x inlinks.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Frequency of earthquakes at x on the Richter scale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Words used with a relative frequency of x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Wars which kill x people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Power laws show as straight lines on log value, log frequency plots.</a:t>
            </a:r>
            <a:endParaRPr sz="2400">
              <a:solidFill>
                <a:srgbClr val="FF0000"/>
              </a:solidFill>
            </a:endParaRPr>
          </a:p>
        </p:txBody>
      </p:sp>
      <p:pic>
        <p:nvPicPr>
          <p:cNvPr id="241" name="Google Shape;2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174" y="1420238"/>
            <a:ext cx="2882626" cy="320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AEBD-8ACA-1940-9581-140D6070B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Resources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DFCAC-1319-6DC5-6C70-195B01321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898" indent="0">
              <a:buNone/>
            </a:pPr>
            <a:endParaRPr lang="en-CA" dirty="0"/>
          </a:p>
          <a:p>
            <a:pPr marL="88898" indent="0">
              <a:buNone/>
            </a:pPr>
            <a:r>
              <a:rPr lang="en-CA" dirty="0"/>
              <a:t>I would like to thank </a:t>
            </a:r>
            <a:r>
              <a:rPr lang="en-CA" b="1" dirty="0"/>
              <a:t>Dr. Steven S. </a:t>
            </a:r>
            <a:r>
              <a:rPr lang="en-CA" b="1" dirty="0" err="1"/>
              <a:t>Skiena</a:t>
            </a:r>
            <a:r>
              <a:rPr lang="en-CA" dirty="0"/>
              <a:t>, </a:t>
            </a:r>
            <a:r>
              <a:rPr lang="en-CA" b="1" dirty="0"/>
              <a:t>Dr. Christian Kästner</a:t>
            </a:r>
            <a:r>
              <a:rPr lang="en-CA" dirty="0"/>
              <a:t>, and </a:t>
            </a:r>
            <a:r>
              <a:rPr lang="en-CA" b="1" dirty="0"/>
              <a:t>Chip Huyen</a:t>
            </a:r>
            <a:r>
              <a:rPr lang="en-CA" dirty="0"/>
              <a:t> for the valuable resources they have provided through their coursework in machine learning and data science. Their materials have been instrumental in shaping my teaching in these areas.</a:t>
            </a:r>
          </a:p>
          <a:p>
            <a:pPr lvl="0"/>
            <a:r>
              <a:rPr lang="en-CA" dirty="0"/>
              <a:t>The Data Science Design Manual, Steven S. </a:t>
            </a:r>
            <a:r>
              <a:rPr lang="en-CA" dirty="0" err="1"/>
              <a:t>Skiena</a:t>
            </a:r>
            <a:endParaRPr lang="en-CA" dirty="0"/>
          </a:p>
          <a:p>
            <a:pPr lvl="0"/>
            <a:r>
              <a:rPr lang="en-CA" dirty="0"/>
              <a:t>Learning From Data, by Yaser S. Abu-Mostafa, Malik </a:t>
            </a:r>
            <a:r>
              <a:rPr lang="en-CA" dirty="0" err="1"/>
              <a:t>Magdon</a:t>
            </a:r>
            <a:r>
              <a:rPr lang="en-CA" dirty="0"/>
              <a:t>-Ismail, Hsuan-Tien Lin</a:t>
            </a:r>
          </a:p>
          <a:p>
            <a:pPr lvl="0"/>
            <a:r>
              <a:rPr lang="en-CA" dirty="0"/>
              <a:t>Machine Learning in Production: From Models to Products by Christian Kästner</a:t>
            </a:r>
          </a:p>
          <a:p>
            <a:pPr lvl="0"/>
            <a:r>
              <a:rPr lang="en-CA" dirty="0"/>
              <a:t>Designing Machine Learning Systems, Chip Huyen</a:t>
            </a:r>
          </a:p>
          <a:p>
            <a:pPr marL="88898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16015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322cefd-0a4c-4e2c-bde5-b17933e7b00f}" enabled="0" method="" siteId="{8322cefd-0a4c-4e2c-bde5-b17933e7b00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4122</TotalTime>
  <Words>3023</Words>
  <Application>Microsoft Office PowerPoint</Application>
  <PresentationFormat>On-screen Show (16:9)</PresentationFormat>
  <Paragraphs>273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Retrospect</vt:lpstr>
      <vt:lpstr>Statistical Distribution </vt:lpstr>
      <vt:lpstr>Statistics and Data Science</vt:lpstr>
      <vt:lpstr>The Central Dogma of Statistics</vt:lpstr>
      <vt:lpstr>Statistical Data Distributions</vt:lpstr>
      <vt:lpstr>Significance of Classical Distributions</vt:lpstr>
      <vt:lpstr>Binomial Distributions</vt:lpstr>
      <vt:lpstr>Properties of Binomial Distributions</vt:lpstr>
      <vt:lpstr>Variance of the Binomial Distribution</vt:lpstr>
      <vt:lpstr>The Normal Distribution</vt:lpstr>
      <vt:lpstr>Interpreting the Normal Distribution</vt:lpstr>
      <vt:lpstr>What’s not Normal?</vt:lpstr>
      <vt:lpstr>The Central Limit Theorem</vt:lpstr>
      <vt:lpstr>The Binomial Distribution is Normal</vt:lpstr>
      <vt:lpstr>Lifespan/Geometric Distributions</vt:lpstr>
      <vt:lpstr>Example</vt:lpstr>
      <vt:lpstr>The Poisson Distribution</vt:lpstr>
      <vt:lpstr>Example </vt:lpstr>
      <vt:lpstr>Distribution of Human Lifespans</vt:lpstr>
      <vt:lpstr>Distribution of Kids per Family</vt:lpstr>
      <vt:lpstr>Power Law Distributions</vt:lpstr>
      <vt:lpstr>City Population Yield Power Laws</vt:lpstr>
      <vt:lpstr>Linear and Log-Log Plots for City Pop</vt:lpstr>
      <vt:lpstr>Wealth Yields Power Laws</vt:lpstr>
      <vt:lpstr>Definitions of Power Laws</vt:lpstr>
      <vt:lpstr>Many Distributions are Power Laws</vt:lpstr>
      <vt:lpstr>Resources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Fatemeh Riahi</cp:lastModifiedBy>
  <cp:revision>1</cp:revision>
  <dcterms:modified xsi:type="dcterms:W3CDTF">2026-10-09T00:16:06Z</dcterms:modified>
</cp:coreProperties>
</file>