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5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7" r:id="rId11"/>
    <p:sldId id="268" r:id="rId12"/>
    <p:sldId id="271" r:id="rId13"/>
    <p:sldId id="272" r:id="rId14"/>
    <p:sldId id="276" r:id="rId15"/>
    <p:sldId id="277" r:id="rId16"/>
    <p:sldId id="278" r:id="rId17"/>
    <p:sldId id="279" r:id="rId18"/>
    <p:sldId id="328" r:id="rId19"/>
    <p:sldId id="281" r:id="rId20"/>
    <p:sldId id="282" r:id="rId21"/>
    <p:sldId id="283" r:id="rId22"/>
    <p:sldId id="284" r:id="rId23"/>
    <p:sldId id="285" r:id="rId24"/>
    <p:sldId id="286" r:id="rId25"/>
    <p:sldId id="329" r:id="rId26"/>
    <p:sldId id="330" r:id="rId27"/>
    <p:sldId id="287" r:id="rId28"/>
    <p:sldId id="288" r:id="rId29"/>
    <p:sldId id="289" r:id="rId30"/>
    <p:sldId id="327" r:id="rId3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375C79F-15B2-4227-ABAE-34BE07E8A4C8}">
  <a:tblStyle styleId="{3375C79F-15B2-4227-ABAE-34BE07E8A4C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43679" autoAdjust="0"/>
  </p:normalViewPr>
  <p:slideViewPr>
    <p:cSldViewPr snapToGrid="0">
      <p:cViewPr varScale="1">
        <p:scale>
          <a:sx n="43" d="100"/>
          <a:sy n="43" d="100"/>
        </p:scale>
        <p:origin x="196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emeh Riahi" userId="74741997-fb4f-4f28-9311-b07723505439" providerId="ADAL" clId="{FFDDAFA8-B5D5-4209-8C2A-81F22C0401E0}"/>
    <pc:docChg chg="undo custSel addSld delSld modSld">
      <pc:chgData name="Fatemeh Riahi" userId="74741997-fb4f-4f28-9311-b07723505439" providerId="ADAL" clId="{FFDDAFA8-B5D5-4209-8C2A-81F22C0401E0}" dt="2026-10-06T16:02:12.075" v="102" actId="47"/>
      <pc:docMkLst>
        <pc:docMk/>
      </pc:docMkLst>
      <pc:sldChg chg="del">
        <pc:chgData name="Fatemeh Riahi" userId="74741997-fb4f-4f28-9311-b07723505439" providerId="ADAL" clId="{FFDDAFA8-B5D5-4209-8C2A-81F22C0401E0}" dt="2026-10-06T16:01:29.190" v="77" actId="47"/>
        <pc:sldMkLst>
          <pc:docMk/>
          <pc:sldMk cId="0" sldId="294"/>
        </pc:sldMkLst>
      </pc:sldChg>
      <pc:sldChg chg="del">
        <pc:chgData name="Fatemeh Riahi" userId="74741997-fb4f-4f28-9311-b07723505439" providerId="ADAL" clId="{FFDDAFA8-B5D5-4209-8C2A-81F22C0401E0}" dt="2026-10-06T16:01:31.148" v="78" actId="47"/>
        <pc:sldMkLst>
          <pc:docMk/>
          <pc:sldMk cId="0" sldId="298"/>
        </pc:sldMkLst>
      </pc:sldChg>
      <pc:sldChg chg="del">
        <pc:chgData name="Fatemeh Riahi" userId="74741997-fb4f-4f28-9311-b07723505439" providerId="ADAL" clId="{FFDDAFA8-B5D5-4209-8C2A-81F22C0401E0}" dt="2026-10-06T16:01:32.221" v="79" actId="47"/>
        <pc:sldMkLst>
          <pc:docMk/>
          <pc:sldMk cId="0" sldId="299"/>
        </pc:sldMkLst>
      </pc:sldChg>
      <pc:sldChg chg="del">
        <pc:chgData name="Fatemeh Riahi" userId="74741997-fb4f-4f28-9311-b07723505439" providerId="ADAL" clId="{FFDDAFA8-B5D5-4209-8C2A-81F22C0401E0}" dt="2026-10-06T16:01:33.258" v="80" actId="47"/>
        <pc:sldMkLst>
          <pc:docMk/>
          <pc:sldMk cId="0" sldId="300"/>
        </pc:sldMkLst>
      </pc:sldChg>
      <pc:sldChg chg="del">
        <pc:chgData name="Fatemeh Riahi" userId="74741997-fb4f-4f28-9311-b07723505439" providerId="ADAL" clId="{FFDDAFA8-B5D5-4209-8C2A-81F22C0401E0}" dt="2026-10-06T16:01:33.832" v="81" actId="47"/>
        <pc:sldMkLst>
          <pc:docMk/>
          <pc:sldMk cId="0" sldId="301"/>
        </pc:sldMkLst>
      </pc:sldChg>
      <pc:sldChg chg="del">
        <pc:chgData name="Fatemeh Riahi" userId="74741997-fb4f-4f28-9311-b07723505439" providerId="ADAL" clId="{FFDDAFA8-B5D5-4209-8C2A-81F22C0401E0}" dt="2026-10-06T16:01:34.721" v="82" actId="47"/>
        <pc:sldMkLst>
          <pc:docMk/>
          <pc:sldMk cId="0" sldId="302"/>
        </pc:sldMkLst>
      </pc:sldChg>
      <pc:sldChg chg="del">
        <pc:chgData name="Fatemeh Riahi" userId="74741997-fb4f-4f28-9311-b07723505439" providerId="ADAL" clId="{FFDDAFA8-B5D5-4209-8C2A-81F22C0401E0}" dt="2026-10-06T16:01:35.196" v="83" actId="47"/>
        <pc:sldMkLst>
          <pc:docMk/>
          <pc:sldMk cId="0" sldId="303"/>
        </pc:sldMkLst>
      </pc:sldChg>
      <pc:sldChg chg="del">
        <pc:chgData name="Fatemeh Riahi" userId="74741997-fb4f-4f28-9311-b07723505439" providerId="ADAL" clId="{FFDDAFA8-B5D5-4209-8C2A-81F22C0401E0}" dt="2026-10-06T16:01:35.882" v="84" actId="47"/>
        <pc:sldMkLst>
          <pc:docMk/>
          <pc:sldMk cId="0" sldId="304"/>
        </pc:sldMkLst>
      </pc:sldChg>
      <pc:sldChg chg="del">
        <pc:chgData name="Fatemeh Riahi" userId="74741997-fb4f-4f28-9311-b07723505439" providerId="ADAL" clId="{FFDDAFA8-B5D5-4209-8C2A-81F22C0401E0}" dt="2026-10-06T16:01:36.646" v="85" actId="47"/>
        <pc:sldMkLst>
          <pc:docMk/>
          <pc:sldMk cId="0" sldId="305"/>
        </pc:sldMkLst>
      </pc:sldChg>
      <pc:sldChg chg="del">
        <pc:chgData name="Fatemeh Riahi" userId="74741997-fb4f-4f28-9311-b07723505439" providerId="ADAL" clId="{FFDDAFA8-B5D5-4209-8C2A-81F22C0401E0}" dt="2026-10-06T16:01:37.219" v="86" actId="47"/>
        <pc:sldMkLst>
          <pc:docMk/>
          <pc:sldMk cId="0" sldId="307"/>
        </pc:sldMkLst>
      </pc:sldChg>
      <pc:sldChg chg="del">
        <pc:chgData name="Fatemeh Riahi" userId="74741997-fb4f-4f28-9311-b07723505439" providerId="ADAL" clId="{FFDDAFA8-B5D5-4209-8C2A-81F22C0401E0}" dt="2026-10-06T16:01:37.849" v="87" actId="47"/>
        <pc:sldMkLst>
          <pc:docMk/>
          <pc:sldMk cId="0" sldId="308"/>
        </pc:sldMkLst>
      </pc:sldChg>
      <pc:sldChg chg="del">
        <pc:chgData name="Fatemeh Riahi" userId="74741997-fb4f-4f28-9311-b07723505439" providerId="ADAL" clId="{FFDDAFA8-B5D5-4209-8C2A-81F22C0401E0}" dt="2026-10-06T16:01:38.621" v="88" actId="47"/>
        <pc:sldMkLst>
          <pc:docMk/>
          <pc:sldMk cId="0" sldId="309"/>
        </pc:sldMkLst>
      </pc:sldChg>
      <pc:sldChg chg="del">
        <pc:chgData name="Fatemeh Riahi" userId="74741997-fb4f-4f28-9311-b07723505439" providerId="ADAL" clId="{FFDDAFA8-B5D5-4209-8C2A-81F22C0401E0}" dt="2026-10-06T16:01:39.467" v="89" actId="47"/>
        <pc:sldMkLst>
          <pc:docMk/>
          <pc:sldMk cId="0" sldId="310"/>
        </pc:sldMkLst>
      </pc:sldChg>
      <pc:sldChg chg="del">
        <pc:chgData name="Fatemeh Riahi" userId="74741997-fb4f-4f28-9311-b07723505439" providerId="ADAL" clId="{FFDDAFA8-B5D5-4209-8C2A-81F22C0401E0}" dt="2026-10-06T16:01:40.342" v="90" actId="47"/>
        <pc:sldMkLst>
          <pc:docMk/>
          <pc:sldMk cId="0" sldId="311"/>
        </pc:sldMkLst>
      </pc:sldChg>
      <pc:sldChg chg="del">
        <pc:chgData name="Fatemeh Riahi" userId="74741997-fb4f-4f28-9311-b07723505439" providerId="ADAL" clId="{FFDDAFA8-B5D5-4209-8C2A-81F22C0401E0}" dt="2026-10-06T16:01:41.850" v="92" actId="47"/>
        <pc:sldMkLst>
          <pc:docMk/>
          <pc:sldMk cId="0" sldId="312"/>
        </pc:sldMkLst>
      </pc:sldChg>
      <pc:sldChg chg="del">
        <pc:chgData name="Fatemeh Riahi" userId="74741997-fb4f-4f28-9311-b07723505439" providerId="ADAL" clId="{FFDDAFA8-B5D5-4209-8C2A-81F22C0401E0}" dt="2026-10-06T16:01:43.138" v="94" actId="47"/>
        <pc:sldMkLst>
          <pc:docMk/>
          <pc:sldMk cId="0" sldId="313"/>
        </pc:sldMkLst>
      </pc:sldChg>
      <pc:sldChg chg="del">
        <pc:chgData name="Fatemeh Riahi" userId="74741997-fb4f-4f28-9311-b07723505439" providerId="ADAL" clId="{FFDDAFA8-B5D5-4209-8C2A-81F22C0401E0}" dt="2026-10-06T16:01:43.724" v="95" actId="47"/>
        <pc:sldMkLst>
          <pc:docMk/>
          <pc:sldMk cId="0" sldId="315"/>
        </pc:sldMkLst>
      </pc:sldChg>
      <pc:sldChg chg="del">
        <pc:chgData name="Fatemeh Riahi" userId="74741997-fb4f-4f28-9311-b07723505439" providerId="ADAL" clId="{FFDDAFA8-B5D5-4209-8C2A-81F22C0401E0}" dt="2026-10-06T16:01:44.349" v="96" actId="47"/>
        <pc:sldMkLst>
          <pc:docMk/>
          <pc:sldMk cId="0" sldId="316"/>
        </pc:sldMkLst>
      </pc:sldChg>
      <pc:sldChg chg="del">
        <pc:chgData name="Fatemeh Riahi" userId="74741997-fb4f-4f28-9311-b07723505439" providerId="ADAL" clId="{FFDDAFA8-B5D5-4209-8C2A-81F22C0401E0}" dt="2026-10-06T16:01:44.949" v="97" actId="47"/>
        <pc:sldMkLst>
          <pc:docMk/>
          <pc:sldMk cId="0" sldId="317"/>
        </pc:sldMkLst>
      </pc:sldChg>
      <pc:sldChg chg="del">
        <pc:chgData name="Fatemeh Riahi" userId="74741997-fb4f-4f28-9311-b07723505439" providerId="ADAL" clId="{FFDDAFA8-B5D5-4209-8C2A-81F22C0401E0}" dt="2026-10-06T16:01:45.667" v="98" actId="47"/>
        <pc:sldMkLst>
          <pc:docMk/>
          <pc:sldMk cId="0" sldId="318"/>
        </pc:sldMkLst>
      </pc:sldChg>
      <pc:sldChg chg="del">
        <pc:chgData name="Fatemeh Riahi" userId="74741997-fb4f-4f28-9311-b07723505439" providerId="ADAL" clId="{FFDDAFA8-B5D5-4209-8C2A-81F22C0401E0}" dt="2026-10-06T16:01:46.296" v="99" actId="47"/>
        <pc:sldMkLst>
          <pc:docMk/>
          <pc:sldMk cId="0" sldId="319"/>
        </pc:sldMkLst>
      </pc:sldChg>
      <pc:sldChg chg="del">
        <pc:chgData name="Fatemeh Riahi" userId="74741997-fb4f-4f28-9311-b07723505439" providerId="ADAL" clId="{FFDDAFA8-B5D5-4209-8C2A-81F22C0401E0}" dt="2026-10-06T16:01:12.007" v="74" actId="47"/>
        <pc:sldMkLst>
          <pc:docMk/>
          <pc:sldMk cId="0" sldId="320"/>
        </pc:sldMkLst>
      </pc:sldChg>
      <pc:sldChg chg="del">
        <pc:chgData name="Fatemeh Riahi" userId="74741997-fb4f-4f28-9311-b07723505439" providerId="ADAL" clId="{FFDDAFA8-B5D5-4209-8C2A-81F22C0401E0}" dt="2026-10-06T16:01:10.659" v="73" actId="47"/>
        <pc:sldMkLst>
          <pc:docMk/>
          <pc:sldMk cId="0" sldId="321"/>
        </pc:sldMkLst>
      </pc:sldChg>
      <pc:sldChg chg="add del">
        <pc:chgData name="Fatemeh Riahi" userId="74741997-fb4f-4f28-9311-b07723505439" providerId="ADAL" clId="{FFDDAFA8-B5D5-4209-8C2A-81F22C0401E0}" dt="2026-10-06T16:01:48.362" v="101" actId="47"/>
        <pc:sldMkLst>
          <pc:docMk/>
          <pc:sldMk cId="2061601595" sldId="327"/>
        </pc:sldMkLst>
      </pc:sldChg>
      <pc:sldChg chg="del">
        <pc:chgData name="Fatemeh Riahi" userId="74741997-fb4f-4f28-9311-b07723505439" providerId="ADAL" clId="{FFDDAFA8-B5D5-4209-8C2A-81F22C0401E0}" dt="2026-10-06T16:01:41.089" v="91" actId="47"/>
        <pc:sldMkLst>
          <pc:docMk/>
          <pc:sldMk cId="2033786186" sldId="331"/>
        </pc:sldMkLst>
      </pc:sldChg>
      <pc:sldChg chg="del">
        <pc:chgData name="Fatemeh Riahi" userId="74741997-fb4f-4f28-9311-b07723505439" providerId="ADAL" clId="{FFDDAFA8-B5D5-4209-8C2A-81F22C0401E0}" dt="2026-10-06T16:01:42.486" v="93" actId="47"/>
        <pc:sldMkLst>
          <pc:docMk/>
          <pc:sldMk cId="720772107" sldId="332"/>
        </pc:sldMkLst>
      </pc:sldChg>
      <pc:sldChg chg="new add del modNotesTx">
        <pc:chgData name="Fatemeh Riahi" userId="74741997-fb4f-4f28-9311-b07723505439" providerId="ADAL" clId="{FFDDAFA8-B5D5-4209-8C2A-81F22C0401E0}" dt="2026-10-06T16:02:12.075" v="102" actId="47"/>
        <pc:sldMkLst>
          <pc:docMk/>
          <pc:sldMk cId="1563569496" sldId="33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Page r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73bac2a5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173bac2a5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73bac299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73bac299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36fe2f64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36fe2f64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73bac2a5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73bac2a5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73bac2a5c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73bac2a5c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b="0" dirty="0"/>
              <a:t>1. What this slide is about</a:t>
            </a:r>
          </a:p>
          <a:p>
            <a:r>
              <a:rPr lang="en-CA" b="0" dirty="0"/>
              <a:t>The slide compares the relationship between height, weight, and BMI for professional basketball and football players.</a:t>
            </a:r>
          </a:p>
          <a:p>
            <a:r>
              <a:rPr lang="en-CA" b="0" dirty="0"/>
              <a:t>It helps us see how different sports have different body compositions — even when using the same BMI formula.</a:t>
            </a:r>
          </a:p>
          <a:p>
            <a:r>
              <a:rPr lang="en-CA" b="0" dirty="0"/>
              <a:t>2. What is BMI?</a:t>
            </a:r>
          </a:p>
          <a:p>
            <a:r>
              <a:rPr lang="en-CA" b="0" dirty="0"/>
              <a:t>BMI (Body Mass Index) = weight (kg) / height (m)²</a:t>
            </a:r>
          </a:p>
          <a:p>
            <a:r>
              <a:rPr lang="en-CA" b="0" dirty="0"/>
              <a:t>It’s a simple way to estimate body fat and categorize people as normal, overweight, or obese.</a:t>
            </a:r>
          </a:p>
          <a:p>
            <a:r>
              <a:rPr lang="en-CA" b="0" dirty="0"/>
              <a:t>It assumes that as a person’s height increases, their mass should grow roughly with the square of height (or sometimes even the cube, depending on the body type).</a:t>
            </a:r>
          </a:p>
          <a:p>
            <a:r>
              <a:rPr lang="en-CA" b="0" dirty="0"/>
              <a:t>3. Understanding the plots</a:t>
            </a:r>
          </a:p>
          <a:p>
            <a:r>
              <a:rPr lang="en-CA" b="0" dirty="0"/>
              <a:t>Both graphs show Height (m) on the Y-axis and Weight (kg) on the X-axis.</a:t>
            </a:r>
          </a:p>
          <a:p>
            <a:r>
              <a:rPr lang="en-CA" b="0" dirty="0"/>
              <a:t>Each dot represents one player.</a:t>
            </a:r>
          </a:p>
          <a:p>
            <a:r>
              <a:rPr lang="en-CA" b="0" dirty="0"/>
              <a:t>Colors:</a:t>
            </a:r>
          </a:p>
          <a:p>
            <a:pPr lvl="1"/>
            <a:r>
              <a:rPr lang="en-CA" b="0" dirty="0"/>
              <a:t>🔴 Red = normal BMI</a:t>
            </a:r>
          </a:p>
          <a:p>
            <a:pPr lvl="1"/>
            <a:r>
              <a:rPr lang="en-CA" b="0" dirty="0"/>
              <a:t>🟢 Green = overweight</a:t>
            </a:r>
          </a:p>
          <a:p>
            <a:pPr lvl="1"/>
            <a:r>
              <a:rPr lang="en-CA" b="0" dirty="0"/>
              <a:t>🔵 Blue = obese</a:t>
            </a:r>
          </a:p>
          <a:p>
            <a:r>
              <a:rPr lang="en-CA" b="0" dirty="0"/>
              <a:t>4. Basketball vs. Football</a:t>
            </a:r>
          </a:p>
          <a:p>
            <a:r>
              <a:rPr lang="en-CA" b="0" dirty="0"/>
              <a:t>Basketball players (left chart):</a:t>
            </a:r>
          </a:p>
          <a:p>
            <a:pPr lvl="1"/>
            <a:r>
              <a:rPr lang="en-CA" b="0" dirty="0"/>
              <a:t>Tend to be taller (1.9–2.2 m) and relatively leaner.</a:t>
            </a:r>
          </a:p>
          <a:p>
            <a:pPr lvl="1"/>
            <a:r>
              <a:rPr lang="en-CA" b="0" dirty="0"/>
              <a:t>Most are in the normal or slightly overweight BMI range.</a:t>
            </a:r>
          </a:p>
          <a:p>
            <a:pPr lvl="1"/>
            <a:r>
              <a:rPr lang="en-CA" b="0" dirty="0"/>
              <a:t>You see fewer “obese” dots because muscle and height balance out.</a:t>
            </a:r>
          </a:p>
          <a:p>
            <a:r>
              <a:rPr lang="en-CA" b="0" dirty="0"/>
              <a:t>Football players (right chart):</a:t>
            </a:r>
          </a:p>
          <a:p>
            <a:pPr lvl="1"/>
            <a:r>
              <a:rPr lang="en-CA" b="0" dirty="0"/>
              <a:t>Are generally shorter (1.7–1.9 m) but heavier.</a:t>
            </a:r>
          </a:p>
          <a:p>
            <a:pPr lvl="1"/>
            <a:r>
              <a:rPr lang="en-CA" b="0" dirty="0"/>
              <a:t>Many fall in the overweight or obese BMI categories.</a:t>
            </a:r>
          </a:p>
          <a:p>
            <a:pPr lvl="1"/>
            <a:r>
              <a:rPr lang="en-CA" b="0" dirty="0"/>
              <a:t>This doesn’t mean they’re unhealthy — they often have more muscle mass, which BMI doesn’t distinguish from fat.</a:t>
            </a:r>
          </a:p>
          <a:p>
            <a:r>
              <a:rPr lang="en-CA" b="0" dirty="0"/>
              <a:t>5. Key takeaway</a:t>
            </a:r>
          </a:p>
          <a:p>
            <a:r>
              <a:rPr lang="en-CA" b="0" dirty="0"/>
              <a:t>BMI is simple but imperfect.</a:t>
            </a:r>
            <a:br>
              <a:rPr lang="en-CA" b="0" dirty="0"/>
            </a:br>
            <a:r>
              <a:rPr lang="en-CA" b="0" dirty="0"/>
              <a:t>It works well for general population estimates but not for athletes with a lot of muscle.</a:t>
            </a:r>
          </a:p>
          <a:p>
            <a:r>
              <a:rPr lang="en-CA" b="0" dirty="0"/>
              <a:t>The graphs highlight that context matters — a football player and a basketball player with the same BMI may have very different body compositions.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f10f83ec1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f10f83ec1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b="0" dirty="0"/>
              <a:t>“Map a student’s transcript to one number where higher = better performance.”</a:t>
            </a:r>
          </a:p>
          <a:p>
            <a:r>
              <a:rPr lang="en-CA" b="0" dirty="0"/>
              <a:t>🧩 Key idea</a:t>
            </a:r>
          </a:p>
          <a:p>
            <a:r>
              <a:rPr lang="en-CA" b="0" dirty="0"/>
              <a:t>There isn’t a single “right” score. You must choose what you value (consistency? difficulty? improvement?) and design a formula that reflects that—just like BMI and Flesch.</a:t>
            </a:r>
          </a:p>
          <a:p>
            <a:r>
              <a:rPr lang="en-CA" b="0" dirty="0"/>
              <a:t>Candidate scoring functions (with what they reward &amp; drawbacks)</a:t>
            </a:r>
          </a:p>
          <a:p>
            <a:r>
              <a:rPr lang="en-CA" b="0" dirty="0"/>
              <a:t>Simple GPA (credit-weighted mean)</a:t>
            </a:r>
          </a:p>
          <a:p>
            <a:r>
              <a:rPr lang="en-CA" b="0" dirty="0"/>
              <a:t>Drawbacks: treats all courses as equally hard; ignores improvement trend.</a:t>
            </a:r>
          </a:p>
          <a:p>
            <a:r>
              <a:rPr lang="en-CA" b="0" dirty="0"/>
              <a:t>Difficulty-weighted GPA</a:t>
            </a:r>
          </a:p>
          <a:p>
            <a:r>
              <a:rPr lang="en-CA" b="0" dirty="0"/>
              <a:t>Values: tougher, higher-level courses.</a:t>
            </a:r>
          </a:p>
          <a:p>
            <a:r>
              <a:rPr lang="en-CA" b="0" dirty="0"/>
              <a:t>Drawbacks: picking weights is subjective; may disadvantage students early on.</a:t>
            </a:r>
          </a:p>
          <a:p>
            <a:r>
              <a:rPr lang="en-CA" b="0" dirty="0"/>
              <a:t>Recency-weighted GPA (improvement matters)</a:t>
            </a:r>
          </a:p>
          <a:p>
            <a:r>
              <a:rPr lang="en-CA" b="0" dirty="0"/>
              <a:t>Drawbacks: can underplay earlier strong terms.</a:t>
            </a:r>
          </a:p>
          <a:p>
            <a:r>
              <a:rPr lang="en-CA" b="0" dirty="0"/>
              <a:t>Robust GPA (trimmed mean)</a:t>
            </a:r>
          </a:p>
          <a:p>
            <a:r>
              <a:rPr lang="en-CA" b="0" dirty="0"/>
              <a:t>Drop the lowest and highest 10% of course grades (by credits), then average.</a:t>
            </a:r>
          </a:p>
          <a:p>
            <a:r>
              <a:rPr lang="en-CA" b="0" dirty="0"/>
              <a:t>Values: consistency; less sensitive to one anomaly.</a:t>
            </a:r>
          </a:p>
          <a:p>
            <a:r>
              <a:rPr lang="en-CA" b="0" dirty="0"/>
              <a:t>Drawbacks: throws away data; needs enough courses to be fair.</a:t>
            </a:r>
          </a:p>
          <a:p>
            <a:r>
              <a:rPr lang="en-CA" b="0" dirty="0"/>
              <a:t>Excellence with consistency (mean – variance penalty)</a:t>
            </a:r>
          </a:p>
          <a:p>
            <a:r>
              <a:rPr lang="en-CA" b="0" dirty="0"/>
              <a:t>Drawbacks: penalizes risk-taking (e.g., hard electives).</a:t>
            </a:r>
          </a:p>
          <a:p>
            <a:r>
              <a:rPr lang="en-CA" b="0" dirty="0"/>
              <a:t>Cohort-relative score (z-GPA)</a:t>
            </a:r>
          </a:p>
          <a:p>
            <a:r>
              <a:rPr lang="en-CA" b="0" dirty="0"/>
              <a:t>Drawbacks: needs cohort stats; can be sensitive to small groups.</a:t>
            </a:r>
          </a:p>
          <a:p>
            <a:r>
              <a:rPr lang="en-CA" b="0" dirty="0"/>
              <a:t>Quick example to illustrate (say aloud)</a:t>
            </a:r>
          </a:p>
          <a:p>
            <a:r>
              <a:rPr lang="en-CA" b="0" dirty="0"/>
              <a:t>“Imagine two students both at 80% average. One took mostly 1st-year courses; the other took 3rd-year heavy courses and improved from 72% to 88%. Simple GPA says they’re equal. A difficulty-weighted or recency-weighted score would rank the second student higher. Different scoring choices → different rankings.”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73bac2a5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73bac2a5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b="0" dirty="0"/>
              <a:t>🥇 Gold Standard</a:t>
            </a:r>
          </a:p>
          <a:p>
            <a:r>
              <a:rPr lang="en-CA" b="0" dirty="0"/>
              <a:t>A gold standard is the </a:t>
            </a:r>
            <a:r>
              <a:rPr lang="en-CA" b="0" i="1" dirty="0"/>
              <a:t>true</a:t>
            </a:r>
            <a:r>
              <a:rPr lang="en-CA" b="0" dirty="0"/>
              <a:t>, </a:t>
            </a:r>
            <a:r>
              <a:rPr lang="en-CA" b="0" i="1" dirty="0"/>
              <a:t>trusted</a:t>
            </a:r>
            <a:r>
              <a:rPr lang="en-CA" b="0" dirty="0"/>
              <a:t>, or </a:t>
            </a:r>
            <a:r>
              <a:rPr lang="en-CA" b="0" i="1" dirty="0"/>
              <a:t>ideal</a:t>
            </a:r>
            <a:r>
              <a:rPr lang="en-CA" b="0" dirty="0"/>
              <a:t> answer — the one we wish we had for every case.</a:t>
            </a:r>
          </a:p>
          <a:p>
            <a:r>
              <a:rPr lang="en-CA" b="0" dirty="0"/>
              <a:t>It represents ground truth — the correct outcome we’d use to judge or train a model.</a:t>
            </a:r>
          </a:p>
          <a:p>
            <a:r>
              <a:rPr lang="en-CA" b="0" dirty="0"/>
              <a:t>Example:</a:t>
            </a:r>
          </a:p>
          <a:p>
            <a:pPr lvl="1"/>
            <a:r>
              <a:rPr lang="en-CA" b="0" dirty="0"/>
              <a:t>In medical testing → a biopsy result is the gold standard for diagnosing cancer.</a:t>
            </a:r>
          </a:p>
          <a:p>
            <a:pPr lvl="1"/>
            <a:r>
              <a:rPr lang="en-CA" b="0" dirty="0"/>
              <a:t>In grading → your final instructor-assigned grade is the gold standard for how well you did.</a:t>
            </a:r>
          </a:p>
          <a:p>
            <a:r>
              <a:rPr lang="en-CA" b="0" dirty="0"/>
              <a:t>🧩 Proxy</a:t>
            </a:r>
          </a:p>
          <a:p>
            <a:r>
              <a:rPr lang="en-CA" b="0" dirty="0"/>
              <a:t>A proxy is a substitute measurement — something easier to get that is correlated with what we truly care about.</a:t>
            </a:r>
          </a:p>
          <a:p>
            <a:r>
              <a:rPr lang="en-CA" b="0" dirty="0"/>
              <a:t>We use proxies when the gold standard is hard, slow, or expensive to obtain.</a:t>
            </a:r>
          </a:p>
          <a:p>
            <a:r>
              <a:rPr lang="en-CA" b="0" dirty="0"/>
              <a:t>Example:</a:t>
            </a:r>
          </a:p>
          <a:p>
            <a:pPr lvl="1"/>
            <a:r>
              <a:rPr lang="en-CA" b="0" dirty="0"/>
              <a:t>A blood pressure reading is a proxy for heart health.</a:t>
            </a:r>
          </a:p>
          <a:p>
            <a:pPr lvl="1"/>
            <a:r>
              <a:rPr lang="en-CA" b="0" dirty="0"/>
              <a:t>GPA, SAT, or GRE is a proxy for predicting academic success — they’re not perfect, but they’re correlated.</a:t>
            </a:r>
          </a:p>
          <a:p>
            <a:r>
              <a:rPr lang="en-CA" b="0" dirty="0"/>
              <a:t>⚖️ Why this matters</a:t>
            </a:r>
          </a:p>
          <a:p>
            <a:r>
              <a:rPr lang="en-CA" b="0" dirty="0"/>
              <a:t>In data science, we often can’t measure what we </a:t>
            </a:r>
            <a:r>
              <a:rPr lang="en-CA" b="0" i="1" dirty="0"/>
              <a:t>really</a:t>
            </a:r>
            <a:r>
              <a:rPr lang="en-CA" b="0" dirty="0"/>
              <a:t> want.</a:t>
            </a:r>
            <a:br>
              <a:rPr lang="en-CA" b="0" dirty="0"/>
            </a:br>
            <a:r>
              <a:rPr lang="en-CA" b="0" dirty="0"/>
              <a:t>So we use proxies instead — but we must remember they’re approximations, not the truth.</a:t>
            </a:r>
          </a:p>
          <a:p>
            <a:r>
              <a:rPr lang="en-CA" b="0" dirty="0"/>
              <a:t>Example:</a:t>
            </a:r>
          </a:p>
          <a:p>
            <a:pPr lvl="1"/>
            <a:r>
              <a:rPr lang="en-CA" b="0" dirty="0"/>
              <a:t>If we want to measure </a:t>
            </a:r>
            <a:r>
              <a:rPr lang="en-CA" b="0" i="1" dirty="0"/>
              <a:t>student understanding</a:t>
            </a:r>
            <a:r>
              <a:rPr lang="en-CA" b="0" dirty="0"/>
              <a:t>, using </a:t>
            </a:r>
            <a:r>
              <a:rPr lang="en-CA" b="0" i="1" dirty="0"/>
              <a:t>quiz grades</a:t>
            </a:r>
            <a:r>
              <a:rPr lang="en-CA" b="0" dirty="0"/>
              <a:t> might be a proxy — but they can be influenced by stress or test design.</a:t>
            </a:r>
          </a:p>
          <a:p>
            <a:r>
              <a:rPr lang="en-CA" b="0" dirty="0"/>
              <a:t>💡 Simple analogy</a:t>
            </a:r>
          </a:p>
          <a:p>
            <a:r>
              <a:rPr lang="en-CA" b="0" dirty="0"/>
              <a:t>Think of it like trying to estimate a person’s </a:t>
            </a:r>
            <a:r>
              <a:rPr lang="en-CA" b="0" i="1" dirty="0"/>
              <a:t>fitness</a:t>
            </a:r>
            <a:r>
              <a:rPr lang="en-CA" b="0" dirty="0"/>
              <a:t>:</a:t>
            </a:r>
          </a:p>
          <a:p>
            <a:r>
              <a:rPr lang="en-CA" b="0" dirty="0"/>
              <a:t>The gold standard = full medical evaluation + endurance test.</a:t>
            </a:r>
          </a:p>
          <a:p>
            <a:r>
              <a:rPr lang="en-CA" b="0" dirty="0"/>
              <a:t>The proxy = number of steps on your smartwatch.</a:t>
            </a:r>
            <a:br>
              <a:rPr lang="en-CA" b="0" dirty="0"/>
            </a:br>
            <a:r>
              <a:rPr lang="en-CA" b="0" dirty="0"/>
              <a:t>The proxy is helpful — but it can be fooled (e.g., shaking your wrist adds “fake steps”).</a:t>
            </a:r>
          </a:p>
          <a:p>
            <a:r>
              <a:rPr lang="en-CA" b="0" dirty="0"/>
              <a:t>🧭 In short</a:t>
            </a:r>
          </a:p>
          <a:p>
            <a:r>
              <a:rPr lang="en-CA" b="0" dirty="0"/>
              <a:t>Gold standard = What we </a:t>
            </a:r>
            <a:r>
              <a:rPr lang="en-CA" b="0" i="1" dirty="0"/>
              <a:t>wish</a:t>
            </a:r>
            <a:r>
              <a:rPr lang="en-CA" b="0" dirty="0"/>
              <a:t> we could measure directly (truth).</a:t>
            </a:r>
          </a:p>
          <a:p>
            <a:r>
              <a:rPr lang="en-CA" b="0" dirty="0"/>
              <a:t>Proxy = What we </a:t>
            </a:r>
            <a:r>
              <a:rPr lang="en-CA" b="0" i="1" dirty="0"/>
              <a:t>actually</a:t>
            </a:r>
            <a:r>
              <a:rPr lang="en-CA" b="0" dirty="0"/>
              <a:t> measure (easier, cheaper, but imperfect).</a:t>
            </a:r>
          </a:p>
          <a:p>
            <a:r>
              <a:rPr lang="en-CA" b="0" dirty="0"/>
              <a:t>The closer the proxy tracks the gold standard, the better your scoring function.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73bac2a5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73bac2a5c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b="0" dirty="0"/>
              <a:t>🧩 Connecting to the previous slide</a:t>
            </a:r>
          </a:p>
          <a:p>
            <a:r>
              <a:rPr lang="en-CA" b="0" dirty="0"/>
              <a:t>We just talked about gold standards (true answers) and proxies (approximate signals).</a:t>
            </a:r>
          </a:p>
          <a:p>
            <a:r>
              <a:rPr lang="en-CA" b="0" dirty="0"/>
              <a:t>This slide shows why that difference matters — especially when using data for prediction or evaluation.</a:t>
            </a:r>
          </a:p>
          <a:p>
            <a:r>
              <a:rPr lang="en-CA" b="0" dirty="0"/>
              <a:t>⚙️ When you have a gold standard</a:t>
            </a:r>
          </a:p>
          <a:p>
            <a:r>
              <a:rPr lang="en-CA" b="0" dirty="0"/>
              <a:t>If you </a:t>
            </a:r>
            <a:r>
              <a:rPr lang="en-CA" b="0" i="1" dirty="0"/>
              <a:t>know the true answer</a:t>
            </a:r>
            <a:r>
              <a:rPr lang="en-CA" b="0" dirty="0"/>
              <a:t>, you can train a machine learning model to predict it.</a:t>
            </a:r>
          </a:p>
          <a:p>
            <a:r>
              <a:rPr lang="en-CA" b="0" dirty="0"/>
              <a:t>For example:</a:t>
            </a:r>
          </a:p>
          <a:p>
            <a:pPr lvl="1"/>
            <a:r>
              <a:rPr lang="en-CA" b="0" dirty="0"/>
              <a:t>If you have many medical images labeled </a:t>
            </a:r>
            <a:r>
              <a:rPr lang="en-CA" b="0" i="1" dirty="0"/>
              <a:t>“cancer” vs. “no cancer”</a:t>
            </a:r>
            <a:r>
              <a:rPr lang="en-CA" b="0" dirty="0"/>
              <a:t> by doctors (the gold standard),</a:t>
            </a:r>
            <a:br>
              <a:rPr lang="en-CA" b="0" dirty="0"/>
            </a:br>
            <a:r>
              <a:rPr lang="en-CA" b="0" dirty="0"/>
              <a:t>→ you can train a regression or neural network model to predict new cases accurately.</a:t>
            </a:r>
          </a:p>
          <a:p>
            <a:r>
              <a:rPr lang="en-CA" b="0" dirty="0"/>
              <a:t>Machine learning thrives on accurate labels — the closer your labels are to truth, the better your predictions.</a:t>
            </a:r>
          </a:p>
          <a:p>
            <a:r>
              <a:rPr lang="en-CA" b="0" dirty="0"/>
              <a:t>📉 When you only have proxies</a:t>
            </a:r>
          </a:p>
          <a:p>
            <a:r>
              <a:rPr lang="en-CA" b="0" dirty="0"/>
              <a:t>If you don’t have true answers, you can’t train a predictive model properly.</a:t>
            </a:r>
          </a:p>
          <a:p>
            <a:pPr lvl="1"/>
            <a:r>
              <a:rPr lang="en-CA" b="0" dirty="0"/>
              <a:t>You can only make a scoring function — a rule that tries to approximate what matters.</a:t>
            </a:r>
          </a:p>
          <a:p>
            <a:r>
              <a:rPr lang="en-CA" b="0" dirty="0"/>
              <a:t>Example:</a:t>
            </a:r>
          </a:p>
          <a:p>
            <a:pPr lvl="1"/>
            <a:r>
              <a:rPr lang="en-CA" b="0" dirty="0"/>
              <a:t>You don’t know true “student potential,” but you can compute a score (like GPA, test results, or attendance).</a:t>
            </a:r>
          </a:p>
          <a:p>
            <a:pPr lvl="1"/>
            <a:r>
              <a:rPr lang="en-CA" b="0" dirty="0"/>
              <a:t>You can then </a:t>
            </a:r>
            <a:r>
              <a:rPr lang="en-CA" b="0" i="1" dirty="0"/>
              <a:t>evaluate</a:t>
            </a:r>
            <a:r>
              <a:rPr lang="en-CA" b="0" dirty="0"/>
              <a:t> how well that score correlates with future success — but it’s not truly predictive.</a:t>
            </a:r>
          </a:p>
          <a:p>
            <a:r>
              <a:rPr lang="en-CA" b="0" dirty="0"/>
              <a:t>⚠️ The danger: confusing proxies with gold standards</a:t>
            </a:r>
          </a:p>
          <a:p>
            <a:r>
              <a:rPr lang="en-CA" b="0" dirty="0"/>
              <a:t>The book </a:t>
            </a:r>
            <a:r>
              <a:rPr lang="en-CA" b="0" i="1" dirty="0"/>
              <a:t>Weapons of Math Destruction</a:t>
            </a:r>
            <a:r>
              <a:rPr lang="en-CA" b="0" dirty="0"/>
              <a:t> (by Cathy O’Neil) warns about this exact mistake.</a:t>
            </a:r>
          </a:p>
          <a:p>
            <a:r>
              <a:rPr lang="en-CA" b="0" dirty="0"/>
              <a:t>When people treat proxies (like test scores, credit scores, or performance ratings) as truth,</a:t>
            </a:r>
            <a:br>
              <a:rPr lang="en-CA" b="0" dirty="0"/>
            </a:br>
            <a:r>
              <a:rPr lang="en-CA" b="0" dirty="0"/>
              <a:t>→ it leads to unfair and harmful decisions.</a:t>
            </a:r>
          </a:p>
          <a:p>
            <a:r>
              <a:rPr lang="en-CA" b="0" dirty="0"/>
              <a:t>Example:</a:t>
            </a:r>
          </a:p>
          <a:p>
            <a:pPr lvl="1"/>
            <a:r>
              <a:rPr lang="en-CA" b="0" dirty="0"/>
              <a:t>Schools may judge teacher quality by student test scores,</a:t>
            </a:r>
            <a:br>
              <a:rPr lang="en-CA" b="0" dirty="0"/>
            </a:br>
            <a:r>
              <a:rPr lang="en-CA" b="0" dirty="0"/>
              <a:t>even though test results are influenced by many external factors (resources, background, stress, etc.).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73bac2a5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73bac2a5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b="0" dirty="0"/>
              <a:t>Both scores and rankings summarize performance — but they emphasize different things and can lead to different interpretations.</a:t>
            </a:r>
            <a:br>
              <a:rPr lang="en-CA" b="0" dirty="0"/>
            </a:br>
            <a:endParaRPr lang="en-CA" b="0" dirty="0"/>
          </a:p>
          <a:p>
            <a:r>
              <a:rPr lang="en-CA" b="0" dirty="0"/>
              <a:t>🧩 1. Scores give magnitude — Rankings give order</a:t>
            </a:r>
          </a:p>
          <a:p>
            <a:r>
              <a:rPr lang="en-CA" b="0" dirty="0"/>
              <a:t>A score tells </a:t>
            </a:r>
            <a:r>
              <a:rPr lang="en-CA" b="0" i="1" dirty="0"/>
              <a:t>how well</a:t>
            </a:r>
            <a:r>
              <a:rPr lang="en-CA" b="0" dirty="0"/>
              <a:t> something did, numerically.</a:t>
            </a:r>
            <a:br>
              <a:rPr lang="en-CA" b="0" dirty="0"/>
            </a:br>
            <a:r>
              <a:rPr lang="en-CA" b="0" dirty="0"/>
              <a:t>Example: “University A’s RPI score is 39.18.”</a:t>
            </a:r>
          </a:p>
          <a:p>
            <a:r>
              <a:rPr lang="en-CA" b="0" dirty="0"/>
              <a:t>A ranking tells </a:t>
            </a:r>
            <a:r>
              <a:rPr lang="en-CA" b="0" i="1" dirty="0"/>
              <a:t>relative position</a:t>
            </a:r>
            <a:r>
              <a:rPr lang="en-CA" b="0" dirty="0"/>
              <a:t> among others.</a:t>
            </a:r>
            <a:br>
              <a:rPr lang="en-CA" b="0" dirty="0"/>
            </a:br>
            <a:r>
              <a:rPr lang="en-CA" b="0" dirty="0"/>
              <a:t>Example: “University A is ranked 111th of 351.”</a:t>
            </a:r>
          </a:p>
          <a:p>
            <a:r>
              <a:rPr lang="en-CA" b="0" dirty="0"/>
              <a:t>Both describe performance — but scores show the amount of difference, while ranks only show who’s ahead.</a:t>
            </a:r>
          </a:p>
          <a:p>
            <a:r>
              <a:rPr lang="en-CA" b="0" dirty="0"/>
              <a:t>🔍 2. What makes interpretation tricky</a:t>
            </a:r>
          </a:p>
          <a:p>
            <a:r>
              <a:rPr lang="en-CA" b="0" dirty="0"/>
              <a:t>a. Will the numbers be presented in isolation?</a:t>
            </a:r>
          </a:p>
          <a:p>
            <a:r>
              <a:rPr lang="en-CA" b="0" dirty="0"/>
              <a:t>If you only show the rank (e.g., “111th”), it’s hard to know whether that’s </a:t>
            </a:r>
            <a:r>
              <a:rPr lang="en-CA" b="0" i="1" dirty="0"/>
              <a:t>good or bad</a:t>
            </a:r>
            <a:r>
              <a:rPr lang="en-CA" b="0" dirty="0"/>
              <a:t>.</a:t>
            </a:r>
          </a:p>
          <a:p>
            <a:r>
              <a:rPr lang="en-CA" b="0" dirty="0"/>
              <a:t>The same rank might mean very different things depending on how close everyone’s scores are.</a:t>
            </a:r>
            <a:br>
              <a:rPr lang="en-CA" b="0" dirty="0"/>
            </a:br>
            <a:r>
              <a:rPr lang="en-CA" b="0" dirty="0"/>
              <a:t>→ You need context — score distribution, scale, and total number of items.</a:t>
            </a:r>
          </a:p>
          <a:p>
            <a:r>
              <a:rPr lang="en-CA" b="0" dirty="0"/>
              <a:t>b. What is the distribution of scores?</a:t>
            </a:r>
          </a:p>
          <a:p>
            <a:r>
              <a:rPr lang="en-CA" b="0" dirty="0"/>
              <a:t>Suppose the top 50 teams are all tightly clustered (e.g., 39.5 vs 39.2 vs 39.1).</a:t>
            </a:r>
            <a:br>
              <a:rPr lang="en-CA" b="0" dirty="0"/>
            </a:br>
            <a:r>
              <a:rPr lang="en-CA" b="0" dirty="0"/>
              <a:t>Then a tiny difference in score can cause a </a:t>
            </a:r>
            <a:r>
              <a:rPr lang="en-CA" b="0" i="1" dirty="0"/>
              <a:t>big jump in rank</a:t>
            </a:r>
            <a:r>
              <a:rPr lang="en-CA" b="0" dirty="0"/>
              <a:t>.</a:t>
            </a:r>
          </a:p>
          <a:p>
            <a:r>
              <a:rPr lang="en-CA" b="0" dirty="0"/>
              <a:t>Rankings exaggerate small differences when the data are dense.</a:t>
            </a:r>
          </a:p>
          <a:p>
            <a:r>
              <a:rPr lang="en-CA" b="0" dirty="0"/>
              <a:t>c. Do you care about the middle or the extremes?</a:t>
            </a:r>
          </a:p>
          <a:p>
            <a:r>
              <a:rPr lang="en-CA" b="0" dirty="0"/>
              <a:t>Rankings highlight extremes (who’s #1, who’s last).</a:t>
            </a:r>
          </a:p>
          <a:p>
            <a:r>
              <a:rPr lang="en-CA" b="0" dirty="0"/>
              <a:t>Scores can better represent overall spread or average performance.</a:t>
            </a:r>
            <a:br>
              <a:rPr lang="en-CA" b="0" dirty="0"/>
            </a:br>
            <a:r>
              <a:rPr lang="en-CA" b="0" dirty="0"/>
              <a:t>For example:</a:t>
            </a:r>
          </a:p>
          <a:p>
            <a:pPr lvl="1"/>
            <a:r>
              <a:rPr lang="en-CA" b="0" dirty="0"/>
              <a:t>If you’re hiring, you might care about </a:t>
            </a:r>
            <a:r>
              <a:rPr lang="en-CA" b="0" i="1" dirty="0"/>
              <a:t>how much</a:t>
            </a:r>
            <a:r>
              <a:rPr lang="en-CA" b="0" dirty="0"/>
              <a:t> better someone is (score).</a:t>
            </a:r>
          </a:p>
          <a:p>
            <a:pPr lvl="1"/>
            <a:r>
              <a:rPr lang="en-CA" b="0" dirty="0"/>
              <a:t>If you’re running a contest, you might only care about </a:t>
            </a:r>
            <a:r>
              <a:rPr lang="en-CA" b="0" i="1" dirty="0"/>
              <a:t>who’s best</a:t>
            </a:r>
            <a:r>
              <a:rPr lang="en-CA" b="0" dirty="0"/>
              <a:t> (rank).</a:t>
            </a:r>
          </a:p>
          <a:p>
            <a:r>
              <a:rPr lang="en-CA" b="0" dirty="0"/>
              <a:t>📊 Example</a:t>
            </a:r>
          </a:p>
          <a:p>
            <a:r>
              <a:rPr lang="en-CA" b="0" dirty="0"/>
              <a:t>University A has an RPI score of 39.18, ranking 111th out of 351.</a:t>
            </a:r>
            <a:br>
              <a:rPr lang="en-CA" b="0" dirty="0"/>
            </a:br>
            <a:r>
              <a:rPr lang="en-CA" b="0" dirty="0"/>
              <a:t>If the top schools have scores 39.50–39.10, then:</a:t>
            </a:r>
          </a:p>
          <a:p>
            <a:r>
              <a:rPr lang="en-CA" b="0" dirty="0"/>
              <a:t>University A’s score difference from the top is tiny (0.32),</a:t>
            </a:r>
          </a:p>
          <a:p>
            <a:r>
              <a:rPr lang="en-CA" b="0" dirty="0"/>
              <a:t>But its rank difference is huge (60+ spots).</a:t>
            </a:r>
          </a:p>
          <a:p>
            <a:r>
              <a:rPr lang="en-CA" b="0" dirty="0"/>
              <a:t>That’s why scores are continuous and rankings are discrete — rankings may distort perception.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73bac2a5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73bac2a5c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b="0" dirty="0"/>
              <a:t>🟠 1. Easily computable</a:t>
            </a:r>
          </a:p>
          <a:p>
            <a:r>
              <a:rPr lang="en-CA" b="0" dirty="0"/>
              <a:t>The function should be simple to calculate with available data.</a:t>
            </a:r>
          </a:p>
          <a:p>
            <a:r>
              <a:rPr lang="en-CA" b="0" dirty="0"/>
              <a:t>Example: BMI = weight / height² is easy to compute — no fancy tools required.</a:t>
            </a:r>
          </a:p>
          <a:p>
            <a:r>
              <a:rPr lang="en-CA" b="0" dirty="0"/>
              <a:t>If a score takes too much time or data to compute, it’s not practical for widespread use.</a:t>
            </a:r>
          </a:p>
          <a:p>
            <a:r>
              <a:rPr lang="en-CA" b="0" dirty="0"/>
              <a:t>💬 “A perfect formula is useless if no one can actually compute it.”</a:t>
            </a:r>
          </a:p>
          <a:p>
            <a:r>
              <a:rPr lang="en-CA" b="0" dirty="0"/>
              <a:t>🟠 2. Easily understandable</a:t>
            </a:r>
          </a:p>
          <a:p>
            <a:r>
              <a:rPr lang="en-CA" b="0" dirty="0"/>
              <a:t>People should be able to interpret the score — know what higher or lower values mean.</a:t>
            </a:r>
          </a:p>
          <a:p>
            <a:r>
              <a:rPr lang="en-CA" b="0" dirty="0"/>
              <a:t>Example: Reading ease scores (like Flesch–Kincaid) directly map to grade levels.</a:t>
            </a:r>
          </a:p>
          <a:p>
            <a:r>
              <a:rPr lang="en-CA" b="0" dirty="0"/>
              <a:t>If a score feels mysterious (like a black box algorithm), users may distrust or misuse it.</a:t>
            </a:r>
          </a:p>
          <a:p>
            <a:r>
              <a:rPr lang="en-CA" b="0" dirty="0"/>
              <a:t>💬 “Transparency builds trust — people should grasp what the number represents.”</a:t>
            </a:r>
          </a:p>
          <a:p>
            <a:r>
              <a:rPr lang="en-CA" b="0" dirty="0"/>
              <a:t>🟠 3. Monotonic interpretation of variables</a:t>
            </a:r>
          </a:p>
          <a:p>
            <a:r>
              <a:rPr lang="en-CA" b="0" dirty="0"/>
              <a:t>When one input increases, the score should change in a consistent and logical direction.</a:t>
            </a:r>
          </a:p>
          <a:p>
            <a:r>
              <a:rPr lang="en-CA" b="0" dirty="0"/>
              <a:t>Example: In a “credit score,” higher income should never </a:t>
            </a:r>
            <a:r>
              <a:rPr lang="en-CA" b="0" i="1" dirty="0"/>
              <a:t>lower</a:t>
            </a:r>
            <a:r>
              <a:rPr lang="en-CA" b="0" dirty="0"/>
              <a:t> your score.</a:t>
            </a:r>
          </a:p>
          <a:p>
            <a:r>
              <a:rPr lang="en-CA" b="0" dirty="0"/>
              <a:t>This ensures predictable behavior and helps detect bugs or bias.</a:t>
            </a:r>
          </a:p>
          <a:p>
            <a:r>
              <a:rPr lang="en-CA" b="0" dirty="0"/>
              <a:t>💬 “If studying more sometimes makes your grade worse, something’s wrong with the formula!”</a:t>
            </a:r>
          </a:p>
          <a:p>
            <a:r>
              <a:rPr lang="en-CA" b="0" dirty="0"/>
              <a:t>🟠 4. Produces satisfying results on outliers</a:t>
            </a:r>
          </a:p>
          <a:p>
            <a:r>
              <a:rPr lang="en-CA" b="0" dirty="0"/>
              <a:t>A good scoring function shouldn’t behave strangely on extreme values.</a:t>
            </a:r>
          </a:p>
          <a:p>
            <a:r>
              <a:rPr lang="en-CA" b="0" dirty="0"/>
              <a:t>For example, if a function gives absurdly high or low scores for rare cases, it’s not robust.</a:t>
            </a:r>
          </a:p>
          <a:p>
            <a:r>
              <a:rPr lang="en-CA" b="0" dirty="0"/>
              <a:t>Designers should test with extreme examples to ensure reasonable outputs.</a:t>
            </a:r>
          </a:p>
          <a:p>
            <a:r>
              <a:rPr lang="en-CA" b="0" dirty="0"/>
              <a:t>💬 “Your formula shouldn’t collapse when you meet an outlier.”</a:t>
            </a:r>
          </a:p>
          <a:p>
            <a:r>
              <a:rPr lang="en-CA" b="0" dirty="0"/>
              <a:t>🟠 5. Uses systematically normalized variables</a:t>
            </a:r>
          </a:p>
          <a:p>
            <a:r>
              <a:rPr lang="en-CA" b="0" dirty="0"/>
              <a:t>Inputs should be on comparable scales, so no single variable dominates unfairly.</a:t>
            </a:r>
          </a:p>
          <a:p>
            <a:r>
              <a:rPr lang="en-CA" b="0" dirty="0"/>
              <a:t>Example: if you mix “years of experience (0–40)” with “satisfaction rating (1–5)” without scaling, the first will overwhelm the score.</a:t>
            </a:r>
          </a:p>
          <a:p>
            <a:r>
              <a:rPr lang="en-CA" b="0" dirty="0"/>
              <a:t>Normalizing (e.g., z-scores or 0–1 scaling) keeps each factor balanced.</a:t>
            </a:r>
          </a:p>
          <a:p>
            <a:r>
              <a:rPr lang="en-CA" b="0" dirty="0"/>
              <a:t>💬 “Always compare apples to apples — not apples to elephants.”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73bac2a5c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73bac2a5c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b="0" dirty="0"/>
              <a:t>Up to now, we’ve discussed </a:t>
            </a:r>
            <a:r>
              <a:rPr lang="en-CA" b="0" i="1" dirty="0"/>
              <a:t>simple scoring functions</a:t>
            </a:r>
            <a:r>
              <a:rPr lang="en-CA" b="0" dirty="0"/>
              <a:t> — things like weighted averages or linear combinations of normalized variables (e.g., GPA, BMI, WAR).</a:t>
            </a:r>
          </a:p>
          <a:p>
            <a:r>
              <a:rPr lang="en-CA" b="0" dirty="0"/>
              <a:t>Those are great for assigning a score when each item is independent.</a:t>
            </a:r>
            <a:br>
              <a:rPr lang="en-CA" b="0" dirty="0"/>
            </a:br>
            <a:r>
              <a:rPr lang="en-CA" b="0" dirty="0"/>
              <a:t>But sometimes, ranking depends on pairwise comparisons or networks of relationships — not just raw scores.</a:t>
            </a:r>
          </a:p>
          <a:p>
            <a:r>
              <a:rPr lang="en-CA" b="0" dirty="0"/>
              <a:t>That’s where advanced ranking techniques come in.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73bac2a5c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73bac2a5c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b="0" dirty="0"/>
              <a:t>🧠 Core idea</a:t>
            </a:r>
          </a:p>
          <a:p>
            <a:r>
              <a:rPr lang="en-CA" b="0" dirty="0"/>
              <a:t>Rankings can often be built not from absolute scores, but from pairwise (binary) comparisons — comparing two items at a time.</a:t>
            </a:r>
          </a:p>
          <a:p>
            <a:r>
              <a:rPr lang="en-CA" b="0" dirty="0"/>
              <a:t>A </a:t>
            </a:r>
            <a:r>
              <a:rPr lang="en-CA" b="0" i="1" dirty="0"/>
              <a:t>binary comparison</a:t>
            </a:r>
            <a:r>
              <a:rPr lang="en-CA" b="0" dirty="0"/>
              <a:t> simply means:</a:t>
            </a:r>
          </a:p>
          <a:p>
            <a:r>
              <a:rPr lang="en-CA" b="0" dirty="0"/>
              <a:t>“Between A and B, which one is better?”</a:t>
            </a:r>
          </a:p>
          <a:p>
            <a:r>
              <a:rPr lang="en-CA" b="0" dirty="0"/>
              <a:t>These comparisons are the foundation of many ranking systems.</a:t>
            </a:r>
          </a:p>
          <a:p>
            <a:r>
              <a:rPr lang="en-CA" b="0" dirty="0"/>
              <a:t>🟠 Examples of binary comparisons</a:t>
            </a:r>
          </a:p>
          <a:p>
            <a:r>
              <a:rPr lang="en-CA" b="0" dirty="0"/>
              <a:t>Sports: Team A beats Team B.</a:t>
            </a:r>
            <a:br>
              <a:rPr lang="en-CA" b="0" dirty="0"/>
            </a:br>
            <a:r>
              <a:rPr lang="en-CA" b="0" dirty="0"/>
              <a:t>→ A is “preferred” over B.</a:t>
            </a:r>
          </a:p>
          <a:p>
            <a:r>
              <a:rPr lang="en-CA" b="0" dirty="0"/>
              <a:t>Expert judgments: A movie critic rates film A higher than film B.</a:t>
            </a:r>
            <a:br>
              <a:rPr lang="en-CA" b="0" dirty="0"/>
            </a:br>
            <a:r>
              <a:rPr lang="en-CA" b="0" dirty="0"/>
              <a:t>→ A &gt; B in quality.</a:t>
            </a:r>
          </a:p>
          <a:p>
            <a:r>
              <a:rPr lang="en-CA" b="0" dirty="0"/>
              <a:t>Choices: A student picks University A over University B.</a:t>
            </a:r>
            <a:br>
              <a:rPr lang="en-CA" b="0" dirty="0"/>
            </a:br>
            <a:r>
              <a:rPr lang="en-CA" b="0" dirty="0"/>
              <a:t>→ We infer A is more desirable (for that student).</a:t>
            </a:r>
          </a:p>
          <a:p>
            <a:r>
              <a:rPr lang="en-CA" b="0" dirty="0"/>
              <a:t>Each individual decision gives us a small piece of ranking information.</a:t>
            </a:r>
          </a:p>
          <a:p>
            <a:r>
              <a:rPr lang="en-CA" b="0" dirty="0"/>
              <a:t>⚙️ How rankings emerge</a:t>
            </a:r>
          </a:p>
          <a:p>
            <a:r>
              <a:rPr lang="en-CA" b="0" dirty="0"/>
              <a:t>When you collect </a:t>
            </a:r>
            <a:r>
              <a:rPr lang="en-CA" b="0" i="1" dirty="0"/>
              <a:t>many</a:t>
            </a:r>
            <a:r>
              <a:rPr lang="en-CA" b="0" dirty="0"/>
              <a:t> such binary comparisons across multiple entities,</a:t>
            </a:r>
            <a:br>
              <a:rPr lang="en-CA" b="0" dirty="0"/>
            </a:br>
            <a:r>
              <a:rPr lang="en-CA" b="0" dirty="0"/>
              <a:t>you can build a ranking network showing overall preferences.</a:t>
            </a:r>
          </a:p>
          <a:p>
            <a:r>
              <a:rPr lang="en-CA" b="0" dirty="0"/>
              <a:t>Example:</a:t>
            </a:r>
          </a:p>
          <a:p>
            <a:r>
              <a:rPr lang="en-CA" b="0" dirty="0"/>
              <a:t>A &gt; B, B &gt; C, A &gt; C → clear order (A best, then B, then C).</a:t>
            </a:r>
            <a:br>
              <a:rPr lang="en-CA" b="0" dirty="0"/>
            </a:br>
            <a:r>
              <a:rPr lang="en-CA" b="0" dirty="0"/>
              <a:t>But sometimes results are inconsistent:</a:t>
            </a:r>
          </a:p>
          <a:p>
            <a:r>
              <a:rPr lang="en-CA" b="0" dirty="0"/>
              <a:t>A beats B, B beats C, but C beats A → circular preferences (no clear winner).</a:t>
            </a:r>
          </a:p>
          <a:p>
            <a:r>
              <a:rPr lang="en-CA" b="0" dirty="0"/>
              <a:t>That’s where more advanced ranking methods (like Elo or PageRank) become valuable — they can handle complex or uneven matchups.</a:t>
            </a:r>
          </a:p>
          <a:p>
            <a:r>
              <a:rPr lang="en-CA" b="0" dirty="0"/>
              <a:t>⚠️ Limitation: “Vote counts fail”</a:t>
            </a:r>
          </a:p>
          <a:p>
            <a:r>
              <a:rPr lang="en-CA" b="0" dirty="0"/>
              <a:t>The line in red highlights a critical problem:</a:t>
            </a:r>
          </a:p>
          <a:p>
            <a:r>
              <a:rPr lang="en-CA" b="0" dirty="0"/>
              <a:t>“Vote counts fail to pick the best when different teams face different levels of competition.”</a:t>
            </a:r>
          </a:p>
          <a:p>
            <a:r>
              <a:rPr lang="en-CA" b="0" dirty="0"/>
              <a:t>Simple </a:t>
            </a:r>
            <a:r>
              <a:rPr lang="en-CA" b="0" i="1" dirty="0"/>
              <a:t>win counts</a:t>
            </a:r>
            <a:r>
              <a:rPr lang="en-CA" b="0" dirty="0"/>
              <a:t> assume every matchup is equally difficult — but in reality:</a:t>
            </a:r>
          </a:p>
          <a:p>
            <a:r>
              <a:rPr lang="en-CA" b="0" dirty="0"/>
              <a:t>Some teams play against very strong opponents,</a:t>
            </a:r>
          </a:p>
          <a:p>
            <a:r>
              <a:rPr lang="en-CA" b="0" dirty="0"/>
              <a:t>Others only face weak ones.</a:t>
            </a:r>
          </a:p>
          <a:p>
            <a:r>
              <a:rPr lang="en-CA" b="0" dirty="0"/>
              <a:t>So, just counting wins (or votes) gives a biased ranking.</a:t>
            </a:r>
          </a:p>
          <a:p>
            <a:r>
              <a:rPr lang="en-CA" b="0" dirty="0"/>
              <a:t>Example:</a:t>
            </a:r>
          </a:p>
          <a:p>
            <a:r>
              <a:rPr lang="en-CA" b="0" dirty="0"/>
              <a:t>Team A: 3 wins, all against top teams.</a:t>
            </a:r>
          </a:p>
          <a:p>
            <a:r>
              <a:rPr lang="en-CA" b="0" dirty="0"/>
              <a:t>Team B: 5 wins, all against weak teams.</a:t>
            </a:r>
            <a:br>
              <a:rPr lang="en-CA" b="0" dirty="0"/>
            </a:br>
            <a:r>
              <a:rPr lang="en-CA" b="0" dirty="0"/>
              <a:t>→ Raw counts say B &gt; A, but Elo or PageRank-style methods would recognize A’s wins as more impressive.</a:t>
            </a:r>
          </a:p>
          <a:p>
            <a:r>
              <a:rPr lang="en-CA" b="0" dirty="0"/>
              <a:t>💡 Takeaway</a:t>
            </a:r>
          </a:p>
          <a:p>
            <a:r>
              <a:rPr lang="en-CA" b="0" dirty="0"/>
              <a:t>Binary comparisons form the basis of many ranking systems.</a:t>
            </a:r>
          </a:p>
          <a:p>
            <a:r>
              <a:rPr lang="en-CA" b="0" dirty="0"/>
              <a:t>But raw counts (like total wins or votes) are too naive.</a:t>
            </a:r>
          </a:p>
          <a:p>
            <a:r>
              <a:rPr lang="en-CA" b="0" dirty="0"/>
              <a:t>Smarter ranking systems weigh </a:t>
            </a:r>
            <a:r>
              <a:rPr lang="en-CA" b="0" i="1" dirty="0"/>
              <a:t>who</a:t>
            </a:r>
            <a:r>
              <a:rPr lang="en-CA" b="0" dirty="0"/>
              <a:t> you beat, not just </a:t>
            </a:r>
            <a:r>
              <a:rPr lang="en-CA" b="0" i="1" dirty="0"/>
              <a:t>how many</a:t>
            </a:r>
            <a:r>
              <a:rPr lang="en-CA" b="0" dirty="0"/>
              <a:t> you beat.</a:t>
            </a:r>
          </a:p>
          <a:p>
            <a:r>
              <a:rPr lang="en-CA" b="0" dirty="0"/>
              <a:t>💬 Example to tell students:</a:t>
            </a:r>
          </a:p>
          <a:p>
            <a:r>
              <a:rPr lang="en-CA" b="0" dirty="0"/>
              <a:t>“Imagine you’re ranking students based on who beats whom in chess.</a:t>
            </a:r>
            <a:br>
              <a:rPr lang="en-CA" b="0" dirty="0"/>
            </a:br>
            <a:r>
              <a:rPr lang="en-CA" b="0" dirty="0"/>
              <a:t>If Kimia beats Kaveh (a top player), that should count more than beating a beginner — otherwise, rankings would reward easy matches.”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36fe2f64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36fe2f640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b="0" dirty="0"/>
              <a:t>🧠 Concept Overview</a:t>
            </a:r>
          </a:p>
          <a:p>
            <a:r>
              <a:rPr lang="en-CA" b="0" dirty="0"/>
              <a:t>The Elo ranking system is used to rate competitors (like chess players, teams, or video game players) based on their match outcomes.</a:t>
            </a:r>
            <a:br>
              <a:rPr lang="en-CA" b="0" dirty="0"/>
            </a:br>
            <a:r>
              <a:rPr lang="en-CA" b="0" dirty="0"/>
              <a:t>It updates each player’s rating after every match, reflecting how </a:t>
            </a:r>
            <a:r>
              <a:rPr lang="en-CA" b="0" i="1" dirty="0"/>
              <a:t>surprising</a:t>
            </a:r>
            <a:r>
              <a:rPr lang="en-CA" b="0" dirty="0"/>
              <a:t> the result was.</a:t>
            </a:r>
          </a:p>
          <a:p>
            <a:r>
              <a:rPr lang="en-CA" b="0" dirty="0"/>
              <a:t>If you beat someone much stronger than you, your rating goes up more.</a:t>
            </a:r>
            <a:br>
              <a:rPr lang="en-CA" b="0" dirty="0"/>
            </a:br>
            <a:r>
              <a:rPr lang="en-CA" b="0" dirty="0"/>
              <a:t>If you lose to someone much weaker, your rating goes down more.</a:t>
            </a:r>
          </a:p>
          <a:p>
            <a:r>
              <a:rPr lang="en-CA" b="0" dirty="0"/>
              <a:t>⚙️ How it works (step by step)</a:t>
            </a:r>
          </a:p>
          <a:p>
            <a:r>
              <a:rPr lang="en-CA" b="0" dirty="0"/>
              <a:t>Start equally ranked:</a:t>
            </a:r>
            <a:br>
              <a:rPr lang="en-CA" b="0" dirty="0"/>
            </a:br>
            <a:r>
              <a:rPr lang="en-CA" b="0" dirty="0"/>
              <a:t>Everyone begins with the same base score (e.g., 1500 in chess).</a:t>
            </a:r>
          </a:p>
          <a:p>
            <a:r>
              <a:rPr lang="en-CA" b="0" dirty="0"/>
              <a:t>Play a match:</a:t>
            </a:r>
            <a:br>
              <a:rPr lang="en-CA" b="0" dirty="0"/>
            </a:br>
            <a:r>
              <a:rPr lang="en-CA" b="0" dirty="0"/>
              <a:t>Player A plays Player B. The actual result for A is:</a:t>
            </a:r>
          </a:p>
          <a:p>
            <a:pPr lvl="1"/>
            <a:r>
              <a:rPr lang="en-CA" b="0" dirty="0"/>
              <a:t>SA=1 if A wins</a:t>
            </a:r>
          </a:p>
          <a:p>
            <a:pPr lvl="1"/>
            <a:r>
              <a:rPr lang="en-CA" b="0" dirty="0"/>
              <a:t>SA=0A loses</a:t>
            </a:r>
          </a:p>
          <a:p>
            <a:pPr lvl="1"/>
            <a:r>
              <a:rPr lang="en-CA" b="0" dirty="0"/>
              <a:t>SA=0.5 if it’s a draw</a:t>
            </a:r>
          </a:p>
          <a:p>
            <a:r>
              <a:rPr lang="en-CA" b="0" dirty="0"/>
              <a:t>Compute the </a:t>
            </a:r>
            <a:r>
              <a:rPr lang="en-CA" b="0" i="1" dirty="0"/>
              <a:t>expected</a:t>
            </a:r>
            <a:r>
              <a:rPr lang="en-CA" b="0" dirty="0"/>
              <a:t> outcome (based on current ratings):</a:t>
            </a:r>
            <a:br>
              <a:rPr lang="en-CA" b="0" dirty="0"/>
            </a:br>
            <a:r>
              <a:rPr lang="en-CA" b="0" dirty="0"/>
              <a:t>The expected probability that A beats B is:</a:t>
            </a:r>
          </a:p>
          <a:p>
            <a:r>
              <a:rPr lang="en-CA" b="0" dirty="0"/>
              <a:t>The formula in the slide, This means:</a:t>
            </a:r>
          </a:p>
          <a:p>
            <a:pPr lvl="1"/>
            <a:r>
              <a:rPr lang="en-CA" b="0" dirty="0"/>
              <a:t>If A and B have equal ratings → each expected to win 50% of the time.</a:t>
            </a:r>
          </a:p>
          <a:p>
            <a:pPr lvl="1"/>
            <a:r>
              <a:rPr lang="en-CA" b="0" dirty="0"/>
              <a:t>If A is much higher rated → expected to win most of the time.</a:t>
            </a:r>
          </a:p>
          <a:p>
            <a:r>
              <a:rPr lang="en-CA" b="0" dirty="0"/>
              <a:t>Update A’s rating:</a:t>
            </a:r>
          </a:p>
          <a:p>
            <a:r>
              <a:rPr lang="en-CA" b="0" dirty="0"/>
              <a:t>r′(A)=</a:t>
            </a:r>
            <a:r>
              <a:rPr lang="en-CA" b="0" i="1" dirty="0"/>
              <a:t>the surprise factor</a:t>
            </a:r>
            <a:r>
              <a:rPr lang="en-CA" b="0" dirty="0"/>
              <a:t> (actual minus expected outcome)</a:t>
            </a:r>
          </a:p>
          <a:p>
            <a:pPr lvl="1"/>
            <a:r>
              <a:rPr lang="en-CA" b="0" dirty="0"/>
              <a:t>k = how sensitive the system is (higher k means ratings move faster)</a:t>
            </a:r>
          </a:p>
          <a:p>
            <a:r>
              <a:rPr lang="en-CA" b="0" dirty="0"/>
              <a:t>🔍 Interpretation</a:t>
            </a:r>
          </a:p>
          <a:p>
            <a:r>
              <a:rPr lang="en-CA" b="0" dirty="0"/>
              <a:t>If A wins unexpectedly (A beats a higher-rated player):</a:t>
            </a:r>
            <a:br>
              <a:rPr lang="en-CA" b="0" dirty="0"/>
            </a:br>
            <a:r>
              <a:rPr lang="en-CA" b="0" dirty="0"/>
              <a:t>​−</a:t>
            </a:r>
            <a:r>
              <a:rPr lang="en-CA" b="0" dirty="0" err="1"/>
              <a:t>μA</a:t>
            </a:r>
            <a:r>
              <a:rPr lang="en-CA" b="0" dirty="0"/>
              <a:t>​ large → big jump in rating.</a:t>
            </a:r>
          </a:p>
          <a:p>
            <a:r>
              <a:rPr lang="en-CA" b="0" dirty="0"/>
              <a:t>If A loses as expected (A loses to a much stronger player):</a:t>
            </a:r>
            <a:br>
              <a:rPr lang="en-CA" b="0" dirty="0"/>
            </a:br>
            <a:r>
              <a:rPr lang="en-CA" b="0" dirty="0"/>
              <a:t>→ SA=​ small → small drop.</a:t>
            </a:r>
          </a:p>
          <a:p>
            <a:r>
              <a:rPr lang="en-CA" b="0" dirty="0"/>
              <a:t>If A loses an </a:t>
            </a:r>
            <a:r>
              <a:rPr lang="en-CA" b="0" i="1" dirty="0"/>
              <a:t>upset</a:t>
            </a:r>
            <a:r>
              <a:rPr lang="en-CA" b="0" dirty="0"/>
              <a:t> (A was supposed to win but didn’t):</a:t>
            </a:r>
            <a:br>
              <a:rPr lang="en-CA" b="0" dirty="0"/>
            </a:br>
            <a:r>
              <a:rPr lang="en-CA" b="0" dirty="0"/>
              <a:t>→ SA=0S_A = 0SA​=0, </a:t>
            </a:r>
            <a:r>
              <a:rPr lang="en-CA" b="0" dirty="0" err="1"/>
              <a:t>μA</a:t>
            </a:r>
            <a:r>
              <a:rPr lang="en-CA" b="0" dirty="0"/>
              <a:t>\</a:t>
            </a:r>
            <a:r>
              <a:rPr lang="en-CA" b="0" dirty="0" err="1"/>
              <a:t>mu_AμA</a:t>
            </a:r>
            <a:r>
              <a:rPr lang="en-CA" b="0" dirty="0"/>
              <a:t>​ large → large negative swing.</a:t>
            </a:r>
          </a:p>
          <a:p>
            <a:r>
              <a:rPr lang="en-CA" b="0" dirty="0"/>
              <a:t>⚖️ Example</a:t>
            </a:r>
          </a:p>
          <a:p>
            <a:r>
              <a:rPr lang="en-CA" b="0" dirty="0"/>
              <a:t>Let’s say: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36fe2f640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36fe2f640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36fe2f64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36fe2f64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b="0" dirty="0"/>
              <a:t>⚙️ Why do we need this function?</a:t>
            </a:r>
          </a:p>
          <a:p>
            <a:r>
              <a:rPr lang="en-CA" b="0" dirty="0"/>
              <a:t>In Elo ranking (and in many other models), we often want to convert a difference in scores between two players into a probability that one player wins.</a:t>
            </a:r>
          </a:p>
          <a:p>
            <a:r>
              <a:rPr lang="en-CA" b="0" dirty="0"/>
              <a:t>For example, if Player A’s rating is much higher than Player B’s, we want a function that outputs a high probability (close to 1) that A wins — but never exactly 1.</a:t>
            </a:r>
          </a:p>
          <a:p>
            <a:r>
              <a:rPr lang="en-CA" b="0" dirty="0"/>
              <a:t>So, we need a function that:</a:t>
            </a:r>
          </a:p>
          <a:p>
            <a:r>
              <a:rPr lang="en-CA" b="0" dirty="0"/>
              <a:t>Takes any real number xxx (the rating difference)</a:t>
            </a:r>
          </a:p>
          <a:p>
            <a:r>
              <a:rPr lang="en-CA" b="0" dirty="0"/>
              <a:t>Outputs a number between 0 and 1 (a valid probability)</a:t>
            </a:r>
          </a:p>
          <a:p>
            <a:r>
              <a:rPr lang="en-CA" b="0" dirty="0"/>
              <a:t>🎯 The required behavior</a:t>
            </a:r>
          </a:p>
          <a:p>
            <a:r>
              <a:rPr lang="en-CA" b="0" dirty="0"/>
              <a:t>We want:</a:t>
            </a:r>
          </a:p>
          <a:p>
            <a:r>
              <a:rPr lang="en-CA" b="0" dirty="0"/>
              <a:t>f(0)=12f(0) = \frac{1}{2}f(0)=21​ → equal players have a 50% chance to win</a:t>
            </a:r>
          </a:p>
          <a:p>
            <a:r>
              <a:rPr lang="en-CA" b="0" dirty="0"/>
              <a:t>f(∞)=1f(\</a:t>
            </a:r>
            <a:r>
              <a:rPr lang="en-CA" b="0" dirty="0" err="1"/>
              <a:t>infty</a:t>
            </a:r>
            <a:r>
              <a:rPr lang="en-CA" b="0" dirty="0"/>
              <a:t>) = 1f(∞)=1 → infinitely stronger player always wins</a:t>
            </a:r>
          </a:p>
          <a:p>
            <a:r>
              <a:rPr lang="en-CA" b="0" dirty="0"/>
              <a:t>f(−∞)=0f(-\</a:t>
            </a:r>
            <a:r>
              <a:rPr lang="en-CA" b="0" dirty="0" err="1"/>
              <a:t>infty</a:t>
            </a:r>
            <a:r>
              <a:rPr lang="en-CA" b="0" dirty="0"/>
              <a:t>) = 0f(−∞)=0 → infinitely weaker player always loses</a:t>
            </a:r>
          </a:p>
          <a:p>
            <a:r>
              <a:rPr lang="en-CA" b="0" dirty="0"/>
              <a:t>This means the function should smoothly increase from 0 → 1 as xxx increases.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36fe2f64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36fe2f64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73bac2a5c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73bac2a5c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36fe2f64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36fe2f64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b="0" dirty="0"/>
              <a:t>⚙️ What it is</a:t>
            </a:r>
          </a:p>
          <a:p>
            <a:r>
              <a:rPr lang="en-CA" b="0" dirty="0"/>
              <a:t>Borda’s Method is a way to combine multiple rankings (like votes or preferences) into a single overall ranking.</a:t>
            </a:r>
          </a:p>
          <a:p>
            <a:r>
              <a:rPr lang="en-CA" b="0" dirty="0"/>
              <a:t>Instead of just counting </a:t>
            </a:r>
            <a:r>
              <a:rPr lang="en-CA" b="0" i="1" dirty="0"/>
              <a:t>first-place votes</a:t>
            </a:r>
            <a:r>
              <a:rPr lang="en-CA" b="0" dirty="0"/>
              <a:t> (like in a simple majority system),</a:t>
            </a:r>
            <a:br>
              <a:rPr lang="en-CA" b="0" dirty="0"/>
            </a:br>
            <a:r>
              <a:rPr lang="en-CA" b="0" dirty="0"/>
              <a:t>Borda’s Method gives points to each position — so every ranking matters, not just the top choice.</a:t>
            </a:r>
          </a:p>
          <a:p>
            <a:r>
              <a:rPr lang="en-CA" b="0" dirty="0"/>
              <a:t>📋 How it works</a:t>
            </a:r>
          </a:p>
          <a:p>
            <a:r>
              <a:rPr lang="en-CA" b="0" dirty="0"/>
              <a:t>Suppose there are n items (e.g., candidates, teams, universities).</a:t>
            </a:r>
          </a:p>
          <a:p>
            <a:pPr lvl="1"/>
            <a:r>
              <a:rPr lang="en-CA" b="0" dirty="0"/>
              <a:t>A 1st-place rank gets n–1 points</a:t>
            </a:r>
          </a:p>
          <a:p>
            <a:pPr lvl="1"/>
            <a:r>
              <a:rPr lang="en-CA" b="0" dirty="0"/>
              <a:t>A 2nd-place rank gets n–2 points</a:t>
            </a:r>
          </a:p>
          <a:p>
            <a:pPr lvl="1"/>
            <a:r>
              <a:rPr lang="en-CA" b="0" dirty="0"/>
              <a:t>…and so on, down to 0 points for the last place.</a:t>
            </a:r>
          </a:p>
          <a:p>
            <a:r>
              <a:rPr lang="en-CA" b="0" dirty="0"/>
              <a:t>Each voter (or rater) ranks all items.</a:t>
            </a:r>
          </a:p>
          <a:p>
            <a:r>
              <a:rPr lang="en-CA" b="0" dirty="0"/>
              <a:t>You add up the points from all voters for each item.</a:t>
            </a:r>
          </a:p>
          <a:p>
            <a:r>
              <a:rPr lang="en-CA" b="0" dirty="0"/>
              <a:t>The item with the lowest total score (or highest, depending on convention) wins or ranks first.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36fe2f640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36fe2f640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b="0" dirty="0"/>
              <a:t>🧠 Recap: What we’ve done so far</a:t>
            </a:r>
          </a:p>
          <a:p>
            <a:r>
              <a:rPr lang="en-CA" b="0" dirty="0"/>
              <a:t>In Borda’s Method, each position in a ranking gets a linear weight —</a:t>
            </a:r>
            <a:br>
              <a:rPr lang="en-CA" b="0" dirty="0"/>
            </a:br>
            <a:r>
              <a:rPr lang="en-CA" b="0" dirty="0"/>
              <a:t>for example, if there are 5 items, you assign:</a:t>
            </a:r>
          </a:p>
          <a:p>
            <a:r>
              <a:rPr lang="en-CA" b="0" dirty="0"/>
              <a:t>1st = 4 points</a:t>
            </a:r>
          </a:p>
          <a:p>
            <a:r>
              <a:rPr lang="en-CA" b="0" dirty="0"/>
              <a:t>2nd = 3 points</a:t>
            </a:r>
          </a:p>
          <a:p>
            <a:r>
              <a:rPr lang="en-CA" b="0" dirty="0"/>
              <a:t>3rd = 2 points</a:t>
            </a:r>
          </a:p>
          <a:p>
            <a:r>
              <a:rPr lang="en-CA" b="0" dirty="0"/>
              <a:t>4th = 1 point</a:t>
            </a:r>
          </a:p>
          <a:p>
            <a:r>
              <a:rPr lang="en-CA" b="0" dirty="0"/>
              <a:t>5th = 0 points</a:t>
            </a:r>
          </a:p>
          <a:p>
            <a:r>
              <a:rPr lang="en-CA" b="0" dirty="0"/>
              <a:t>That’s linear weighting — every rank difference counts equally.</a:t>
            </a:r>
          </a:p>
          <a:p>
            <a:r>
              <a:rPr lang="en-CA" b="0" dirty="0"/>
              <a:t>⚙️ When does linear weighting make sense?</a:t>
            </a:r>
          </a:p>
          <a:p>
            <a:r>
              <a:rPr lang="en-CA" b="0" dirty="0"/>
              <a:t>Linear weights assume we have equal confidence in our distinctions between all ranks.</a:t>
            </a:r>
            <a:br>
              <a:rPr lang="en-CA" b="0" dirty="0"/>
            </a:br>
            <a:r>
              <a:rPr lang="en-CA" b="0" dirty="0"/>
              <a:t>In other words:</a:t>
            </a:r>
          </a:p>
          <a:p>
            <a:r>
              <a:rPr lang="en-CA" b="0" dirty="0"/>
              <a:t>The difference between 1st and 2nd is treated the same as between 4th and 5th.</a:t>
            </a:r>
          </a:p>
          <a:p>
            <a:r>
              <a:rPr lang="en-CA" b="0" dirty="0"/>
              <a:t>We’re equally sure about all positions.</a:t>
            </a:r>
          </a:p>
          <a:p>
            <a:r>
              <a:rPr lang="en-CA" b="0" dirty="0"/>
              <a:t>That’s reasonable in some cases — like if each rank is based on objective scores (e.g., exam results, times, or averages).</a:t>
            </a:r>
          </a:p>
          <a:p>
            <a:r>
              <a:rPr lang="en-CA" b="0" dirty="0"/>
              <a:t>🧩 But what if we’re not equally confident?</a:t>
            </a:r>
          </a:p>
          <a:p>
            <a:r>
              <a:rPr lang="en-CA" b="0" dirty="0"/>
              <a:t>In many real ranking situations (like voting or subjective ratings),</a:t>
            </a:r>
            <a:br>
              <a:rPr lang="en-CA" b="0" dirty="0"/>
            </a:br>
            <a:r>
              <a:rPr lang="en-CA" b="0" dirty="0"/>
              <a:t>we tend to:</a:t>
            </a:r>
          </a:p>
          <a:p>
            <a:r>
              <a:rPr lang="en-CA" b="0" dirty="0"/>
              <a:t>Care more about who’s at the top or bottom</a:t>
            </a:r>
          </a:p>
          <a:p>
            <a:r>
              <a:rPr lang="en-CA" b="0" dirty="0"/>
              <a:t>Be less confident about the middle positions</a:t>
            </a:r>
          </a:p>
          <a:p>
            <a:r>
              <a:rPr lang="en-CA" b="0" dirty="0"/>
              <a:t>Example:</a:t>
            </a:r>
            <a:br>
              <a:rPr lang="en-CA" b="0" dirty="0"/>
            </a:br>
            <a:r>
              <a:rPr lang="en-CA" b="0" dirty="0"/>
              <a:t>You probably feel very certain who your favorite or least favorite movie is —</a:t>
            </a:r>
            <a:br>
              <a:rPr lang="en-CA" b="0" dirty="0"/>
            </a:br>
            <a:r>
              <a:rPr lang="en-CA" b="0" dirty="0"/>
              <a:t>but not as sure about which movie should be ranked 3rd vs 4th.</a:t>
            </a:r>
          </a:p>
          <a:p>
            <a:r>
              <a:rPr lang="en-CA" b="0" dirty="0"/>
              <a:t>📈 So what’s the alternative?</a:t>
            </a:r>
          </a:p>
          <a:p>
            <a:r>
              <a:rPr lang="en-CA" b="0" dirty="0"/>
              <a:t>We can assign nonlinear weights, emphasizing the extremes.</a:t>
            </a:r>
            <a:br>
              <a:rPr lang="en-CA" b="0" dirty="0"/>
            </a:br>
            <a:r>
              <a:rPr lang="en-CA" b="0" dirty="0"/>
              <a:t>A normal (bell-shaped) distribution can model this intuition:</a:t>
            </a:r>
          </a:p>
          <a:p>
            <a:r>
              <a:rPr lang="en-CA" b="0" dirty="0"/>
              <a:t>Large differences in weight near the top and bottom ranks</a:t>
            </a:r>
          </a:p>
          <a:p>
            <a:r>
              <a:rPr lang="en-CA" b="0" dirty="0"/>
              <a:t>Smaller differences between the middle ranks</a:t>
            </a:r>
          </a:p>
          <a:p>
            <a:r>
              <a:rPr lang="en-CA" b="0" dirty="0"/>
              <a:t>This is what the slide’s bell curve (normal distribution) represents.</a:t>
            </a:r>
          </a:p>
          <a:p>
            <a:r>
              <a:rPr lang="en-CA" b="0" dirty="0"/>
              <a:t>💬 Interpretation of the graph</a:t>
            </a:r>
          </a:p>
          <a:p>
            <a:r>
              <a:rPr lang="en-CA" b="0" dirty="0"/>
              <a:t>The x-axis: rank positions (from worst to best)</a:t>
            </a:r>
          </a:p>
          <a:p>
            <a:r>
              <a:rPr lang="en-CA" b="0" dirty="0"/>
              <a:t>The y-axis: how much weight or “confidence” we give to that rank difference</a:t>
            </a:r>
          </a:p>
          <a:p>
            <a:r>
              <a:rPr lang="en-CA" b="0" dirty="0"/>
              <a:t>The shape (bell curve) shows that:</a:t>
            </a:r>
          </a:p>
          <a:p>
            <a:pPr lvl="1"/>
            <a:r>
              <a:rPr lang="en-CA" b="0" dirty="0"/>
              <a:t>At the extremes (best/worst), small changes in rank matter a lot</a:t>
            </a:r>
          </a:p>
          <a:p>
            <a:pPr lvl="1"/>
            <a:r>
              <a:rPr lang="en-CA" b="0" dirty="0"/>
              <a:t>In the middle, small changes in rank matter less</a:t>
            </a:r>
          </a:p>
          <a:p>
            <a:r>
              <a:rPr lang="en-CA" b="0" dirty="0"/>
              <a:t>So, the weights follow a normal curve rather than a straight line.</a:t>
            </a:r>
          </a:p>
          <a:p>
            <a:r>
              <a:rPr lang="en-CA" b="0" dirty="0"/>
              <a:t>🧮 Example</a:t>
            </a:r>
          </a:p>
          <a:p>
            <a:r>
              <a:rPr lang="en-CA" b="0" dirty="0"/>
              <a:t>If 5 items are ranked, linear weights might be:</a:t>
            </a:r>
          </a:p>
          <a:p>
            <a:r>
              <a:rPr lang="en-CA" b="0" dirty="0"/>
              <a:t>[4, 3, 2, 1, 0]</a:t>
            </a:r>
          </a:p>
          <a:p>
            <a:r>
              <a:rPr lang="en-CA" b="0" dirty="0"/>
              <a:t>But with normally distributed weights, they might look like:</a:t>
            </a:r>
          </a:p>
          <a:p>
            <a:r>
              <a:rPr lang="en-CA" b="0" dirty="0"/>
              <a:t>[5, 3, 2.5, 3, 5] (more emphasis on top and bottom)</a:t>
            </a:r>
          </a:p>
          <a:p>
            <a:r>
              <a:rPr lang="en-CA" b="0" i="1" dirty="0"/>
              <a:t>(Or equivalently, in normalized form: [1.0, 0.7, 0.5, 0.7, 1.0])</a:t>
            </a:r>
            <a:endParaRPr lang="en-CA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73bac2a5c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73bac2a5c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b="0" dirty="0"/>
              <a:t>⚙️ What’s happening here</a:t>
            </a:r>
          </a:p>
          <a:p>
            <a:r>
              <a:rPr lang="en-CA" b="0" dirty="0"/>
              <a:t>When we have many pairwise comparisons (like “A beats B,” “B beats C,” etc.), we can represent them as a directed graph:</a:t>
            </a:r>
          </a:p>
          <a:p>
            <a:r>
              <a:rPr lang="en-CA" b="0" dirty="0"/>
              <a:t>Each node = an item (team, player, candidate)</a:t>
            </a:r>
          </a:p>
          <a:p>
            <a:r>
              <a:rPr lang="en-CA" b="0" dirty="0"/>
              <a:t>Each directed edge (A → B) = “A is preferred over B”</a:t>
            </a:r>
          </a:p>
          <a:p>
            <a:r>
              <a:rPr lang="en-CA" b="0" dirty="0"/>
              <a:t>This is a visual way to organize preferences or rankings.</a:t>
            </a:r>
          </a:p>
          <a:p>
            <a:r>
              <a:rPr lang="en-CA" b="0" dirty="0"/>
              <a:t>🧩 Step 1: Build the graph</a:t>
            </a:r>
          </a:p>
          <a:p>
            <a:r>
              <a:rPr lang="en-CA" b="0" dirty="0"/>
              <a:t>Each comparison creates a directed edge:</a:t>
            </a:r>
          </a:p>
          <a:p>
            <a:r>
              <a:rPr lang="en-CA" b="0" dirty="0"/>
              <a:t>“A &gt; B” becomes an arrow from A → B</a:t>
            </a:r>
          </a:p>
          <a:p>
            <a:r>
              <a:rPr lang="en-CA" b="0" dirty="0"/>
              <a:t>“C &gt; E” becomes an arrow from C → E</a:t>
            </a:r>
          </a:p>
          <a:p>
            <a:r>
              <a:rPr lang="en-CA" b="0" dirty="0"/>
              <a:t>If you collect enough of these, you get a network of preferences — like the diagram on the slide.</a:t>
            </a:r>
          </a:p>
          <a:p>
            <a:r>
              <a:rPr lang="en-CA" b="0" dirty="0"/>
              <a:t>⚙️ Step 2: Check for consistency</a:t>
            </a:r>
          </a:p>
          <a:p>
            <a:r>
              <a:rPr lang="en-CA" b="0" dirty="0"/>
              <a:t>If no cycles exist (no circular preferences like A &gt; B &gt; C &gt; A),</a:t>
            </a:r>
            <a:br>
              <a:rPr lang="en-CA" b="0" dirty="0"/>
            </a:br>
            <a:r>
              <a:rPr lang="en-CA" b="0" dirty="0"/>
              <a:t>the graph is called a Directed Acyclic Graph (DAG).</a:t>
            </a:r>
          </a:p>
          <a:p>
            <a:r>
              <a:rPr lang="en-CA" b="0" dirty="0"/>
              <a:t>That’s important because:</a:t>
            </a:r>
          </a:p>
          <a:p>
            <a:r>
              <a:rPr lang="en-CA" b="0" dirty="0"/>
              <a:t>A DAG represents a consistent ordering of preferences.</a:t>
            </a:r>
          </a:p>
          <a:p>
            <a:r>
              <a:rPr lang="en-CA" b="0" dirty="0"/>
              <a:t>It means there’s no contradiction in who beats whom.</a:t>
            </a:r>
          </a:p>
          <a:p>
            <a:r>
              <a:rPr lang="en-CA" b="0" dirty="0"/>
              <a:t>If cycles do exist (like A beats B, B beats C, C beats A),</a:t>
            </a:r>
            <a:br>
              <a:rPr lang="en-CA" b="0" dirty="0"/>
            </a:br>
            <a:r>
              <a:rPr lang="en-CA" b="0" dirty="0"/>
              <a:t>the ranking is inconsistent, and we may need extra methods (like Elo or PageRank) to resolve ties or contradictions.</a:t>
            </a:r>
          </a:p>
          <a:p>
            <a:r>
              <a:rPr lang="en-CA" b="0" dirty="0"/>
              <a:t>🧮 Step 3: Topological sort</a:t>
            </a:r>
          </a:p>
          <a:p>
            <a:r>
              <a:rPr lang="en-CA" b="0" dirty="0"/>
              <a:t>A topological sort is an algorithm that arranges nodes of a DAG in a linear order that respects all edges — meaning if A → B, then A always appears before B.</a:t>
            </a:r>
          </a:p>
          <a:p>
            <a:r>
              <a:rPr lang="en-CA" b="0" dirty="0"/>
              <a:t>That order becomes your ranking.</a:t>
            </a:r>
          </a:p>
          <a:p>
            <a:r>
              <a:rPr lang="en-CA" b="0" dirty="0"/>
              <a:t>For example:</a:t>
            </a:r>
            <a:br>
              <a:rPr lang="en-CA" b="0" dirty="0"/>
            </a:br>
            <a:r>
              <a:rPr lang="en-CA" b="0" dirty="0"/>
              <a:t>If the graph edges are:</a:t>
            </a:r>
          </a:p>
          <a:p>
            <a:pPr rtl="0"/>
            <a:r>
              <a:rPr lang="en-CA" b="0" dirty="0"/>
              <a:t>A → B, B → C, C → E, D → E, E → F, G → D, B → D </a:t>
            </a:r>
          </a:p>
          <a:p>
            <a:r>
              <a:rPr lang="en-CA" b="0" dirty="0"/>
              <a:t>Then possible valid topological orders are:</a:t>
            </a:r>
          </a:p>
          <a:p>
            <a:r>
              <a:rPr lang="en-CA" b="0" dirty="0"/>
              <a:t>A B C G D E F</a:t>
            </a:r>
          </a:p>
          <a:p>
            <a:r>
              <a:rPr lang="en-CA" b="0" dirty="0"/>
              <a:t>G A B C D E F</a:t>
            </a:r>
          </a:p>
          <a:p>
            <a:r>
              <a:rPr lang="en-CA" b="0" dirty="0"/>
              <a:t>Both preserve the “beats” relationships in the graph.</a:t>
            </a:r>
          </a:p>
          <a:p>
            <a:r>
              <a:rPr lang="en-CA" b="0" dirty="0"/>
              <a:t>💬 Intuitive example</a:t>
            </a:r>
          </a:p>
          <a:p>
            <a:r>
              <a:rPr lang="en-CA" b="0" dirty="0"/>
              <a:t>Think of this like ranking chess players:</a:t>
            </a:r>
          </a:p>
          <a:p>
            <a:r>
              <a:rPr lang="en-CA" b="0" dirty="0"/>
              <a:t>If A beat B and B beat C, then A should come before C.</a:t>
            </a:r>
          </a:p>
          <a:p>
            <a:r>
              <a:rPr lang="en-CA" b="0" dirty="0"/>
              <a:t>But if G never played A, we can still place G based on others it beat.</a:t>
            </a:r>
          </a:p>
          <a:p>
            <a:r>
              <a:rPr lang="en-CA" b="0" dirty="0"/>
              <a:t>The resulting order gives a consistent global ranking based on all pairwise match outcomes.</a:t>
            </a:r>
          </a:p>
          <a:p>
            <a:r>
              <a:rPr lang="en-CA" b="0" dirty="0"/>
              <a:t>⚖️ Why this method is useful</a:t>
            </a:r>
          </a:p>
          <a:p>
            <a:r>
              <a:rPr lang="en-CA" b="0" dirty="0"/>
              <a:t>It gives a logical global order when data is consistent.</a:t>
            </a:r>
          </a:p>
          <a:p>
            <a:r>
              <a:rPr lang="en-CA" b="0" dirty="0"/>
              <a:t>It’s transparent — you can trace </a:t>
            </a:r>
            <a:r>
              <a:rPr lang="en-CA" b="0" i="1" dirty="0"/>
              <a:t>why</a:t>
            </a:r>
            <a:r>
              <a:rPr lang="en-CA" b="0" dirty="0"/>
              <a:t> one item ranks above another.</a:t>
            </a:r>
          </a:p>
          <a:p>
            <a:r>
              <a:rPr lang="en-CA" b="0" dirty="0"/>
              <a:t>It’s the foundation for ranking algorithms in sports, web search, and recommendation systems.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36fff970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36fff970c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b="0" dirty="0"/>
              <a:t>Starting point — when preferences have cycles</a:t>
            </a:r>
          </a:p>
          <a:p>
            <a:r>
              <a:rPr lang="en-CA" b="0" dirty="0"/>
              <a:t>In the previous slide, we assumed that the directed graph of preferences (A &gt; B, B &gt; C, etc.) had no cycles — it was a DAG (Directed Acyclic Graph).</a:t>
            </a:r>
            <a:br>
              <a:rPr lang="en-CA" b="0" dirty="0"/>
            </a:br>
            <a:r>
              <a:rPr lang="en-CA" b="0" dirty="0"/>
              <a:t>That allowed us to do a clean topological sort and get a clear ranking.</a:t>
            </a:r>
          </a:p>
          <a:p>
            <a:r>
              <a:rPr lang="en-CA" b="0" dirty="0"/>
              <a:t>But in real data — like sports results, votes, or user preferences — cycles often appear:</a:t>
            </a:r>
          </a:p>
          <a:p>
            <a:r>
              <a:rPr lang="en-CA" b="0" dirty="0"/>
              <a:t>A beats B,</a:t>
            </a:r>
            <a:br>
              <a:rPr lang="en-CA" b="0" dirty="0"/>
            </a:br>
            <a:r>
              <a:rPr lang="en-CA" b="0" dirty="0"/>
              <a:t>B beats C,</a:t>
            </a:r>
            <a:br>
              <a:rPr lang="en-CA" b="0" dirty="0"/>
            </a:br>
            <a:r>
              <a:rPr lang="en-CA" b="0" dirty="0"/>
              <a:t>and C beats A.</a:t>
            </a:r>
          </a:p>
          <a:p>
            <a:r>
              <a:rPr lang="en-CA" b="0" dirty="0"/>
              <a:t>That creates a cycle, meaning there’s no perfect linear ranking that satisfies all comparisons.</a:t>
            </a:r>
          </a:p>
          <a:p>
            <a:r>
              <a:rPr lang="en-CA" b="0" dirty="0"/>
              <a:t>🕸️ The problem</a:t>
            </a:r>
          </a:p>
          <a:p>
            <a:r>
              <a:rPr lang="en-CA" b="0" dirty="0"/>
              <a:t>When cycles exist, we call it a general directed graph (not a DAG).</a:t>
            </a:r>
            <a:br>
              <a:rPr lang="en-CA" b="0" dirty="0"/>
            </a:br>
            <a:r>
              <a:rPr lang="en-CA" b="0" dirty="0"/>
              <a:t>Our goal is to still find a </a:t>
            </a:r>
            <a:r>
              <a:rPr lang="en-CA" b="0" i="1" dirty="0"/>
              <a:t>best possible order</a:t>
            </a:r>
            <a:r>
              <a:rPr lang="en-CA" b="0" dirty="0"/>
              <a:t> that:</a:t>
            </a:r>
          </a:p>
          <a:p>
            <a:r>
              <a:rPr lang="en-CA" b="0" dirty="0"/>
              <a:t>Minimizes the number of “wrong-way” edges</a:t>
            </a:r>
            <a:br>
              <a:rPr lang="en-CA" b="0" dirty="0"/>
            </a:br>
            <a:r>
              <a:rPr lang="en-CA" b="0" dirty="0"/>
              <a:t>— edges that point backward in our final ranking.</a:t>
            </a:r>
          </a:p>
          <a:p>
            <a:r>
              <a:rPr lang="en-CA" b="0" dirty="0"/>
              <a:t>In other words, we want an order that breaks as few rules as possible.</a:t>
            </a:r>
          </a:p>
          <a:p>
            <a:r>
              <a:rPr lang="en-CA" b="0" dirty="0"/>
              <a:t>⚠️ The challenge</a:t>
            </a:r>
          </a:p>
          <a:p>
            <a:r>
              <a:rPr lang="en-CA" b="0" dirty="0"/>
              <a:t>Finding the minimum number of edges to remove to make the graph acyclic (a DAG)</a:t>
            </a:r>
            <a:br>
              <a:rPr lang="en-CA" b="0" dirty="0"/>
            </a:br>
            <a:r>
              <a:rPr lang="en-CA" b="0" dirty="0"/>
              <a:t>is an NP-complete problem — meaning it’s computationally very hard, especially as the number of items grows.</a:t>
            </a:r>
          </a:p>
          <a:p>
            <a:r>
              <a:rPr lang="en-CA" b="0" dirty="0"/>
              <a:t>There’s no known efficient (polynomial-time) algorithm to guarantee the best solution for large graphs.</a:t>
            </a:r>
          </a:p>
          <a:p>
            <a:r>
              <a:rPr lang="en-CA" b="0" dirty="0"/>
              <a:t>🧩 Heuristic (good-enough) approach</a:t>
            </a:r>
          </a:p>
          <a:p>
            <a:r>
              <a:rPr lang="en-CA" b="0" dirty="0"/>
              <a:t>Because the exact solution is intractable, we use heuristics — practical shortcuts that work well in most cases.</a:t>
            </a:r>
          </a:p>
          <a:p>
            <a:r>
              <a:rPr lang="en-CA" b="0" dirty="0"/>
              <a:t>One simple and effective heuristic:</a:t>
            </a:r>
          </a:p>
          <a:p>
            <a:r>
              <a:rPr lang="en-CA" b="0" dirty="0"/>
              <a:t>Sort nodes by the difference between their out-degree and in-degree.</a:t>
            </a:r>
          </a:p>
          <a:p>
            <a:r>
              <a:rPr lang="en-CA" b="0" dirty="0"/>
              <a:t>Out-degree: number of wins (edges going out)</a:t>
            </a:r>
          </a:p>
          <a:p>
            <a:r>
              <a:rPr lang="en-CA" b="0" dirty="0"/>
              <a:t>In-degree: number of losses (edges coming in)</a:t>
            </a:r>
          </a:p>
          <a:p>
            <a:r>
              <a:rPr lang="en-CA" b="0" dirty="0"/>
              <a:t>So, players or items that “beat” many others but are rarely beaten will appear higher in the ranking.</a:t>
            </a:r>
          </a:p>
          <a:p>
            <a:r>
              <a:rPr lang="en-CA" b="0" dirty="0"/>
              <a:t>score(node)=out-degree−in-degree\text{score}(node) = \text{out-degree} - \text{in-degree}score(node)=out-degree−in-degree This creates a </a:t>
            </a:r>
            <a:r>
              <a:rPr lang="en-CA" b="0" i="1" dirty="0"/>
              <a:t>reasonable ordering</a:t>
            </a:r>
            <a:r>
              <a:rPr lang="en-CA" b="0" dirty="0"/>
              <a:t>, even if cycles exist.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84cd721a73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84cd721a73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743754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84cd721a73_1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84cd721a73_1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b="0" dirty="0"/>
              <a:t>🧠 The idea behind the title</a:t>
            </a:r>
          </a:p>
          <a:p>
            <a:r>
              <a:rPr lang="en-CA" b="0" dirty="0"/>
              <a:t>This slide uses the famous saying — </a:t>
            </a:r>
            <a:r>
              <a:rPr lang="en-CA" b="0" i="1" dirty="0"/>
              <a:t>“All roads lead to Rome”</a:t>
            </a:r>
            <a:r>
              <a:rPr lang="en-CA" b="0" dirty="0"/>
              <a:t> — as a metaphor for PageRank.</a:t>
            </a:r>
          </a:p>
          <a:p>
            <a:r>
              <a:rPr lang="en-CA" b="0" dirty="0"/>
              <a:t>If every road (or link) connects to a place, that place must be important.</a:t>
            </a:r>
            <a:br>
              <a:rPr lang="en-CA" b="0" dirty="0"/>
            </a:br>
            <a:r>
              <a:rPr lang="en-CA" b="0" dirty="0"/>
              <a:t>Similarly, in a network (like the web, Wikipedia, or social connections),</a:t>
            </a:r>
            <a:br>
              <a:rPr lang="en-CA" b="0" dirty="0"/>
            </a:br>
            <a:r>
              <a:rPr lang="en-CA" b="0" dirty="0"/>
              <a:t>a node that many others point to — especially from other important nodes — is central and influential.</a:t>
            </a:r>
          </a:p>
          <a:p>
            <a:r>
              <a:rPr lang="en-CA" b="0" dirty="0"/>
              <a:t>That’s exactly what PageRank measures:</a:t>
            </a:r>
          </a:p>
          <a:p>
            <a:r>
              <a:rPr lang="en-CA" b="0" i="1" dirty="0"/>
              <a:t>How important a node is, based on who connects to it.</a:t>
            </a:r>
            <a:endParaRPr lang="en-CA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b="0" dirty="0"/>
          </a:p>
          <a:p>
            <a:r>
              <a:rPr lang="en-CA" b="0" dirty="0"/>
              <a:t>🧩 Interpretation of results</a:t>
            </a:r>
          </a:p>
          <a:p>
            <a:r>
              <a:rPr lang="en-CA" b="0" dirty="0"/>
              <a:t>In PR1 (all pages), names like </a:t>
            </a:r>
            <a:r>
              <a:rPr lang="en-CA" b="0" i="1" dirty="0"/>
              <a:t>Napoleon, Jesus, Aristotle</a:t>
            </a:r>
            <a:r>
              <a:rPr lang="en-CA" b="0" dirty="0"/>
              <a:t> appear —</a:t>
            </a:r>
            <a:br>
              <a:rPr lang="en-CA" b="0" dirty="0"/>
            </a:br>
            <a:r>
              <a:rPr lang="en-CA" b="0" dirty="0"/>
              <a:t>because they’re connected to a wide range of historical and conceptual pages (wars, philosophy, religion, etc.).</a:t>
            </a:r>
          </a:p>
          <a:p>
            <a:r>
              <a:rPr lang="en-CA" b="0" dirty="0"/>
              <a:t>In PR2 (people only), </a:t>
            </a:r>
            <a:r>
              <a:rPr lang="en-CA" b="0" i="1" dirty="0"/>
              <a:t>modern political figures</a:t>
            </a:r>
            <a:r>
              <a:rPr lang="en-CA" b="0" dirty="0"/>
              <a:t> dominate —</a:t>
            </a:r>
            <a:br>
              <a:rPr lang="en-CA" b="0" dirty="0"/>
            </a:br>
            <a:r>
              <a:rPr lang="en-CA" b="0" dirty="0"/>
              <a:t>because contemporary people are heavily cross-linked (e.g., U.S. presidents link to one another’s pages).</a:t>
            </a:r>
          </a:p>
          <a:p>
            <a:r>
              <a:rPr lang="en-CA" b="0" dirty="0"/>
              <a:t>It reflects how PageRank captures link-based influence,</a:t>
            </a:r>
            <a:br>
              <a:rPr lang="en-CA" b="0" dirty="0"/>
            </a:br>
            <a:r>
              <a:rPr lang="en-CA" b="0" dirty="0"/>
              <a:t>not moral judgment or fame, but structural connectedness.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84cd721a73_1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84cd721a73_1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73bac2a5c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73bac2a5c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64485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85690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05637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59089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10/6/2026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87638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10/6/2026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92074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10/6/2026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942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7678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75156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45191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06491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8635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716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jpg"/><Relationship Id="rId4" Type="http://schemas.openxmlformats.org/officeDocument/2006/relationships/image" Target="../media/image10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ctrTitle"/>
          </p:nvPr>
        </p:nvSpPr>
        <p:spPr>
          <a:xfrm>
            <a:off x="457200" y="716160"/>
            <a:ext cx="8229600" cy="30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4800" dirty="0"/>
              <a:t>Scores Ranking and Statistical Distribution </a:t>
            </a:r>
            <a:endParaRPr sz="4800" dirty="0"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CA" sz="3600" dirty="0"/>
              <a:t>Fatemeh Riahi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CA" sz="3600" dirty="0"/>
              <a:t>BCIT</a:t>
            </a:r>
            <a:endParaRPr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Scores and Rankings</a:t>
            </a:r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4171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0000"/>
                </a:solidFill>
              </a:rPr>
              <a:t>Scoring functions </a:t>
            </a:r>
            <a:r>
              <a:rPr lang="en" dirty="0">
                <a:solidFill>
                  <a:srgbClr val="000000"/>
                </a:solidFill>
              </a:rPr>
              <a:t>are measures that reduce multi-dimensional data to a single value, to highlight some particular property.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0000"/>
                </a:solidFill>
              </a:rPr>
              <a:t>Rankings </a:t>
            </a:r>
            <a:r>
              <a:rPr lang="en" dirty="0">
                <a:solidFill>
                  <a:srgbClr val="000000"/>
                </a:solidFill>
              </a:rPr>
              <a:t>order items, usually by sorting scores.</a:t>
            </a:r>
            <a:endParaRPr dirty="0">
              <a:solidFill>
                <a:srgbClr val="000000"/>
              </a:solidFill>
            </a:endParaRPr>
          </a:p>
        </p:txBody>
      </p:sp>
      <p:pic>
        <p:nvPicPr>
          <p:cNvPr id="43" name="Google Shape;4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7320" y="2671253"/>
            <a:ext cx="1470525" cy="11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277" y="2622429"/>
            <a:ext cx="1581500" cy="142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9845" y="3778403"/>
            <a:ext cx="2176944" cy="8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12210" y="2647096"/>
            <a:ext cx="1232625" cy="142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54302" y="2741963"/>
            <a:ext cx="1232625" cy="642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73206" y="2717100"/>
            <a:ext cx="1232625" cy="1078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71495" y="205975"/>
            <a:ext cx="1045431" cy="107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Assigning Grades</a:t>
            </a: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65150" y="1417800"/>
            <a:ext cx="85077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Course grades get assigned by scoring functions.   Observe that grading systems have:</a:t>
            </a:r>
            <a:endParaRPr dirty="0"/>
          </a:p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 dirty="0">
                <a:solidFill>
                  <a:srgbClr val="FF0000"/>
                </a:solidFill>
              </a:rPr>
              <a:t>Degrees of arbitrariness:</a:t>
            </a:r>
            <a:r>
              <a:rPr lang="en" dirty="0"/>
              <a:t> each teacher differs.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dirty="0">
                <a:solidFill>
                  <a:srgbClr val="FF0000"/>
                </a:solidFill>
              </a:rPr>
              <a:t>Lack of validation data</a:t>
            </a:r>
            <a:r>
              <a:rPr lang="en" dirty="0"/>
              <a:t>: there is no </a:t>
            </a:r>
            <a:r>
              <a:rPr lang="en" i="1" dirty="0"/>
              <a:t>right</a:t>
            </a:r>
            <a:r>
              <a:rPr lang="en" dirty="0"/>
              <a:t> grade.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dirty="0">
                <a:solidFill>
                  <a:srgbClr val="FF0000"/>
                </a:solidFill>
              </a:rPr>
              <a:t>General robustness</a:t>
            </a:r>
            <a:r>
              <a:rPr lang="en" dirty="0"/>
              <a:t>: students tend to get similar grades in all their classes anyway.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Calling scores </a:t>
            </a:r>
            <a:r>
              <a:rPr lang="en" i="1" dirty="0"/>
              <a:t>statistics</a:t>
            </a:r>
            <a:r>
              <a:rPr lang="en" dirty="0"/>
              <a:t> lends them more dignity.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Scoring vs. Regression</a:t>
            </a:r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1"/>
          </p:nvPr>
        </p:nvSpPr>
        <p:spPr>
          <a:xfrm>
            <a:off x="533400" y="156210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 critical issue in designing scoring functions is that there is no gold standard/right answer.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0000"/>
                </a:solidFill>
              </a:rPr>
              <a:t>Machine learning techniques like linear regression can learn a scoring function from features if you had training data, which generally you don’t.</a:t>
            </a:r>
            <a:endParaRPr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</a:rPr>
              <a:t>Google’s ranking algorithms train on click data.</a:t>
            </a:r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Body-Mass Index (BMI)</a:t>
            </a:r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body" idx="1"/>
          </p:nvPr>
        </p:nvSpPr>
        <p:spPr>
          <a:xfrm>
            <a:off x="699100" y="1517302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BMI is a score designed to capture whether your weight is under control: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Mass is in kg and height in meters</a:t>
            </a:r>
            <a:endParaRPr dirty="0"/>
          </a:p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 dirty="0"/>
              <a:t>Underweight: below 18.5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dirty="0"/>
              <a:t>Normal: 18.5 to 25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dirty="0"/>
              <a:t>Overweight: 25 to 30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dirty="0"/>
              <a:t>Obese: over 30</a:t>
            </a:r>
            <a:endParaRPr dirty="0"/>
          </a:p>
        </p:txBody>
      </p:sp>
      <p:pic>
        <p:nvPicPr>
          <p:cNvPr id="68" name="Google Shape;6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8750" y="1923438"/>
            <a:ext cx="20574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8205" y="2983145"/>
            <a:ext cx="31623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60505" y="-20987"/>
            <a:ext cx="983493" cy="131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BMI: Pro Basketball and US Football</a:t>
            </a:r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BMI is easy to interpret, and correlates with body fat.  Mass should scale with the square (or cube) of height. </a:t>
            </a:r>
            <a:endParaRPr/>
          </a:p>
        </p:txBody>
      </p:sp>
      <p:pic>
        <p:nvPicPr>
          <p:cNvPr id="77" name="Google Shape;77;p13" descr="bmi-basketball-goo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650" y="2198276"/>
            <a:ext cx="3702525" cy="211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3" descr="bmi-football-goo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2150" y="2302118"/>
            <a:ext cx="3702525" cy="2115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Transcript Performance?</a:t>
            </a:r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552450" y="13398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Propose a statistic to map a student’s grade transcript at BCIT to a single numerical score such that better performance gets a higher score?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Gold Standards and Proxies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1807A-B8C7-0637-FD42-DF54E7EF5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701" y="1464167"/>
            <a:ext cx="8229600" cy="3725700"/>
          </a:xfrm>
        </p:spPr>
        <p:txBody>
          <a:bodyPr/>
          <a:lstStyle/>
          <a:p>
            <a:pPr marL="0" lvl="0" indent="0">
              <a:buNone/>
            </a:pPr>
            <a:r>
              <a:rPr lang="en-CA" dirty="0">
                <a:solidFill>
                  <a:srgbClr val="FF0000"/>
                </a:solidFill>
              </a:rPr>
              <a:t>Gold standards </a:t>
            </a:r>
            <a:r>
              <a:rPr lang="en-CA" dirty="0"/>
              <a:t>are labels or answers we trust to be correct, reflecting the scoring goal.</a:t>
            </a:r>
          </a:p>
          <a:p>
            <a:pPr marL="0" lvl="0" indent="0">
              <a:buNone/>
            </a:pPr>
            <a:r>
              <a:rPr lang="en-CA" dirty="0">
                <a:solidFill>
                  <a:srgbClr val="FF0000"/>
                </a:solidFill>
              </a:rPr>
              <a:t>Proxies</a:t>
            </a:r>
            <a:r>
              <a:rPr lang="en-CA" dirty="0"/>
              <a:t> are available quantities correlated with what we want to measure.</a:t>
            </a:r>
          </a:p>
          <a:p>
            <a:pPr marL="0" lvl="0" indent="0">
              <a:buNone/>
            </a:pPr>
            <a:r>
              <a:rPr lang="en-CA" dirty="0"/>
              <a:t>Your GPA or SAT/GRE is a proxy for how you should do in my class.</a:t>
            </a:r>
          </a:p>
          <a:p>
            <a:pPr marL="0" lvl="0" indent="0">
              <a:buNone/>
            </a:pPr>
            <a:endParaRPr lang="en-CA" dirty="0"/>
          </a:p>
          <a:p>
            <a:endParaRPr lang="en-C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Scoring vs. Machine Learning</a:t>
            </a:r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body" idx="1"/>
          </p:nvPr>
        </p:nvSpPr>
        <p:spPr>
          <a:xfrm>
            <a:off x="534473" y="1417800"/>
            <a:ext cx="84537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When you have a gold standard, you can train a regression function to accurately predict things.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When all you have are proxies, all you can do is evaluate your scoring function.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“Weapons of </a:t>
            </a:r>
            <a:r>
              <a:rPr lang="en" i="1" dirty="0"/>
              <a:t>Math</a:t>
            </a:r>
            <a:r>
              <a:rPr lang="en" dirty="0"/>
              <a:t> Destruction” happen when you confuse proxies for gold standards: e.g. student test scores for teaching quality.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Scores vs. Rankings</a:t>
            </a:r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body" idx="1"/>
          </p:nvPr>
        </p:nvSpPr>
        <p:spPr>
          <a:xfrm>
            <a:off x="579549" y="1464167"/>
            <a:ext cx="86868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Which is more interpretable depends on:</a:t>
            </a:r>
            <a:endParaRPr dirty="0"/>
          </a:p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000"/>
              <a:buChar char="●"/>
            </a:pPr>
            <a:r>
              <a:rPr lang="en" dirty="0">
                <a:solidFill>
                  <a:srgbClr val="FF0000"/>
                </a:solidFill>
              </a:rPr>
              <a:t>Will the numbers be presented in isolation?</a:t>
            </a:r>
            <a:endParaRPr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University A ranks 111th of 351 teams RPI=39.18</a:t>
            </a:r>
            <a:endParaRPr dirty="0"/>
          </a:p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000"/>
              <a:buChar char="●"/>
            </a:pPr>
            <a:r>
              <a:rPr lang="en" dirty="0">
                <a:solidFill>
                  <a:srgbClr val="FF0000"/>
                </a:solidFill>
              </a:rPr>
              <a:t>What is the distribution of scores?</a:t>
            </a:r>
            <a:endParaRPr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How much better is #1 than #2?</a:t>
            </a:r>
            <a:endParaRPr dirty="0"/>
          </a:p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000"/>
              <a:buChar char="●"/>
            </a:pPr>
            <a:r>
              <a:rPr lang="en" dirty="0">
                <a:solidFill>
                  <a:srgbClr val="FF0000"/>
                </a:solidFill>
              </a:rPr>
              <a:t>Do you care about the middle or extremes?</a:t>
            </a:r>
            <a:endParaRPr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Small changes in score can cause big rank diffs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>
            <a:spLocks noGrp="1"/>
          </p:cNvSpPr>
          <p:nvPr>
            <p:ph type="title"/>
          </p:nvPr>
        </p:nvSpPr>
        <p:spPr>
          <a:xfrm>
            <a:off x="457200" y="205975"/>
            <a:ext cx="8525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Recognizing Good Scoring Functions</a:t>
            </a:r>
            <a:endParaRPr/>
          </a:p>
        </p:txBody>
      </p:sp>
      <p:sp>
        <p:nvSpPr>
          <p:cNvPr id="125" name="Google Shape;125;p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Easily computable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Easily understandable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Monotonic interpretation of variables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Produces satisfying results on outliers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Use systematically normalized variables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Ranking Techniques</a:t>
            </a:r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body" idx="1"/>
          </p:nvPr>
        </p:nvSpPr>
        <p:spPr>
          <a:xfrm>
            <a:off x="355600" y="1168616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Linear combinations of normalized values generally yield reasonable scores, but other techniques include:</a:t>
            </a:r>
            <a:endParaRPr dirty="0"/>
          </a:p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 dirty="0"/>
              <a:t>Elo rankings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dirty="0"/>
              <a:t>Merging rank orderings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dirty="0"/>
              <a:t>Directed graph orderings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dirty="0"/>
              <a:t>PageRank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29DC0B-6701-89C8-913F-B88B518C5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117014"/>
              </p:ext>
            </p:extLst>
          </p:nvPr>
        </p:nvGraphicFramePr>
        <p:xfrm>
          <a:off x="800100" y="2791196"/>
          <a:ext cx="7543800" cy="2103120"/>
        </p:xfrm>
        <a:graphic>
          <a:graphicData uri="http://schemas.openxmlformats.org/drawingml/2006/table">
            <a:tbl>
              <a:tblPr>
                <a:tableStyleId>{3375C79F-15B2-4227-ABAE-34BE07E8A4C8}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81200513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607844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8379965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Technique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Core Idea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Example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241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Elo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Pairwise competition &amp; probability updates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Sports, games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8881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Merging ranks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Combining multiple ranking lists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Voting, meta-search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485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Graph orderings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Use directional relationships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Tournaments, citations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6204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PageRank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Importance through network links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Web search, influence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0725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Comparisons</a:t>
            </a:r>
            <a:endParaRPr/>
          </a:p>
        </p:txBody>
      </p:sp>
      <p:sp>
        <p:nvSpPr>
          <p:cNvPr id="151" name="Google Shape;151;p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Rankings are often formed by analyzing series of binary comparisons:</a:t>
            </a:r>
            <a:endParaRPr dirty="0"/>
          </a:p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 dirty="0"/>
              <a:t>Team A beats team B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dirty="0"/>
              <a:t>Expert votes for A instead of B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dirty="0"/>
              <a:t>Student choses university A over B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0000"/>
                </a:solidFill>
              </a:rPr>
              <a:t>Vote counts fail to pick the best when different teams face different levels of competition.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Elo Rankings</a:t>
            </a:r>
            <a:endParaRPr dirty="0"/>
          </a:p>
        </p:txBody>
      </p:sp>
      <p:sp>
        <p:nvSpPr>
          <p:cNvPr id="177" name="Google Shape;177;p2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After starting equally ranked, scores are then adjusted to reflect the surprise of each match.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i="1"/>
              <a:t>S</a:t>
            </a:r>
            <a:r>
              <a:rPr lang="en"/>
              <a:t> is the actual score (-1,1) for </a:t>
            </a:r>
            <a:r>
              <a:rPr lang="en" i="1"/>
              <a:t>A</a:t>
            </a:r>
            <a:r>
              <a:rPr lang="en"/>
              <a:t>, with </a:t>
            </a:r>
            <a:r>
              <a:rPr lang="en" i="1"/>
              <a:t>mu</a:t>
            </a:r>
            <a:r>
              <a:rPr lang="en"/>
              <a:t> the expected score from the previous </a:t>
            </a:r>
            <a:r>
              <a:rPr lang="en" i="1"/>
              <a:t>r(A)</a:t>
            </a:r>
            <a:r>
              <a:rPr lang="en"/>
              <a:t> and </a:t>
            </a:r>
            <a:r>
              <a:rPr lang="en" i="1"/>
              <a:t>r(B)</a:t>
            </a:r>
            <a:r>
              <a:rPr lang="en"/>
              <a:t>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Parameter </a:t>
            </a:r>
            <a:r>
              <a:rPr lang="en" i="1"/>
              <a:t>k </a:t>
            </a:r>
            <a:r>
              <a:rPr lang="en"/>
              <a:t>modulates the maximum possible swing in any one match.</a:t>
            </a:r>
            <a:endParaRPr/>
          </a:p>
        </p:txBody>
      </p:sp>
      <p:pic>
        <p:nvPicPr>
          <p:cNvPr id="178" name="Google Shape;17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1125" y="2421950"/>
            <a:ext cx="3352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Expected Match Score?</a:t>
            </a:r>
            <a:endParaRPr/>
          </a:p>
        </p:txBody>
      </p:sp>
      <p:sp>
        <p:nvSpPr>
          <p:cNvPr id="184" name="Google Shape;184;p2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4552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P(A&gt;B) estimates the probability that A beats B,  then: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the ranking system is meaningful, this probability should be a function of the difference between the scores </a:t>
            </a:r>
            <a:r>
              <a:rPr lang="en" i="1"/>
              <a:t>r(A)</a:t>
            </a:r>
            <a:r>
              <a:rPr lang="en"/>
              <a:t> and </a:t>
            </a:r>
            <a:r>
              <a:rPr lang="en" i="1"/>
              <a:t>r(B).</a:t>
            </a:r>
            <a:endParaRPr i="1"/>
          </a:p>
        </p:txBody>
      </p:sp>
      <p:pic>
        <p:nvPicPr>
          <p:cNvPr id="185" name="Google Shape;18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3625" y="2115650"/>
            <a:ext cx="4276725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Logit Function</a:t>
            </a:r>
            <a:endParaRPr/>
          </a:p>
        </p:txBody>
      </p:sp>
      <p:sp>
        <p:nvSpPr>
          <p:cNvPr id="191" name="Google Shape;191;p3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need a function f(x) that takes x and yields a probability:</a:t>
            </a:r>
            <a:endParaRPr/>
          </a:p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f(0) = ½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f(infty) = 1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f(-infty) = 0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2" name="Google Shape;19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809481"/>
            <a:ext cx="3773510" cy="2672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Elo Chess Ranking Example</a:t>
            </a:r>
            <a:endParaRPr dirty="0"/>
          </a:p>
        </p:txBody>
      </p:sp>
      <p:sp>
        <p:nvSpPr>
          <p:cNvPr id="198" name="Google Shape;198;p3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C6AB8AF-6045-8ECE-929C-E4C0A51DE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383382"/>
              </p:ext>
            </p:extLst>
          </p:nvPr>
        </p:nvGraphicFramePr>
        <p:xfrm>
          <a:off x="356890" y="1446176"/>
          <a:ext cx="5475605" cy="1303020"/>
        </p:xfrm>
        <a:graphic>
          <a:graphicData uri="http://schemas.openxmlformats.org/drawingml/2006/table">
            <a:tbl>
              <a:tblPr>
                <a:tableStyleId>{3375C79F-15B2-4227-ABAE-34BE07E8A4C8}</a:tableStyleId>
              </a:tblPr>
              <a:tblGrid>
                <a:gridCol w="1703705">
                  <a:extLst>
                    <a:ext uri="{9D8B030D-6E8A-4147-A177-3AD203B41FA5}">
                      <a16:colId xmlns:a16="http://schemas.microsoft.com/office/drawing/2014/main" val="3740631704"/>
                    </a:ext>
                  </a:extLst>
                </a:gridCol>
                <a:gridCol w="3771900">
                  <a:extLst>
                    <a:ext uri="{9D8B030D-6E8A-4147-A177-3AD203B41FA5}">
                      <a16:colId xmlns:a16="http://schemas.microsoft.com/office/drawing/2014/main" val="7004152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Player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Initial Rating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7882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Magnus Carlsen (A)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2840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426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Hikaru Nakamura (B)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2700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33885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A2BD761-C4BC-EE84-9FCF-3A7D77AEE2FC}"/>
              </a:ext>
            </a:extLst>
          </p:cNvPr>
          <p:cNvSpPr txBox="1"/>
          <p:nvPr/>
        </p:nvSpPr>
        <p:spPr>
          <a:xfrm>
            <a:off x="356890" y="2914198"/>
            <a:ext cx="2142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Compute the expected score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26E0FF-D2E4-BA24-45A3-8923D245F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028" y="2500432"/>
            <a:ext cx="5782482" cy="12003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D10894-C1B4-FCE8-16E3-894D8A0C4170}"/>
              </a:ext>
            </a:extLst>
          </p:cNvPr>
          <p:cNvSpPr txBox="1"/>
          <p:nvPr/>
        </p:nvSpPr>
        <p:spPr>
          <a:xfrm>
            <a:off x="3340225" y="383752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dirty="0"/>
              <a:t>Magnus is expected to win </a:t>
            </a:r>
            <a:r>
              <a:rPr lang="en-CA" b="1" dirty="0"/>
              <a:t>76% of the time</a:t>
            </a:r>
            <a:r>
              <a:rPr lang="en-CA" dirty="0"/>
              <a:t>, Hikaru only </a:t>
            </a:r>
            <a:r>
              <a:rPr lang="en-CA" b="1" dirty="0"/>
              <a:t>24%</a:t>
            </a:r>
            <a:r>
              <a:rPr lang="en-CA"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13AAF-1DE0-FF8E-C388-0341021E4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Elo Chess Ranking Example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A1957-6184-12A9-9FF6-110EAB072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Actual Match outcome </a:t>
            </a:r>
          </a:p>
          <a:p>
            <a:r>
              <a:rPr lang="en-CA" dirty="0"/>
              <a:t>Magnus </a:t>
            </a:r>
            <a:r>
              <a:rPr lang="en-CA" b="1" dirty="0"/>
              <a:t>loses</a:t>
            </a:r>
            <a:r>
              <a:rPr lang="en-CA" dirty="0"/>
              <a:t> to Hikaru.</a:t>
            </a:r>
          </a:p>
          <a:p>
            <a:r>
              <a:rPr lang="en-CA" dirty="0"/>
              <a:t>Update Ratings (K = 20)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903CEE-26CB-E7B9-4B1C-68855E366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291" y="1649386"/>
            <a:ext cx="2695951" cy="371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B04444-4F77-5A5F-0566-B1F5FCE5D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298" y="2015852"/>
            <a:ext cx="4439270" cy="971686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219B3D3-CFAA-7505-E274-3DF9E929F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558289"/>
              </p:ext>
            </p:extLst>
          </p:nvPr>
        </p:nvGraphicFramePr>
        <p:xfrm>
          <a:off x="661768" y="3268715"/>
          <a:ext cx="6460046" cy="1097280"/>
        </p:xfrm>
        <a:graphic>
          <a:graphicData uri="http://schemas.openxmlformats.org/drawingml/2006/table">
            <a:tbl>
              <a:tblPr>
                <a:tableStyleId>{3375C79F-15B2-4227-ABAE-34BE07E8A4C8}</a:tableStyleId>
              </a:tblPr>
              <a:tblGrid>
                <a:gridCol w="1430846">
                  <a:extLst>
                    <a:ext uri="{9D8B030D-6E8A-4147-A177-3AD203B41FA5}">
                      <a16:colId xmlns:a16="http://schemas.microsoft.com/office/drawing/2014/main" val="110233177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767497675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6931351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Player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New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Change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7377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Magnus Carlsen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2825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↓ –15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282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Hikaru Nakamura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2715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↑ +15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5214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3316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Merging Rankings / Votes</a:t>
            </a:r>
            <a:endParaRPr/>
          </a:p>
        </p:txBody>
      </p:sp>
      <p:sp>
        <p:nvSpPr>
          <p:cNvPr id="215" name="Google Shape;215;p3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Consider determining the winner of a multiparty election where each voter ranks the candidates in order of preference.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1. </a:t>
            </a:r>
            <a:r>
              <a:rPr lang="en"/>
              <a:t>BCIT </a:t>
            </a:r>
            <a:r>
              <a:rPr lang="en" dirty="0"/>
              <a:t>2. MIT   3. Illinois  4. ….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Equivalently, consider merging rankings independently drawn on different features.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Borda’s Method</a:t>
            </a:r>
            <a:endParaRPr/>
          </a:p>
        </p:txBody>
      </p:sp>
      <p:sp>
        <p:nvSpPr>
          <p:cNvPr id="221" name="Google Shape;221;p3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By assigning an increasing score per position, the resulting point total ranks the items: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Four voters, each ranking five items.</a:t>
            </a:r>
            <a:endParaRPr/>
          </a:p>
        </p:txBody>
      </p:sp>
      <p:pic>
        <p:nvPicPr>
          <p:cNvPr id="222" name="Google Shape;222;p34" descr="bordasmetho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8347" y="2960576"/>
            <a:ext cx="3475775" cy="139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Weights for Borda’s Method</a:t>
            </a:r>
            <a:endParaRPr/>
          </a:p>
        </p:txBody>
      </p:sp>
      <p:sp>
        <p:nvSpPr>
          <p:cNvPr id="228" name="Google Shape;228;p3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4849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Linear position weights make sense when we have equal confidence across all positions.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29" name="Google Shape;229;p35" descr="normalsamples-2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0962" y="2250996"/>
            <a:ext cx="2716475" cy="2037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5"/>
          <p:cNvSpPr txBox="1"/>
          <p:nvPr/>
        </p:nvSpPr>
        <p:spPr>
          <a:xfrm>
            <a:off x="457200" y="1787100"/>
            <a:ext cx="5339100" cy="25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dirty="0">
                <a:solidFill>
                  <a:schemeClr val="dk1"/>
                </a:solidFill>
              </a:rPr>
              <a:t>But we presumably trust our distinctions among the best/worst more than the middle elements, suggesting normally distributed weights.</a:t>
            </a:r>
            <a:endParaRPr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 Orderings</a:t>
            </a:r>
            <a:endParaRPr/>
          </a:p>
        </p:txBody>
      </p:sp>
      <p:sp>
        <p:nvSpPr>
          <p:cNvPr id="236" name="Google Shape;236;p3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6229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Treating the vote (A&gt;B) as an edge (A,B) yields a directed graph.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there are no inconsistencies, we get a directed acyclic graph (DAG).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Topologically sorting this DAG gives a reasonable order, like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ABCGDEF or GABCDEF</a:t>
            </a:r>
            <a:endParaRPr/>
          </a:p>
        </p:txBody>
      </p:sp>
      <p:pic>
        <p:nvPicPr>
          <p:cNvPr id="237" name="Google Shape;23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9875" y="1976950"/>
            <a:ext cx="2524125" cy="15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Ranking General Digraphs</a:t>
            </a:r>
            <a:endParaRPr/>
          </a:p>
        </p:txBody>
      </p:sp>
      <p:sp>
        <p:nvSpPr>
          <p:cNvPr id="243" name="Google Shape;243;p3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72783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For general directed graphs, we seek the order minimizing the number of ``wrong way’’ edges.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Cutting the minimum number of edges to leave a DAG is NP-complete.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But reasonable heuristics start by sorting by the difference between in/out degree.</a:t>
            </a:r>
            <a:endParaRPr dirty="0"/>
          </a:p>
        </p:txBody>
      </p:sp>
      <p:pic>
        <p:nvPicPr>
          <p:cNvPr id="244" name="Google Shape;24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7498" y="1708207"/>
            <a:ext cx="1524000" cy="1524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4D6A9F-A167-188D-70C5-799936B8C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360735"/>
              </p:ext>
            </p:extLst>
          </p:nvPr>
        </p:nvGraphicFramePr>
        <p:xfrm>
          <a:off x="625698" y="2819135"/>
          <a:ext cx="7543800" cy="1485900"/>
        </p:xfrm>
        <a:graphic>
          <a:graphicData uri="http://schemas.openxmlformats.org/drawingml/2006/table">
            <a:tbl>
              <a:tblPr>
                <a:tableStyleId>{3375C79F-15B2-4227-ABAE-34BE07E8A4C8}</a:tableStyleId>
              </a:tblPr>
              <a:tblGrid>
                <a:gridCol w="1885950">
                  <a:extLst>
                    <a:ext uri="{9D8B030D-6E8A-4147-A177-3AD203B41FA5}">
                      <a16:colId xmlns:a16="http://schemas.microsoft.com/office/drawing/2014/main" val="2622570646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4151113711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3447369479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40827790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Player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Wins (out-degree)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Losses (in-degree)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6701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+3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2773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+1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0510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–1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164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–3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03155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PageRank</a:t>
            </a:r>
            <a:endParaRPr dirty="0"/>
          </a:p>
        </p:txBody>
      </p:sp>
      <p:sp>
        <p:nvSpPr>
          <p:cNvPr id="250" name="Google Shape;250;p3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i="1" dirty="0"/>
              <a:t>PageRank(v,G) </a:t>
            </a:r>
            <a:r>
              <a:rPr lang="en" dirty="0"/>
              <a:t>corresponds to the probability that a random walk on </a:t>
            </a:r>
            <a:r>
              <a:rPr lang="en" i="1" dirty="0"/>
              <a:t>G</a:t>
            </a:r>
            <a:r>
              <a:rPr lang="en" dirty="0"/>
              <a:t> ends up at vertex </a:t>
            </a:r>
            <a:r>
              <a:rPr lang="en" i="1" dirty="0"/>
              <a:t>v</a:t>
            </a:r>
            <a:r>
              <a:rPr lang="en" dirty="0"/>
              <a:t>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 basic formula is: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This recursive formula defines an iterative algorithm, which quickly converges in practice.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51" name="Google Shape;25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7514" y="2544304"/>
            <a:ext cx="41243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6800" y="40957"/>
            <a:ext cx="1921096" cy="123751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83F825-7ED9-D930-947B-DD92B7A20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017728"/>
              </p:ext>
            </p:extLst>
          </p:nvPr>
        </p:nvGraphicFramePr>
        <p:xfrm>
          <a:off x="677333" y="3451622"/>
          <a:ext cx="7543800" cy="14859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771900">
                  <a:extLst>
                    <a:ext uri="{9D8B030D-6E8A-4147-A177-3AD203B41FA5}">
                      <a16:colId xmlns:a16="http://schemas.microsoft.com/office/drawing/2014/main" val="3718693533"/>
                    </a:ext>
                  </a:extLst>
                </a:gridCol>
                <a:gridCol w="3771900">
                  <a:extLst>
                    <a:ext uri="{9D8B030D-6E8A-4147-A177-3AD203B41FA5}">
                      <a16:colId xmlns:a16="http://schemas.microsoft.com/office/drawing/2014/main" val="7125031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7614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The page (node) we’re computing PageRank for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2750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(</a:t>
                      </a:r>
                      <a:r>
                        <a:rPr lang="en-CA" dirty="0" err="1"/>
                        <a:t>u,v</a:t>
                      </a:r>
                      <a:r>
                        <a:rPr lang="en-CA" dirty="0"/>
                        <a:t>) in 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An edge from page ( u ) to page ( v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4474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PR_{j-1}(u)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PageRank of ( u ) from the previous iteration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9368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(out-degree}(u)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Number of outgoing links from ( u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79069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A7C1E-3395-22D7-57D5-6E589EB77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How it works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046CC-5DB9-1763-67D9-89D2C8B59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Start by giving all pages an </a:t>
            </a:r>
            <a:r>
              <a:rPr lang="en-CA" b="1" dirty="0"/>
              <a:t>equal score</a:t>
            </a:r>
            <a:r>
              <a:rPr lang="en-CA" dirty="0"/>
              <a:t> (e.g., 1/N).</a:t>
            </a:r>
          </a:p>
          <a:p>
            <a:r>
              <a:rPr lang="en-CA" dirty="0"/>
              <a:t>In each iteration, update each page’s score using the formula.</a:t>
            </a:r>
          </a:p>
          <a:p>
            <a:pPr lvl="1"/>
            <a:r>
              <a:rPr lang="en-CA" dirty="0"/>
              <a:t>Pages receive </a:t>
            </a:r>
            <a:r>
              <a:rPr lang="en-CA" i="1" dirty="0"/>
              <a:t>fractional contributions</a:t>
            </a:r>
            <a:r>
              <a:rPr lang="en-CA" dirty="0"/>
              <a:t> from the pages that link to them.</a:t>
            </a:r>
          </a:p>
          <a:p>
            <a:r>
              <a:rPr lang="en-CA" dirty="0"/>
              <a:t>Repeat until the scores </a:t>
            </a:r>
            <a:r>
              <a:rPr lang="en-CA" b="1" dirty="0"/>
              <a:t>stop changing much</a:t>
            </a:r>
            <a:r>
              <a:rPr lang="en-CA" dirty="0"/>
              <a:t> (the algorithm </a:t>
            </a:r>
            <a:r>
              <a:rPr lang="en-CA" i="1" dirty="0"/>
              <a:t>converges</a:t>
            </a:r>
            <a:r>
              <a:rPr lang="en-CA" dirty="0"/>
              <a:t>).</a:t>
            </a:r>
          </a:p>
          <a:p>
            <a:r>
              <a:rPr lang="en-CA" dirty="0"/>
              <a:t>After convergence, the scores represent the </a:t>
            </a:r>
            <a:r>
              <a:rPr lang="en-CA" b="1" dirty="0"/>
              <a:t>steady-state probabilities</a:t>
            </a:r>
            <a:r>
              <a:rPr lang="en-CA" dirty="0"/>
              <a:t> of the random walk.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430531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4AF68-ADD3-6ACD-D415-61273DC3E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Page Rank example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DF81E-39C1-F765-7F87-CEE10B9B9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Suppose you have three pages</a:t>
            </a:r>
          </a:p>
          <a:p>
            <a:r>
              <a:rPr lang="en-CA" dirty="0"/>
              <a:t>Step 1 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D257BE-BFB4-267A-D19E-E127FC248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0834" y="141658"/>
            <a:ext cx="1543265" cy="1143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8DABF6-845C-13C5-528B-761B16868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675" y="1584292"/>
            <a:ext cx="5191850" cy="5334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A46800-D0F9-892D-7BBC-A8BB8B3A1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315" y="2063594"/>
            <a:ext cx="4694719" cy="299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0392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If All Roads Lead to Rome...</a:t>
            </a:r>
            <a:endParaRPr dirty="0"/>
          </a:p>
        </p:txBody>
      </p:sp>
      <p:sp>
        <p:nvSpPr>
          <p:cNvPr id="258" name="Google Shape;258;p3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… then Rome must be an important place.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PageRank is a good feature to measure centrality or importance of vertices, like Wikipedia pages:</a:t>
            </a:r>
            <a:endParaRPr/>
          </a:p>
        </p:txBody>
      </p:sp>
      <p:pic>
        <p:nvPicPr>
          <p:cNvPr id="259" name="Google Shape;259;p39" descr="all-pagerank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0387" y="2242954"/>
            <a:ext cx="4294450" cy="199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PageRank in Practice</a:t>
            </a:r>
            <a:endParaRPr/>
          </a:p>
        </p:txBody>
      </p:sp>
      <p:sp>
        <p:nvSpPr>
          <p:cNvPr id="265" name="Google Shape;265;p4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Design decisions in PageRank include:</a:t>
            </a:r>
            <a:endParaRPr/>
          </a:p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Editing the graph to remove irrelevant vertices/edges (spam).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Removing outdegree zero vertices.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Allowing random jumps: the damping factor.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PageRank is less important to Google today than popularly supposed.</a:t>
            </a:r>
            <a:endParaRPr/>
          </a:p>
        </p:txBody>
      </p:sp>
      <p:pic>
        <p:nvPicPr>
          <p:cNvPr id="266" name="Google Shape;26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574" y="3426465"/>
            <a:ext cx="989925" cy="121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Arrow’s Impossibility Theorem</a:t>
            </a:r>
            <a:endParaRPr/>
          </a:p>
        </p:txBody>
      </p:sp>
      <p:sp>
        <p:nvSpPr>
          <p:cNvPr id="272" name="Google Shape;272;p41"/>
          <p:cNvSpPr txBox="1">
            <a:spLocks noGrp="1"/>
          </p:cNvSpPr>
          <p:nvPr>
            <p:ph type="body" idx="1"/>
          </p:nvPr>
        </p:nvSpPr>
        <p:spPr>
          <a:xfrm>
            <a:off x="656822" y="1332962"/>
            <a:ext cx="8389677" cy="25206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/>
              <a:t>There is no ranking system that satisfies all desirable properties:</a:t>
            </a:r>
            <a:endParaRPr sz="2000" dirty="0"/>
          </a:p>
        </p:txBody>
      </p:sp>
      <p:sp>
        <p:nvSpPr>
          <p:cNvPr id="273" name="Google Shape;273;p41"/>
          <p:cNvSpPr txBox="1"/>
          <p:nvPr/>
        </p:nvSpPr>
        <p:spPr>
          <a:xfrm>
            <a:off x="347729" y="1940015"/>
            <a:ext cx="5086800" cy="20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500" dirty="0"/>
              <a:t>The system should be complete: given A and B it must pick one or say equal preference.</a:t>
            </a:r>
            <a:endParaRPr sz="15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500" dirty="0"/>
              <a:t>The system must be transitive, meaning that if A&gt;B and B&gt;C then A&gt;C.</a:t>
            </a:r>
            <a:endParaRPr sz="15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500" dirty="0"/>
              <a:t>If every voter prefers A to B, then A wins over B.</a:t>
            </a:r>
            <a:endParaRPr sz="15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500" dirty="0"/>
              <a:t>Preferences cannot depend only on one dictator.</a:t>
            </a:r>
            <a:endParaRPr sz="15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500" dirty="0"/>
              <a:t>The preference of A to B should be independent of preferences for all other candidates.</a:t>
            </a:r>
            <a:endParaRPr sz="1500" dirty="0"/>
          </a:p>
        </p:txBody>
      </p:sp>
      <p:graphicFrame>
        <p:nvGraphicFramePr>
          <p:cNvPr id="274" name="Google Shape;274;p41"/>
          <p:cNvGraphicFramePr/>
          <p:nvPr>
            <p:extLst>
              <p:ext uri="{D42A27DB-BD31-4B8C-83A1-F6EECF244321}">
                <p14:modId xmlns:p14="http://schemas.microsoft.com/office/powerpoint/2010/main" val="1806121218"/>
              </p:ext>
            </p:extLst>
          </p:nvPr>
        </p:nvGraphicFramePr>
        <p:xfrm>
          <a:off x="5577714" y="2345383"/>
          <a:ext cx="3325600" cy="1554360"/>
        </p:xfrm>
        <a:graphic>
          <a:graphicData uri="http://schemas.openxmlformats.org/drawingml/2006/table">
            <a:tbl>
              <a:tblPr>
                <a:noFill/>
                <a:tableStyleId>{3375C79F-15B2-4227-ABAE-34BE07E8A4C8}</a:tableStyleId>
              </a:tblPr>
              <a:tblGrid>
                <a:gridCol w="83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8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Voter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Red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Green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Z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3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2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BBDC1C4-0D3F-85DE-2327-D9B20BA9DFBB}"/>
              </a:ext>
            </a:extLst>
          </p:cNvPr>
          <p:cNvSpPr txBox="1"/>
          <p:nvPr/>
        </p:nvSpPr>
        <p:spPr>
          <a:xfrm>
            <a:off x="347729" y="3945837"/>
            <a:ext cx="4897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Red beats Green, Green beat Blue, Blue beats Red</a:t>
            </a:r>
          </a:p>
          <a:p>
            <a:endParaRPr lang="en-CA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DAEBD-8ACA-1940-9581-140D6070B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Resources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DFCAC-1319-6DC5-6C70-195B01321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8898" indent="0">
              <a:buNone/>
            </a:pPr>
            <a:endParaRPr lang="en-CA" dirty="0"/>
          </a:p>
          <a:p>
            <a:pPr marL="88898" indent="0">
              <a:buNone/>
            </a:pPr>
            <a:r>
              <a:rPr lang="en-CA" dirty="0"/>
              <a:t>I would like to thank </a:t>
            </a:r>
            <a:r>
              <a:rPr lang="en-CA" b="1" dirty="0"/>
              <a:t>Dr. Steven S. </a:t>
            </a:r>
            <a:r>
              <a:rPr lang="en-CA" b="1" dirty="0" err="1"/>
              <a:t>Skiena</a:t>
            </a:r>
            <a:r>
              <a:rPr lang="en-CA" dirty="0"/>
              <a:t>, </a:t>
            </a:r>
            <a:r>
              <a:rPr lang="en-CA" b="1" dirty="0"/>
              <a:t>Dr. Christian Kästner</a:t>
            </a:r>
            <a:r>
              <a:rPr lang="en-CA" dirty="0"/>
              <a:t>, and </a:t>
            </a:r>
            <a:r>
              <a:rPr lang="en-CA" b="1" dirty="0"/>
              <a:t>Chip Huyen</a:t>
            </a:r>
            <a:r>
              <a:rPr lang="en-CA" dirty="0"/>
              <a:t> for the valuable resources they have provided through their coursework in machine learning and data science. Their materials have been instrumental in shaping my teaching in these areas.</a:t>
            </a:r>
          </a:p>
          <a:p>
            <a:pPr lvl="0"/>
            <a:r>
              <a:rPr lang="en-CA" dirty="0"/>
              <a:t>The Data Science Design Manual, Steven S. </a:t>
            </a:r>
            <a:r>
              <a:rPr lang="en-CA" dirty="0" err="1"/>
              <a:t>Skiena</a:t>
            </a:r>
            <a:endParaRPr lang="en-CA" dirty="0"/>
          </a:p>
          <a:p>
            <a:pPr lvl="0"/>
            <a:r>
              <a:rPr lang="en-CA" dirty="0"/>
              <a:t>Learning From Data, by Yaser S. Abu-Mostafa, Malik </a:t>
            </a:r>
            <a:r>
              <a:rPr lang="en-CA" dirty="0" err="1"/>
              <a:t>Magdon</a:t>
            </a:r>
            <a:r>
              <a:rPr lang="en-CA" dirty="0"/>
              <a:t>-Ismail, Hsuan-Tien Lin</a:t>
            </a:r>
          </a:p>
          <a:p>
            <a:pPr lvl="0"/>
            <a:r>
              <a:rPr lang="en-CA" dirty="0"/>
              <a:t>Machine Learning in Production: From Models to Products by Christian Kästner</a:t>
            </a:r>
          </a:p>
          <a:p>
            <a:pPr lvl="0"/>
            <a:r>
              <a:rPr lang="en-CA" dirty="0"/>
              <a:t>Designing Machine Learning Systems, Chip Huyen</a:t>
            </a:r>
          </a:p>
          <a:p>
            <a:pPr marL="88898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6160159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322cefd-0a4c-4e2c-bde5-b17933e7b00f}" enabled="0" method="" siteId="{8322cefd-0a4c-4e2c-bde5-b17933e7b00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4113</TotalTime>
  <Words>6046</Words>
  <Application>Microsoft Office PowerPoint</Application>
  <PresentationFormat>On-screen Show (16:9)</PresentationFormat>
  <Paragraphs>538</Paragraphs>
  <Slides>30</Slides>
  <Notes>27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Retrospect</vt:lpstr>
      <vt:lpstr>Scores Ranking and Statistical Distribution </vt:lpstr>
      <vt:lpstr>Scores and Rankings</vt:lpstr>
      <vt:lpstr>Assigning Grades</vt:lpstr>
      <vt:lpstr>Scoring vs. Regression</vt:lpstr>
      <vt:lpstr>The Body-Mass Index (BMI)</vt:lpstr>
      <vt:lpstr>BMI: Pro Basketball and US Football</vt:lpstr>
      <vt:lpstr>Student Transcript Performance?</vt:lpstr>
      <vt:lpstr>Gold Standards and Proxies</vt:lpstr>
      <vt:lpstr>Scoring vs. Machine Learning</vt:lpstr>
      <vt:lpstr>Scores vs. Rankings</vt:lpstr>
      <vt:lpstr>Recognizing Good Scoring Functions</vt:lpstr>
      <vt:lpstr>Advanced Ranking Techniques</vt:lpstr>
      <vt:lpstr>Binary Comparisons</vt:lpstr>
      <vt:lpstr>Elo Rankings</vt:lpstr>
      <vt:lpstr>What is the Expected Match Score?</vt:lpstr>
      <vt:lpstr>The Logit Function</vt:lpstr>
      <vt:lpstr>Elo Chess Ranking Example</vt:lpstr>
      <vt:lpstr>Elo Chess Ranking Example</vt:lpstr>
      <vt:lpstr>Merging Rankings / Votes</vt:lpstr>
      <vt:lpstr>Borda’s Method</vt:lpstr>
      <vt:lpstr>Weights for Borda’s Method</vt:lpstr>
      <vt:lpstr>Directed Graph Orderings</vt:lpstr>
      <vt:lpstr>Ranking General Digraphs</vt:lpstr>
      <vt:lpstr>PageRank</vt:lpstr>
      <vt:lpstr>How it works</vt:lpstr>
      <vt:lpstr>Page Rank example </vt:lpstr>
      <vt:lpstr>If All Roads Lead to Rome...</vt:lpstr>
      <vt:lpstr>PageRank in Practice</vt:lpstr>
      <vt:lpstr>Arrow’s Impossibility Theorem</vt:lpstr>
      <vt:lpstr>Resources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Fatemeh Riahi</cp:lastModifiedBy>
  <cp:revision>1</cp:revision>
  <dcterms:modified xsi:type="dcterms:W3CDTF">2026-10-06T16:02:20Z</dcterms:modified>
</cp:coreProperties>
</file>