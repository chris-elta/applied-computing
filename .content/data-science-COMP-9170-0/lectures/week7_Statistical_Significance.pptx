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327" r:id="rId8"/>
    <p:sldId id="328" r:id="rId9"/>
    <p:sldId id="329" r:id="rId10"/>
    <p:sldId id="263" r:id="rId11"/>
    <p:sldId id="264" r:id="rId12"/>
    <p:sldId id="265" r:id="rId13"/>
    <p:sldId id="330" r:id="rId14"/>
    <p:sldId id="331" r:id="rId15"/>
    <p:sldId id="332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326" r:id="rId3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599" autoAdjust="0"/>
  </p:normalViewPr>
  <p:slideViewPr>
    <p:cSldViewPr snapToGrid="0">
      <p:cViewPr varScale="1">
        <p:scale>
          <a:sx n="61" d="100"/>
          <a:sy n="61" d="100"/>
        </p:scale>
        <p:origin x="14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emeh Riahi" userId="74741997-fb4f-4f28-9311-b07723505439" providerId="ADAL" clId="{FFDDAFA8-B5D5-4209-8C2A-81F22C0401E0}"/>
    <pc:docChg chg="undo custSel addSld delSld">
      <pc:chgData name="Fatemeh Riahi" userId="74741997-fb4f-4f28-9311-b07723505439" providerId="ADAL" clId="{FFDDAFA8-B5D5-4209-8C2A-81F22C0401E0}" dt="2026-10-20T16:08:56.753" v="56" actId="47"/>
      <pc:docMkLst>
        <pc:docMk/>
      </pc:docMkLst>
      <pc:sldChg chg="add del">
        <pc:chgData name="Fatemeh Riahi" userId="74741997-fb4f-4f28-9311-b07723505439" providerId="ADAL" clId="{FFDDAFA8-B5D5-4209-8C2A-81F22C0401E0}" dt="2026-10-20T16:08:46.203" v="47" actId="47"/>
        <pc:sldMkLst>
          <pc:docMk/>
          <pc:sldMk cId="0" sldId="280"/>
        </pc:sldMkLst>
      </pc:sldChg>
      <pc:sldChg chg="add del">
        <pc:chgData name="Fatemeh Riahi" userId="74741997-fb4f-4f28-9311-b07723505439" providerId="ADAL" clId="{FFDDAFA8-B5D5-4209-8C2A-81F22C0401E0}" dt="2026-10-20T16:08:46.453" v="48" actId="47"/>
        <pc:sldMkLst>
          <pc:docMk/>
          <pc:sldMk cId="0" sldId="281"/>
        </pc:sldMkLst>
      </pc:sldChg>
      <pc:sldChg chg="add del">
        <pc:chgData name="Fatemeh Riahi" userId="74741997-fb4f-4f28-9311-b07723505439" providerId="ADAL" clId="{FFDDAFA8-B5D5-4209-8C2A-81F22C0401E0}" dt="2026-10-20T16:08:46.703" v="49" actId="47"/>
        <pc:sldMkLst>
          <pc:docMk/>
          <pc:sldMk cId="0" sldId="282"/>
        </pc:sldMkLst>
      </pc:sldChg>
      <pc:sldChg chg="add del">
        <pc:chgData name="Fatemeh Riahi" userId="74741997-fb4f-4f28-9311-b07723505439" providerId="ADAL" clId="{FFDDAFA8-B5D5-4209-8C2A-81F22C0401E0}" dt="2026-10-20T16:08:47.019" v="50" actId="47"/>
        <pc:sldMkLst>
          <pc:docMk/>
          <pc:sldMk cId="0" sldId="283"/>
        </pc:sldMkLst>
      </pc:sldChg>
      <pc:sldChg chg="add del">
        <pc:chgData name="Fatemeh Riahi" userId="74741997-fb4f-4f28-9311-b07723505439" providerId="ADAL" clId="{FFDDAFA8-B5D5-4209-8C2A-81F22C0401E0}" dt="2026-10-20T16:08:47.397" v="51" actId="47"/>
        <pc:sldMkLst>
          <pc:docMk/>
          <pc:sldMk cId="0" sldId="284"/>
        </pc:sldMkLst>
      </pc:sldChg>
      <pc:sldChg chg="add del">
        <pc:chgData name="Fatemeh Riahi" userId="74741997-fb4f-4f28-9311-b07723505439" providerId="ADAL" clId="{FFDDAFA8-B5D5-4209-8C2A-81F22C0401E0}" dt="2026-10-20T16:08:47.787" v="52" actId="47"/>
        <pc:sldMkLst>
          <pc:docMk/>
          <pc:sldMk cId="0" sldId="285"/>
        </pc:sldMkLst>
      </pc:sldChg>
      <pc:sldChg chg="add del">
        <pc:chgData name="Fatemeh Riahi" userId="74741997-fb4f-4f28-9311-b07723505439" providerId="ADAL" clId="{FFDDAFA8-B5D5-4209-8C2A-81F22C0401E0}" dt="2026-10-20T16:08:48.179" v="53" actId="47"/>
        <pc:sldMkLst>
          <pc:docMk/>
          <pc:sldMk cId="0" sldId="286"/>
        </pc:sldMkLst>
      </pc:sldChg>
      <pc:sldChg chg="del">
        <pc:chgData name="Fatemeh Riahi" userId="74741997-fb4f-4f28-9311-b07723505439" providerId="ADAL" clId="{FFDDAFA8-B5D5-4209-8C2A-81F22C0401E0}" dt="2026-10-20T16:08:26.804" v="0" actId="47"/>
        <pc:sldMkLst>
          <pc:docMk/>
          <pc:sldMk cId="0" sldId="287"/>
        </pc:sldMkLst>
      </pc:sldChg>
      <pc:sldChg chg="del">
        <pc:chgData name="Fatemeh Riahi" userId="74741997-fb4f-4f28-9311-b07723505439" providerId="ADAL" clId="{FFDDAFA8-B5D5-4209-8C2A-81F22C0401E0}" dt="2026-10-20T16:08:27.522" v="1" actId="47"/>
        <pc:sldMkLst>
          <pc:docMk/>
          <pc:sldMk cId="0" sldId="288"/>
        </pc:sldMkLst>
      </pc:sldChg>
      <pc:sldChg chg="del">
        <pc:chgData name="Fatemeh Riahi" userId="74741997-fb4f-4f28-9311-b07723505439" providerId="ADAL" clId="{FFDDAFA8-B5D5-4209-8C2A-81F22C0401E0}" dt="2026-10-20T16:08:28.826" v="2" actId="47"/>
        <pc:sldMkLst>
          <pc:docMk/>
          <pc:sldMk cId="0" sldId="289"/>
        </pc:sldMkLst>
      </pc:sldChg>
      <pc:sldChg chg="del">
        <pc:chgData name="Fatemeh Riahi" userId="74741997-fb4f-4f28-9311-b07723505439" providerId="ADAL" clId="{FFDDAFA8-B5D5-4209-8C2A-81F22C0401E0}" dt="2026-10-20T16:08:30.406" v="3" actId="47"/>
        <pc:sldMkLst>
          <pc:docMk/>
          <pc:sldMk cId="0" sldId="290"/>
        </pc:sldMkLst>
      </pc:sldChg>
      <pc:sldChg chg="del">
        <pc:chgData name="Fatemeh Riahi" userId="74741997-fb4f-4f28-9311-b07723505439" providerId="ADAL" clId="{FFDDAFA8-B5D5-4209-8C2A-81F22C0401E0}" dt="2026-10-20T16:08:30.779" v="4" actId="47"/>
        <pc:sldMkLst>
          <pc:docMk/>
          <pc:sldMk cId="0" sldId="291"/>
        </pc:sldMkLst>
      </pc:sldChg>
      <pc:sldChg chg="del">
        <pc:chgData name="Fatemeh Riahi" userId="74741997-fb4f-4f28-9311-b07723505439" providerId="ADAL" clId="{FFDDAFA8-B5D5-4209-8C2A-81F22C0401E0}" dt="2026-10-20T16:08:31.040" v="5" actId="47"/>
        <pc:sldMkLst>
          <pc:docMk/>
          <pc:sldMk cId="0" sldId="292"/>
        </pc:sldMkLst>
      </pc:sldChg>
      <pc:sldChg chg="del">
        <pc:chgData name="Fatemeh Riahi" userId="74741997-fb4f-4f28-9311-b07723505439" providerId="ADAL" clId="{FFDDAFA8-B5D5-4209-8C2A-81F22C0401E0}" dt="2026-10-20T16:08:31.391" v="6" actId="47"/>
        <pc:sldMkLst>
          <pc:docMk/>
          <pc:sldMk cId="0" sldId="293"/>
        </pc:sldMkLst>
      </pc:sldChg>
      <pc:sldChg chg="del">
        <pc:chgData name="Fatemeh Riahi" userId="74741997-fb4f-4f28-9311-b07723505439" providerId="ADAL" clId="{FFDDAFA8-B5D5-4209-8C2A-81F22C0401E0}" dt="2026-10-20T16:08:32.161" v="7" actId="47"/>
        <pc:sldMkLst>
          <pc:docMk/>
          <pc:sldMk cId="0" sldId="294"/>
        </pc:sldMkLst>
      </pc:sldChg>
      <pc:sldChg chg="del">
        <pc:chgData name="Fatemeh Riahi" userId="74741997-fb4f-4f28-9311-b07723505439" providerId="ADAL" clId="{FFDDAFA8-B5D5-4209-8C2A-81F22C0401E0}" dt="2026-10-20T16:08:33.810" v="8" actId="47"/>
        <pc:sldMkLst>
          <pc:docMk/>
          <pc:sldMk cId="0" sldId="295"/>
        </pc:sldMkLst>
      </pc:sldChg>
      <pc:sldChg chg="del">
        <pc:chgData name="Fatemeh Riahi" userId="74741997-fb4f-4f28-9311-b07723505439" providerId="ADAL" clId="{FFDDAFA8-B5D5-4209-8C2A-81F22C0401E0}" dt="2026-10-20T16:08:34.093" v="9" actId="47"/>
        <pc:sldMkLst>
          <pc:docMk/>
          <pc:sldMk cId="0" sldId="296"/>
        </pc:sldMkLst>
      </pc:sldChg>
      <pc:sldChg chg="del">
        <pc:chgData name="Fatemeh Riahi" userId="74741997-fb4f-4f28-9311-b07723505439" providerId="ADAL" clId="{FFDDAFA8-B5D5-4209-8C2A-81F22C0401E0}" dt="2026-10-20T16:08:34.324" v="10" actId="47"/>
        <pc:sldMkLst>
          <pc:docMk/>
          <pc:sldMk cId="0" sldId="297"/>
        </pc:sldMkLst>
      </pc:sldChg>
      <pc:sldChg chg="del">
        <pc:chgData name="Fatemeh Riahi" userId="74741997-fb4f-4f28-9311-b07723505439" providerId="ADAL" clId="{FFDDAFA8-B5D5-4209-8C2A-81F22C0401E0}" dt="2026-10-20T16:08:34.636" v="11" actId="47"/>
        <pc:sldMkLst>
          <pc:docMk/>
          <pc:sldMk cId="0" sldId="298"/>
        </pc:sldMkLst>
      </pc:sldChg>
      <pc:sldChg chg="del">
        <pc:chgData name="Fatemeh Riahi" userId="74741997-fb4f-4f28-9311-b07723505439" providerId="ADAL" clId="{FFDDAFA8-B5D5-4209-8C2A-81F22C0401E0}" dt="2026-10-20T16:08:35.033" v="12" actId="47"/>
        <pc:sldMkLst>
          <pc:docMk/>
          <pc:sldMk cId="0" sldId="299"/>
        </pc:sldMkLst>
      </pc:sldChg>
      <pc:sldChg chg="del">
        <pc:chgData name="Fatemeh Riahi" userId="74741997-fb4f-4f28-9311-b07723505439" providerId="ADAL" clId="{FFDDAFA8-B5D5-4209-8C2A-81F22C0401E0}" dt="2026-10-20T16:08:35.412" v="13" actId="47"/>
        <pc:sldMkLst>
          <pc:docMk/>
          <pc:sldMk cId="0" sldId="300"/>
        </pc:sldMkLst>
      </pc:sldChg>
      <pc:sldChg chg="del">
        <pc:chgData name="Fatemeh Riahi" userId="74741997-fb4f-4f28-9311-b07723505439" providerId="ADAL" clId="{FFDDAFA8-B5D5-4209-8C2A-81F22C0401E0}" dt="2026-10-20T16:08:35.678" v="14" actId="47"/>
        <pc:sldMkLst>
          <pc:docMk/>
          <pc:sldMk cId="0" sldId="301"/>
        </pc:sldMkLst>
      </pc:sldChg>
      <pc:sldChg chg="del">
        <pc:chgData name="Fatemeh Riahi" userId="74741997-fb4f-4f28-9311-b07723505439" providerId="ADAL" clId="{FFDDAFA8-B5D5-4209-8C2A-81F22C0401E0}" dt="2026-10-20T16:08:36.041" v="15" actId="47"/>
        <pc:sldMkLst>
          <pc:docMk/>
          <pc:sldMk cId="0" sldId="302"/>
        </pc:sldMkLst>
      </pc:sldChg>
      <pc:sldChg chg="del">
        <pc:chgData name="Fatemeh Riahi" userId="74741997-fb4f-4f28-9311-b07723505439" providerId="ADAL" clId="{FFDDAFA8-B5D5-4209-8C2A-81F22C0401E0}" dt="2026-10-20T16:08:36.326" v="16" actId="47"/>
        <pc:sldMkLst>
          <pc:docMk/>
          <pc:sldMk cId="0" sldId="303"/>
        </pc:sldMkLst>
      </pc:sldChg>
      <pc:sldChg chg="del">
        <pc:chgData name="Fatemeh Riahi" userId="74741997-fb4f-4f28-9311-b07723505439" providerId="ADAL" clId="{FFDDAFA8-B5D5-4209-8C2A-81F22C0401E0}" dt="2026-10-20T16:08:36.706" v="17" actId="47"/>
        <pc:sldMkLst>
          <pc:docMk/>
          <pc:sldMk cId="0" sldId="304"/>
        </pc:sldMkLst>
      </pc:sldChg>
      <pc:sldChg chg="del">
        <pc:chgData name="Fatemeh Riahi" userId="74741997-fb4f-4f28-9311-b07723505439" providerId="ADAL" clId="{FFDDAFA8-B5D5-4209-8C2A-81F22C0401E0}" dt="2026-10-20T16:08:37.041" v="18" actId="47"/>
        <pc:sldMkLst>
          <pc:docMk/>
          <pc:sldMk cId="0" sldId="305"/>
        </pc:sldMkLst>
      </pc:sldChg>
      <pc:sldChg chg="del">
        <pc:chgData name="Fatemeh Riahi" userId="74741997-fb4f-4f28-9311-b07723505439" providerId="ADAL" clId="{FFDDAFA8-B5D5-4209-8C2A-81F22C0401E0}" dt="2026-10-20T16:08:37.353" v="19" actId="47"/>
        <pc:sldMkLst>
          <pc:docMk/>
          <pc:sldMk cId="0" sldId="306"/>
        </pc:sldMkLst>
      </pc:sldChg>
      <pc:sldChg chg="del">
        <pc:chgData name="Fatemeh Riahi" userId="74741997-fb4f-4f28-9311-b07723505439" providerId="ADAL" clId="{FFDDAFA8-B5D5-4209-8C2A-81F22C0401E0}" dt="2026-10-20T16:08:37.625" v="20" actId="47"/>
        <pc:sldMkLst>
          <pc:docMk/>
          <pc:sldMk cId="0" sldId="307"/>
        </pc:sldMkLst>
      </pc:sldChg>
      <pc:sldChg chg="del">
        <pc:chgData name="Fatemeh Riahi" userId="74741997-fb4f-4f28-9311-b07723505439" providerId="ADAL" clId="{FFDDAFA8-B5D5-4209-8C2A-81F22C0401E0}" dt="2026-10-20T16:08:37.892" v="21" actId="47"/>
        <pc:sldMkLst>
          <pc:docMk/>
          <pc:sldMk cId="0" sldId="308"/>
        </pc:sldMkLst>
      </pc:sldChg>
      <pc:sldChg chg="del">
        <pc:chgData name="Fatemeh Riahi" userId="74741997-fb4f-4f28-9311-b07723505439" providerId="ADAL" clId="{FFDDAFA8-B5D5-4209-8C2A-81F22C0401E0}" dt="2026-10-20T16:08:38.164" v="22" actId="47"/>
        <pc:sldMkLst>
          <pc:docMk/>
          <pc:sldMk cId="0" sldId="309"/>
        </pc:sldMkLst>
      </pc:sldChg>
      <pc:sldChg chg="del">
        <pc:chgData name="Fatemeh Riahi" userId="74741997-fb4f-4f28-9311-b07723505439" providerId="ADAL" clId="{FFDDAFA8-B5D5-4209-8C2A-81F22C0401E0}" dt="2026-10-20T16:08:38.388" v="23" actId="47"/>
        <pc:sldMkLst>
          <pc:docMk/>
          <pc:sldMk cId="0" sldId="310"/>
        </pc:sldMkLst>
      </pc:sldChg>
      <pc:sldChg chg="del">
        <pc:chgData name="Fatemeh Riahi" userId="74741997-fb4f-4f28-9311-b07723505439" providerId="ADAL" clId="{FFDDAFA8-B5D5-4209-8C2A-81F22C0401E0}" dt="2026-10-20T16:08:38.636" v="24" actId="47"/>
        <pc:sldMkLst>
          <pc:docMk/>
          <pc:sldMk cId="0" sldId="311"/>
        </pc:sldMkLst>
      </pc:sldChg>
      <pc:sldChg chg="del">
        <pc:chgData name="Fatemeh Riahi" userId="74741997-fb4f-4f28-9311-b07723505439" providerId="ADAL" clId="{FFDDAFA8-B5D5-4209-8C2A-81F22C0401E0}" dt="2026-10-20T16:08:38.862" v="25" actId="47"/>
        <pc:sldMkLst>
          <pc:docMk/>
          <pc:sldMk cId="0" sldId="312"/>
        </pc:sldMkLst>
      </pc:sldChg>
      <pc:sldChg chg="del">
        <pc:chgData name="Fatemeh Riahi" userId="74741997-fb4f-4f28-9311-b07723505439" providerId="ADAL" clId="{FFDDAFA8-B5D5-4209-8C2A-81F22C0401E0}" dt="2026-10-20T16:08:39.101" v="26" actId="47"/>
        <pc:sldMkLst>
          <pc:docMk/>
          <pc:sldMk cId="0" sldId="313"/>
        </pc:sldMkLst>
      </pc:sldChg>
      <pc:sldChg chg="del">
        <pc:chgData name="Fatemeh Riahi" userId="74741997-fb4f-4f28-9311-b07723505439" providerId="ADAL" clId="{FFDDAFA8-B5D5-4209-8C2A-81F22C0401E0}" dt="2026-10-20T16:08:39.353" v="27" actId="47"/>
        <pc:sldMkLst>
          <pc:docMk/>
          <pc:sldMk cId="0" sldId="314"/>
        </pc:sldMkLst>
      </pc:sldChg>
      <pc:sldChg chg="del">
        <pc:chgData name="Fatemeh Riahi" userId="74741997-fb4f-4f28-9311-b07723505439" providerId="ADAL" clId="{FFDDAFA8-B5D5-4209-8C2A-81F22C0401E0}" dt="2026-10-20T16:08:39.592" v="28" actId="47"/>
        <pc:sldMkLst>
          <pc:docMk/>
          <pc:sldMk cId="0" sldId="315"/>
        </pc:sldMkLst>
      </pc:sldChg>
      <pc:sldChg chg="del">
        <pc:chgData name="Fatemeh Riahi" userId="74741997-fb4f-4f28-9311-b07723505439" providerId="ADAL" clId="{FFDDAFA8-B5D5-4209-8C2A-81F22C0401E0}" dt="2026-10-20T16:08:39.842" v="29" actId="47"/>
        <pc:sldMkLst>
          <pc:docMk/>
          <pc:sldMk cId="0" sldId="316"/>
        </pc:sldMkLst>
      </pc:sldChg>
      <pc:sldChg chg="del">
        <pc:chgData name="Fatemeh Riahi" userId="74741997-fb4f-4f28-9311-b07723505439" providerId="ADAL" clId="{FFDDAFA8-B5D5-4209-8C2A-81F22C0401E0}" dt="2026-10-20T16:08:40.088" v="30" actId="47"/>
        <pc:sldMkLst>
          <pc:docMk/>
          <pc:sldMk cId="0" sldId="317"/>
        </pc:sldMkLst>
      </pc:sldChg>
      <pc:sldChg chg="del">
        <pc:chgData name="Fatemeh Riahi" userId="74741997-fb4f-4f28-9311-b07723505439" providerId="ADAL" clId="{FFDDAFA8-B5D5-4209-8C2A-81F22C0401E0}" dt="2026-10-20T16:08:40.320" v="31" actId="47"/>
        <pc:sldMkLst>
          <pc:docMk/>
          <pc:sldMk cId="0" sldId="318"/>
        </pc:sldMkLst>
      </pc:sldChg>
      <pc:sldChg chg="del">
        <pc:chgData name="Fatemeh Riahi" userId="74741997-fb4f-4f28-9311-b07723505439" providerId="ADAL" clId="{FFDDAFA8-B5D5-4209-8C2A-81F22C0401E0}" dt="2026-10-20T16:08:40.565" v="32" actId="47"/>
        <pc:sldMkLst>
          <pc:docMk/>
          <pc:sldMk cId="0" sldId="319"/>
        </pc:sldMkLst>
      </pc:sldChg>
      <pc:sldChg chg="del">
        <pc:chgData name="Fatemeh Riahi" userId="74741997-fb4f-4f28-9311-b07723505439" providerId="ADAL" clId="{FFDDAFA8-B5D5-4209-8C2A-81F22C0401E0}" dt="2026-10-20T16:08:40.806" v="33" actId="47"/>
        <pc:sldMkLst>
          <pc:docMk/>
          <pc:sldMk cId="0" sldId="320"/>
        </pc:sldMkLst>
      </pc:sldChg>
      <pc:sldChg chg="del">
        <pc:chgData name="Fatemeh Riahi" userId="74741997-fb4f-4f28-9311-b07723505439" providerId="ADAL" clId="{FFDDAFA8-B5D5-4209-8C2A-81F22C0401E0}" dt="2026-10-20T16:08:41.035" v="34" actId="47"/>
        <pc:sldMkLst>
          <pc:docMk/>
          <pc:sldMk cId="0" sldId="321"/>
        </pc:sldMkLst>
      </pc:sldChg>
      <pc:sldChg chg="del">
        <pc:chgData name="Fatemeh Riahi" userId="74741997-fb4f-4f28-9311-b07723505439" providerId="ADAL" clId="{FFDDAFA8-B5D5-4209-8C2A-81F22C0401E0}" dt="2026-10-20T16:08:41.275" v="35" actId="47"/>
        <pc:sldMkLst>
          <pc:docMk/>
          <pc:sldMk cId="0" sldId="322"/>
        </pc:sldMkLst>
      </pc:sldChg>
      <pc:sldChg chg="del">
        <pc:chgData name="Fatemeh Riahi" userId="74741997-fb4f-4f28-9311-b07723505439" providerId="ADAL" clId="{FFDDAFA8-B5D5-4209-8C2A-81F22C0401E0}" dt="2026-10-20T16:08:41.520" v="36" actId="47"/>
        <pc:sldMkLst>
          <pc:docMk/>
          <pc:sldMk cId="0" sldId="323"/>
        </pc:sldMkLst>
      </pc:sldChg>
      <pc:sldChg chg="del">
        <pc:chgData name="Fatemeh Riahi" userId="74741997-fb4f-4f28-9311-b07723505439" providerId="ADAL" clId="{FFDDAFA8-B5D5-4209-8C2A-81F22C0401E0}" dt="2026-10-20T16:08:41.761" v="37" actId="47"/>
        <pc:sldMkLst>
          <pc:docMk/>
          <pc:sldMk cId="0" sldId="324"/>
        </pc:sldMkLst>
      </pc:sldChg>
      <pc:sldChg chg="add del">
        <pc:chgData name="Fatemeh Riahi" userId="74741997-fb4f-4f28-9311-b07723505439" providerId="ADAL" clId="{FFDDAFA8-B5D5-4209-8C2A-81F22C0401E0}" dt="2026-10-20T16:08:56.753" v="56" actId="47"/>
        <pc:sldMkLst>
          <pc:docMk/>
          <pc:sldMk cId="0" sldId="325"/>
        </pc:sldMkLst>
      </pc:sldChg>
      <pc:sldChg chg="add del">
        <pc:chgData name="Fatemeh Riahi" userId="74741997-fb4f-4f28-9311-b07723505439" providerId="ADAL" clId="{FFDDAFA8-B5D5-4209-8C2A-81F22C0401E0}" dt="2026-10-20T16:08:48.705" v="54" actId="47"/>
        <pc:sldMkLst>
          <pc:docMk/>
          <pc:sldMk cId="2061601595" sldId="32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8cb5c927a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28cb5c927a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8cb5c927aa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28cb5c927aa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dirty="0"/>
              <a:t>The scatter plot shows the </a:t>
            </a:r>
            <a:r>
              <a:rPr lang="en-CA" b="1" dirty="0"/>
              <a:t>impact of studying hours on final grades</a:t>
            </a:r>
            <a:r>
              <a:rPr lang="en-CA" dirty="0"/>
              <a:t>.</a:t>
            </a:r>
          </a:p>
          <a:p>
            <a:r>
              <a:rPr lang="en-CA" dirty="0"/>
              <a:t>Each color represents a </a:t>
            </a:r>
            <a:r>
              <a:rPr lang="en-CA" b="1" dirty="0"/>
              <a:t>different course</a:t>
            </a:r>
            <a:r>
              <a:rPr lang="en-CA" dirty="0"/>
              <a:t> (Algebra, English, etc.).</a:t>
            </a:r>
          </a:p>
          <a:p>
            <a:r>
              <a:rPr lang="en-CA" dirty="0"/>
              <a:t>If you look at </a:t>
            </a:r>
            <a:r>
              <a:rPr lang="en-CA" b="1" dirty="0"/>
              <a:t>all points combined</a:t>
            </a:r>
            <a:r>
              <a:rPr lang="en-CA" dirty="0"/>
              <a:t>, it seems that </a:t>
            </a:r>
            <a:r>
              <a:rPr lang="en-CA" b="1" dirty="0"/>
              <a:t>more hours of study = lower grades</a:t>
            </a:r>
            <a:r>
              <a:rPr lang="en-CA" dirty="0"/>
              <a:t> — a negative trend.</a:t>
            </a:r>
          </a:p>
          <a:p>
            <a:r>
              <a:rPr lang="en-CA" dirty="0"/>
              <a:t>But </a:t>
            </a:r>
            <a:r>
              <a:rPr lang="en-CA" b="1" dirty="0"/>
              <a:t>within each course (each color)</a:t>
            </a:r>
            <a:r>
              <a:rPr lang="en-CA" dirty="0"/>
              <a:t>, the trend is </a:t>
            </a:r>
            <a:r>
              <a:rPr lang="en-CA" b="1" dirty="0"/>
              <a:t>positive</a:t>
            </a:r>
            <a:r>
              <a:rPr lang="en-CA" dirty="0"/>
              <a:t> — more study time actually improves grades.</a:t>
            </a:r>
          </a:p>
          <a:p>
            <a:r>
              <a:rPr lang="en-CA" dirty="0"/>
              <a:t>“When we pool all the data, it looks like studying more makes grades worse. But when we split it by course, studying more actually helps. That’s Simpson’s Paradox — the overall trend reverses when we look at the subgroups.”</a:t>
            </a:r>
          </a:p>
          <a:p>
            <a:pPr marL="139700" indent="0">
              <a:buNone/>
            </a:pPr>
            <a:endParaRPr lang="en-CA" b="0" dirty="0"/>
          </a:p>
          <a:p>
            <a:pPr marL="139700" indent="0">
              <a:buNone/>
            </a:pPr>
            <a:endParaRPr lang="en-CA" b="0" dirty="0"/>
          </a:p>
          <a:p>
            <a:pPr marL="139700" indent="0">
              <a:buNone/>
            </a:pPr>
            <a:r>
              <a:rPr lang="en-CA" b="0" dirty="0"/>
              <a:t>Why It’s Called </a:t>
            </a:r>
            <a:r>
              <a:rPr lang="en-CA" b="0" i="1" dirty="0"/>
              <a:t>Simpson’s Paradox</a:t>
            </a:r>
            <a:r>
              <a:rPr lang="en-CA" b="0" dirty="0"/>
              <a:t> (or Simpson’s Effect)</a:t>
            </a:r>
          </a:p>
          <a:p>
            <a:r>
              <a:rPr lang="en-CA" b="0" dirty="0"/>
              <a:t>The phenomenon was first described by Edward H. Simpson, a British statistician, in 1951 in a paper titled </a:t>
            </a:r>
            <a:r>
              <a:rPr lang="en-CA" b="0" i="1" dirty="0"/>
              <a:t>“The Interpretation of Interaction in Contingency Tables.”</a:t>
            </a:r>
            <a:endParaRPr lang="en-CA" b="0" dirty="0"/>
          </a:p>
          <a:p>
            <a:r>
              <a:rPr lang="en-CA" b="0" dirty="0"/>
              <a:t>He noticed that the relationship (association) between two variables can change direction when a third variable is taken into account.</a:t>
            </a:r>
          </a:p>
          <a:p>
            <a:r>
              <a:rPr lang="en-CA" b="0" dirty="0"/>
              <a:t>Because of this surprising reversal, it was called a paradox — it seems to contradict logic at first glance.</a:t>
            </a:r>
          </a:p>
          <a:p>
            <a:r>
              <a:rPr lang="en-CA" b="0" dirty="0"/>
              <a:t>Sometimes, researchers call it “Simpson’s Effect” instead of “Paradox” because it’s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87f6a7e_0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787f6a7e_0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4219bd1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4219bd1_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d104e91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d104e91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263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590316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86245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d104e91_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6d104e91_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78cab69ef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78cab69ef_2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87f6a7e_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787f6a7e_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dirty="0"/>
              <a:t>“We often want to know: are these two groups really different, or could the difference be just due to random chance?”</a:t>
            </a:r>
          </a:p>
          <a:p>
            <a:r>
              <a:rPr lang="en-CA" dirty="0"/>
              <a:t>Example:</a:t>
            </a:r>
          </a:p>
          <a:p>
            <a:r>
              <a:rPr lang="en-CA" dirty="0"/>
              <a:t>“Say we test two teaching methods. Group A has an average score of 85, Group B has 82. Is that 3-point difference </a:t>
            </a:r>
            <a:r>
              <a:rPr lang="en-CA" i="1" dirty="0"/>
              <a:t>real</a:t>
            </a:r>
            <a:r>
              <a:rPr lang="en-CA" dirty="0"/>
              <a:t>, or just random noise?”</a:t>
            </a:r>
          </a:p>
          <a:p>
            <a:r>
              <a:rPr lang="en-CA" dirty="0"/>
              <a:t>“The </a:t>
            </a:r>
            <a:r>
              <a:rPr lang="en-CA" i="1" dirty="0"/>
              <a:t>t-test</a:t>
            </a:r>
            <a:r>
              <a:rPr lang="en-CA" dirty="0"/>
              <a:t> compares the difference between two means while accounting for how much variation there is inside each group.”</a:t>
            </a:r>
          </a:p>
          <a:p>
            <a:r>
              <a:rPr lang="en-CA" dirty="0"/>
              <a:t>If the </a:t>
            </a:r>
            <a:r>
              <a:rPr lang="en-CA" b="1" dirty="0"/>
              <a:t>difference between the means</a:t>
            </a:r>
            <a:r>
              <a:rPr lang="en-CA" dirty="0"/>
              <a:t> is </a:t>
            </a:r>
            <a:r>
              <a:rPr lang="en-CA" b="1" dirty="0"/>
              <a:t>large</a:t>
            </a:r>
            <a:r>
              <a:rPr lang="en-CA" dirty="0"/>
              <a:t>, and</a:t>
            </a:r>
          </a:p>
          <a:p>
            <a:r>
              <a:rPr lang="en-CA" dirty="0"/>
              <a:t>The </a:t>
            </a:r>
            <a:r>
              <a:rPr lang="en-CA" b="1" dirty="0"/>
              <a:t>spread (variability)</a:t>
            </a:r>
            <a:r>
              <a:rPr lang="en-CA" dirty="0"/>
              <a:t> within groups is </a:t>
            </a:r>
            <a:r>
              <a:rPr lang="en-CA" b="1" dirty="0"/>
              <a:t>small</a:t>
            </a:r>
            <a:r>
              <a:rPr lang="en-CA" dirty="0"/>
              <a:t>,</a:t>
            </a:r>
          </a:p>
          <a:p>
            <a:r>
              <a:rPr lang="en-CA" dirty="0"/>
              <a:t>Then we’re more confident the difference is </a:t>
            </a:r>
            <a:r>
              <a:rPr lang="en-CA" i="1" dirty="0"/>
              <a:t>real</a:t>
            </a:r>
            <a:r>
              <a:rPr lang="en-CA" dirty="0"/>
              <a:t>, not random.</a:t>
            </a:r>
          </a:p>
          <a:p>
            <a:r>
              <a:rPr lang="en-CA" dirty="0"/>
              <a:t>That’s what the bullets on your slide summarize nicely:</a:t>
            </a:r>
          </a:p>
          <a:p>
            <a:r>
              <a:rPr lang="en-CA" dirty="0"/>
              <a:t>Mean difference is large → more signal</a:t>
            </a:r>
          </a:p>
          <a:p>
            <a:r>
              <a:rPr lang="en-CA" dirty="0"/>
              <a:t>Standard deviations small → less noise</a:t>
            </a:r>
          </a:p>
          <a:p>
            <a:r>
              <a:rPr lang="en-CA" dirty="0"/>
              <a:t>Sample sizes large → more confidence</a:t>
            </a:r>
          </a:p>
          <a:p>
            <a:r>
              <a:rPr lang="en-CA" dirty="0"/>
              <a:t>The formula is </a:t>
            </a:r>
            <a:br>
              <a:rPr lang="en-CA" dirty="0"/>
            </a:br>
            <a:r>
              <a:rPr lang="en-CA" dirty="0"/>
              <a:t>“It’s basically a </a:t>
            </a:r>
            <a:r>
              <a:rPr lang="en-CA" b="1" dirty="0"/>
              <a:t>signal-to-noise ratio.</a:t>
            </a:r>
            <a:br>
              <a:rPr lang="en-CA" dirty="0"/>
            </a:br>
            <a:r>
              <a:rPr lang="en-CA" dirty="0"/>
              <a:t>The numerator (top) is the </a:t>
            </a:r>
            <a:r>
              <a:rPr lang="en-CA" i="1" dirty="0"/>
              <a:t>difference in means</a:t>
            </a:r>
            <a:r>
              <a:rPr lang="en-CA" dirty="0"/>
              <a:t> — our signal.</a:t>
            </a:r>
            <a:br>
              <a:rPr lang="en-CA" dirty="0"/>
            </a:br>
            <a:r>
              <a:rPr lang="en-CA" dirty="0"/>
              <a:t>The denominator (bottom) is the </a:t>
            </a:r>
            <a:r>
              <a:rPr lang="en-CA" i="1" dirty="0"/>
              <a:t>combined uncertainty</a:t>
            </a:r>
            <a:r>
              <a:rPr lang="en-CA" dirty="0"/>
              <a:t> — the noise.”</a:t>
            </a:r>
          </a:p>
          <a:p>
            <a:r>
              <a:rPr lang="en-CA" dirty="0"/>
              <a:t>S^2 are the sample variances.</a:t>
            </a:r>
          </a:p>
          <a:p>
            <a:r>
              <a:rPr lang="en-CA" dirty="0"/>
              <a:t>N1 and n2​ adjust for how much data we have — larger samples mean smaller uncertainty.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b="1" dirty="0"/>
              <a:t>Degrees of freedom (</a:t>
            </a:r>
            <a:r>
              <a:rPr lang="en-CA" b="1" dirty="0" err="1"/>
              <a:t>df</a:t>
            </a:r>
            <a:r>
              <a:rPr lang="en-CA" b="1" dirty="0"/>
              <a:t>):</a:t>
            </a:r>
            <a:endParaRPr lang="en-CA" dirty="0"/>
          </a:p>
          <a:p>
            <a:r>
              <a:rPr lang="en-CA" dirty="0"/>
              <a:t>The </a:t>
            </a:r>
            <a:r>
              <a:rPr lang="en-CA" b="1" dirty="0"/>
              <a:t>degrees of freedom</a:t>
            </a:r>
            <a:r>
              <a:rPr lang="en-CA" dirty="0"/>
              <a:t> represent the amount of information we have to estimate variability.</a:t>
            </a:r>
          </a:p>
          <a:p>
            <a:r>
              <a:rPr lang="en-CA" dirty="0"/>
              <a:t>For two independent samples:</a:t>
            </a:r>
          </a:p>
          <a:p>
            <a:r>
              <a:rPr lang="en-CA" dirty="0"/>
              <a:t>Smaller sample sizes → fewer degrees of freedom → wider tails in the t-distribution.</a:t>
            </a:r>
          </a:p>
          <a:p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Example: Comparing Two Small Samples</a:t>
            </a:r>
          </a:p>
          <a:p>
            <a:r>
              <a:rPr lang="en-CA" dirty="0"/>
              <a:t>(s)Traditional10755New Technique10804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16942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CA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98802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e7e3498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e7e3498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dirty="0"/>
              <a:t>“The KS test answers one question:</a:t>
            </a:r>
            <a:br>
              <a:rPr lang="en-CA" dirty="0"/>
            </a:br>
            <a:r>
              <a:rPr lang="en-CA" i="1" dirty="0"/>
              <a:t>Do these two samples seem to come from the same overall distribution?</a:t>
            </a:r>
            <a:r>
              <a:rPr lang="en-CA" dirty="0"/>
              <a:t>”</a:t>
            </a:r>
          </a:p>
          <a:p>
            <a:r>
              <a:rPr lang="en-CA" dirty="0"/>
              <a:t>It doesn’t assume the distributions are normal — that’s what makes it </a:t>
            </a:r>
            <a:r>
              <a:rPr lang="en-CA" b="1" dirty="0"/>
              <a:t>non-parametric</a:t>
            </a:r>
            <a:r>
              <a:rPr lang="en-CA" dirty="0"/>
              <a:t> and powerful.</a:t>
            </a:r>
          </a:p>
          <a:p>
            <a:r>
              <a:rPr lang="en-CA" dirty="0"/>
              <a:t>Example to give students:</a:t>
            </a:r>
          </a:p>
          <a:p>
            <a:r>
              <a:rPr lang="en-CA" dirty="0"/>
              <a:t>“Imagine you have two sets of test scores — one from last year and one from this year. You want to know if students’ performance changed overall, not just the mean, but the </a:t>
            </a:r>
            <a:r>
              <a:rPr lang="en-CA" i="1" dirty="0"/>
              <a:t>whole distribution</a:t>
            </a:r>
            <a:r>
              <a:rPr lang="en-CA" dirty="0"/>
              <a:t>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r>
              <a:rPr lang="en-CA" dirty="0"/>
              <a:t>The KS test compares the </a:t>
            </a:r>
            <a:r>
              <a:rPr lang="en-CA" b="1" dirty="0"/>
              <a:t>two empirical CDFs (cumulative distribution functions)</a:t>
            </a:r>
            <a:r>
              <a:rPr lang="en-CA" dirty="0"/>
              <a:t> of your samples.</a:t>
            </a:r>
          </a:p>
          <a:p>
            <a:r>
              <a:rPr lang="en-CA" dirty="0"/>
              <a:t>F1,n(x) : proportion of sample 1 values ≤ x</a:t>
            </a:r>
          </a:p>
          <a:p>
            <a:r>
              <a:rPr lang="en-CA" dirty="0"/>
              <a:t>F2,n′(x) : proportion of sample 2 values ≤ x</a:t>
            </a:r>
          </a:p>
          <a:p>
            <a:r>
              <a:rPr lang="en-CA" b="1" dirty="0"/>
              <a:t>Interpretation:</a:t>
            </a:r>
            <a:endParaRPr lang="en-CA" dirty="0"/>
          </a:p>
          <a:p>
            <a:r>
              <a:rPr lang="en-CA" dirty="0"/>
              <a:t>“We slide across all possible x-values and measure the largest vertical distance between the two CDF curves.</a:t>
            </a:r>
            <a:br>
              <a:rPr lang="en-CA" dirty="0"/>
            </a:br>
            <a:r>
              <a:rPr lang="en-CA" dirty="0"/>
              <a:t>That biggest gap — the black arrow in the figure — is the KS statistic.”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c(α) is a constant that depends on the </a:t>
            </a:r>
            <a:r>
              <a:rPr lang="en-CA" b="1" dirty="0"/>
              <a:t>significance level (α)</a:t>
            </a:r>
            <a:r>
              <a:rPr lang="en-CA" dirty="0"/>
              <a:t> — e.g., 0.05.</a:t>
            </a:r>
          </a:p>
          <a:p>
            <a:r>
              <a:rPr lang="en-CA" dirty="0"/>
              <a:t>If the computed DDD exceeds this threshold, we </a:t>
            </a:r>
            <a:r>
              <a:rPr lang="en-CA" b="1" dirty="0"/>
              <a:t>reject the null hypothesis</a:t>
            </a:r>
            <a:r>
              <a:rPr lang="en-CA" dirty="0"/>
              <a:t> (that both samples come from the same distribution).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Point at the red and blue lines:</a:t>
            </a:r>
          </a:p>
          <a:p>
            <a:r>
              <a:rPr lang="en-CA" dirty="0"/>
              <a:t>Red = empirical CDF of sample 1</a:t>
            </a:r>
          </a:p>
          <a:p>
            <a:r>
              <a:rPr lang="en-CA" dirty="0"/>
              <a:t>Blue = empirical CDF of sample 2</a:t>
            </a:r>
          </a:p>
          <a:p>
            <a:r>
              <a:rPr lang="en-CA" dirty="0"/>
              <a:t>The </a:t>
            </a:r>
            <a:r>
              <a:rPr lang="en-CA" b="1" dirty="0"/>
              <a:t>black vertical line</a:t>
            </a:r>
            <a:r>
              <a:rPr lang="en-CA" dirty="0"/>
              <a:t> shows the </a:t>
            </a:r>
            <a:r>
              <a:rPr lang="en-CA" b="1" dirty="0"/>
              <a:t>maximum distance</a:t>
            </a:r>
            <a:r>
              <a:rPr lang="en-CA" dirty="0"/>
              <a:t> (D-value).</a:t>
            </a:r>
          </a:p>
          <a:p>
            <a:r>
              <a:rPr lang="en-CA" dirty="0"/>
              <a:t>“If that distance is large, the samples likely come from different distributions.</a:t>
            </a:r>
            <a:br>
              <a:rPr lang="en-CA" dirty="0"/>
            </a:br>
            <a:r>
              <a:rPr lang="en-CA" dirty="0"/>
              <a:t>If they mostly overlap, they’re probably from the same one.”</a:t>
            </a:r>
          </a:p>
          <a:p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78cab69ef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78cab69ef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d104e91_0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d104e91_0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87f6a7e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87f6a7e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Who has more fingers men or women.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If the difference is on a large enough magnitude that I should care about it. 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7a7586d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7a7586d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dirty="0"/>
              <a:t>d=0.2d = 0.2d=0.2: the means differ by 0.2 of a standard deviation → </a:t>
            </a:r>
            <a:r>
              <a:rPr lang="en-CA" i="1" dirty="0"/>
              <a:t>small effect</a:t>
            </a:r>
            <a:endParaRPr lang="en-CA" dirty="0"/>
          </a:p>
          <a:p>
            <a:r>
              <a:rPr lang="en-CA" dirty="0"/>
              <a:t>d=0.5d = 0.5d=0.5: half a standard deviation → </a:t>
            </a:r>
            <a:r>
              <a:rPr lang="en-CA" i="1" dirty="0"/>
              <a:t>medium</a:t>
            </a:r>
            <a:endParaRPr lang="en-CA" dirty="0"/>
          </a:p>
          <a:p>
            <a:r>
              <a:rPr lang="en-CA" dirty="0"/>
              <a:t>d=0.8d = 0.8d=0.8: almost a full standard deviation → </a:t>
            </a:r>
            <a:r>
              <a:rPr lang="en-CA" i="1" dirty="0"/>
              <a:t>large</a:t>
            </a:r>
            <a:endParaRPr lang="en-CA" dirty="0"/>
          </a:p>
          <a:p>
            <a:r>
              <a:rPr lang="en-CA" dirty="0"/>
              <a:t>Example:</a:t>
            </a:r>
          </a:p>
          <a:p>
            <a:r>
              <a:rPr lang="en-CA" dirty="0"/>
              <a:t>“If men and women differ in height by 0.8 standard deviations, that’s a large effect — you can easily see it in data.”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8cb5c927aa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8cb5c927aa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cb5c927aa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cb5c927aa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8cb5c927aa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8cb5c927aa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cb5c927aa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8cb5c927aa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d104e91_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d104e91_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dirty="0"/>
              <a:t>“Traditional tests like the t-test assume the data follows certain shapes — like normal distributions — and use formulas to estimate probabilities.</a:t>
            </a:r>
            <a:br>
              <a:rPr lang="en-CA" dirty="0"/>
            </a:br>
            <a:r>
              <a:rPr lang="en-CA" dirty="0"/>
              <a:t>But in real data, those assumptions often don’t hold.”</a:t>
            </a:r>
          </a:p>
          <a:p>
            <a:r>
              <a:rPr lang="en-CA" b="1" dirty="0"/>
              <a:t>What bootstrapping does</a:t>
            </a:r>
          </a:p>
          <a:p>
            <a:r>
              <a:rPr lang="en-CA" dirty="0"/>
              <a:t>“Bootstrapping skips the formulas and uses the computer to simulate what randomness looks like.”</a:t>
            </a:r>
          </a:p>
          <a:p>
            <a:r>
              <a:rPr lang="en-CA" b="1" dirty="0"/>
              <a:t>Simple idea:</a:t>
            </a:r>
            <a:endParaRPr lang="en-CA" dirty="0"/>
          </a:p>
          <a:p>
            <a:r>
              <a:rPr lang="en-CA" dirty="0"/>
              <a:t>Treat your sample as if it were the entire population.</a:t>
            </a:r>
          </a:p>
          <a:p>
            <a:r>
              <a:rPr lang="en-CA" dirty="0"/>
              <a:t>Randomly </a:t>
            </a:r>
            <a:r>
              <a:rPr lang="en-CA" b="1" dirty="0"/>
              <a:t>resample</a:t>
            </a:r>
            <a:r>
              <a:rPr lang="en-CA" dirty="0"/>
              <a:t> (with replacement) from it </a:t>
            </a:r>
            <a:r>
              <a:rPr lang="en-CA" b="1" dirty="0"/>
              <a:t>thousands of times</a:t>
            </a:r>
            <a:r>
              <a:rPr lang="en-CA" dirty="0"/>
              <a:t>.</a:t>
            </a:r>
          </a:p>
          <a:p>
            <a:r>
              <a:rPr lang="en-CA" dirty="0"/>
              <a:t>Each resample gives you a new estimate of your statistic (e.g., mean difference).</a:t>
            </a:r>
          </a:p>
          <a:p>
            <a:r>
              <a:rPr lang="en-CA" dirty="0"/>
              <a:t>The variation across these simulated results shows what random chance alone would produce.</a:t>
            </a:r>
          </a:p>
          <a:p>
            <a:r>
              <a:rPr lang="en-CA" b="1" dirty="0"/>
              <a:t> What permutation testing does</a:t>
            </a:r>
          </a:p>
          <a:p>
            <a:r>
              <a:rPr lang="en-CA" dirty="0"/>
              <a:t>“Permutation tests go one step further — instead of resampling within groups, we </a:t>
            </a:r>
            <a:r>
              <a:rPr lang="en-CA" b="1" dirty="0"/>
              <a:t>shuffle group labels</a:t>
            </a:r>
            <a:r>
              <a:rPr lang="en-CA" dirty="0"/>
              <a:t> to test the null hypothesis directly.”</a:t>
            </a:r>
          </a:p>
          <a:p>
            <a:r>
              <a:rPr lang="en-CA" b="1" dirty="0"/>
              <a:t>Example:</a:t>
            </a:r>
            <a:endParaRPr lang="en-CA" dirty="0"/>
          </a:p>
          <a:p>
            <a:r>
              <a:rPr lang="en-CA" dirty="0"/>
              <a:t>You have Group A (mean = 75) and Group B (mean = 80).</a:t>
            </a:r>
          </a:p>
          <a:p>
            <a:r>
              <a:rPr lang="en-CA" dirty="0"/>
              <a:t>If there’s no real difference, group labels shouldn’t matter.</a:t>
            </a:r>
          </a:p>
          <a:p>
            <a:r>
              <a:rPr lang="en-CA" dirty="0"/>
              <a:t>Shuffle all scores randomly between groups many times, compute the mean difference each time, and see how often you get a difference as large as the observed one.</a:t>
            </a:r>
          </a:p>
          <a:p>
            <a:r>
              <a:rPr lang="en-CA" dirty="0"/>
              <a:t>That frequency ≈ the </a:t>
            </a:r>
            <a:r>
              <a:rPr lang="en-CA" b="1" dirty="0"/>
              <a:t>p-value</a:t>
            </a:r>
            <a:r>
              <a:rPr lang="en-CA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87f6a7e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87f6a7e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78cab69ef_2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78cab69ef_2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87f6a7e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87f6a7e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87f6a7e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87f6a7e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78cab69ef_2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78cab69ef_2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87f6a7e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87f6a7e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78cab69ef_2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78cab69ef_2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87f6a7e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787f6a7e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78cab69ef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78cab69ef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78cab69ef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78cab69ef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78cab69ef_2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78cab69ef_2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6196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462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5302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5069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3253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1020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97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397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5227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5097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65869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3376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265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4800" dirty="0"/>
              <a:t>Statistical Significance</a:t>
            </a:r>
            <a:endParaRPr sz="4800"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600" dirty="0"/>
              <a:t>Fatemeh Riahi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 Time vs. Exam Grades</a:t>
            </a: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4333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Survey result from classes at a high school (r=-0.798)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What’s going on here?</a:t>
            </a:r>
            <a:endParaRPr/>
          </a:p>
        </p:txBody>
      </p:sp>
      <p:pic>
        <p:nvPicPr>
          <p:cNvPr id="43" name="Google Shape;4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735" y="1345843"/>
            <a:ext cx="5010854" cy="3442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Simpson’s Paradox</a:t>
            </a:r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7027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Simpson's Paradox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lang="en" sz="2100">
                <a:solidFill>
                  <a:srgbClr val="040C28"/>
                </a:solidFill>
                <a:latin typeface="Roboto"/>
                <a:ea typeface="Roboto"/>
                <a:cs typeface="Roboto"/>
                <a:sym typeface="Roboto"/>
              </a:rPr>
              <a:t>a statistical phenomenon where an association between two variables in a population emerges, disappears or reverses when the population is divided into subpopulations</a:t>
            </a:r>
            <a:r>
              <a:rPr lang="en" sz="21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3600"/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1331" y="1672590"/>
            <a:ext cx="4876095" cy="304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0" descr="Understanding Simpson's Paradox And Its Impact On Data Analytic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9900" y="0"/>
            <a:ext cx="232410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Talking to Statisticians</a:t>
            </a: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Statisticians are primarily concerned with whether observations on data are significant.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Data miners are primarily concerned with whether their observations are interesting.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is an Observation Meaningful?</a:t>
            </a:r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Computational analysis readily finds patterns and correlations in large data sets.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FF"/>
                </a:solidFill>
              </a:rPr>
              <a:t>But when is a pattern significant?</a:t>
            </a:r>
            <a:endParaRPr sz="2000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Sufficiently strong correlations on large data sets may seem ``obviously’’ significant, but often the effects are more subtle.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Medical Statistics</a:t>
            </a:r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body" idx="1"/>
          </p:nvPr>
        </p:nvSpPr>
        <p:spPr>
          <a:xfrm>
            <a:off x="457200" y="1188575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Evaluating the efficacy of drug treatments is a classically difficult problem.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FF"/>
                </a:solidFill>
              </a:rPr>
              <a:t>Drug A cured 19 of 34 patients.  Drug B cured 14 of 21 patients.  Is B better than A?</a:t>
            </a:r>
            <a:endParaRPr sz="2000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FDA approval of new drugs rests on such trials/analysis, and can add/subtract billions from the value of drug companies.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62EE-B402-B16D-EC2E-EDBC91C1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Why We Need Hypothesis Testing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B6A57-11AD-4447-CBB2-90BAF48E0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100" indent="0">
              <a:buNone/>
            </a:pPr>
            <a:r>
              <a:rPr lang="en-CA" b="1" dirty="0"/>
              <a:t>Question:</a:t>
            </a:r>
            <a:br>
              <a:rPr lang="en-CA" dirty="0"/>
            </a:br>
            <a:r>
              <a:rPr lang="en-CA" dirty="0"/>
              <a:t>	How do we know if an observed pattern in data is </a:t>
            </a:r>
            <a:r>
              <a:rPr lang="en-CA" i="1" dirty="0"/>
              <a:t>real</a:t>
            </a:r>
            <a:r>
              <a:rPr lang="en-CA" dirty="0"/>
              <a:t> or </a:t>
            </a:r>
            <a:r>
              <a:rPr lang="en-CA" i="1" dirty="0"/>
              <a:t>just random noise</a:t>
            </a:r>
            <a:r>
              <a:rPr lang="en-CA" dirty="0"/>
              <a:t>?</a:t>
            </a:r>
          </a:p>
          <a:p>
            <a:pPr marL="38100" indent="0">
              <a:buNone/>
            </a:pPr>
            <a:r>
              <a:rPr lang="en-CA" b="1" dirty="0"/>
              <a:t>Why we test hypotheses</a:t>
            </a:r>
            <a:endParaRPr lang="en-CA" dirty="0"/>
          </a:p>
          <a:p>
            <a:pPr lvl="1"/>
            <a:r>
              <a:rPr lang="en-CA" dirty="0"/>
              <a:t>Real-world data always contains </a:t>
            </a:r>
            <a:r>
              <a:rPr lang="en-CA" b="1" dirty="0"/>
              <a:t>random variation</a:t>
            </a:r>
            <a:r>
              <a:rPr lang="en-CA" dirty="0"/>
              <a:t>.</a:t>
            </a:r>
          </a:p>
          <a:p>
            <a:pPr lvl="1"/>
            <a:r>
              <a:rPr lang="en-CA" dirty="0"/>
              <a:t>We need a way to decide whether an observed difference or correlation is </a:t>
            </a:r>
            <a:r>
              <a:rPr lang="en-CA" b="1" dirty="0"/>
              <a:t>statistically meaningful</a:t>
            </a:r>
            <a:r>
              <a:rPr lang="en-CA" dirty="0"/>
              <a:t>.</a:t>
            </a:r>
          </a:p>
          <a:p>
            <a:pPr marL="38100" indent="0">
              <a:buNone/>
            </a:pPr>
            <a:r>
              <a:rPr lang="en-CA" dirty="0"/>
              <a:t>Hypothesis testing provides a </a:t>
            </a:r>
            <a:r>
              <a:rPr lang="en-CA" b="1" dirty="0"/>
              <a:t>structured decision process</a:t>
            </a:r>
            <a:r>
              <a:rPr lang="en-CA" dirty="0"/>
              <a:t>.</a:t>
            </a:r>
          </a:p>
          <a:p>
            <a:pPr marL="38100" indent="0">
              <a:buNone/>
            </a:pPr>
            <a:r>
              <a:rPr lang="en-CA" b="1" dirty="0"/>
              <a:t>	Example:</a:t>
            </a:r>
            <a:endParaRPr lang="en-CA" dirty="0"/>
          </a:p>
          <a:p>
            <a:pPr marL="38100" indent="0">
              <a:buNone/>
            </a:pPr>
            <a:r>
              <a:rPr lang="en-CA" dirty="0"/>
              <a:t>	“A new teaching method raises average scores from 75 to 80  Is it really better, or did we just</a:t>
            </a:r>
          </a:p>
          <a:p>
            <a:pPr marL="38100" indent="0">
              <a:buNone/>
            </a:pPr>
            <a:r>
              <a:rPr lang="en-CA" dirty="0"/>
              <a:t>get lucky with this sample?”</a:t>
            </a:r>
          </a:p>
          <a:p>
            <a:pPr marL="38100" indent="0">
              <a:buNone/>
            </a:pPr>
            <a:r>
              <a:rPr lang="en-CA" b="1" dirty="0"/>
              <a:t>Key idea:</a:t>
            </a:r>
            <a:br>
              <a:rPr lang="en-CA" dirty="0"/>
            </a:br>
            <a:r>
              <a:rPr lang="en-CA" dirty="0"/>
              <a:t>We can never be </a:t>
            </a:r>
            <a:r>
              <a:rPr lang="en-CA" i="1" dirty="0"/>
              <a:t>100% certain</a:t>
            </a:r>
            <a:r>
              <a:rPr lang="en-CA" dirty="0"/>
              <a:t>, but we can measure </a:t>
            </a:r>
            <a:r>
              <a:rPr lang="en-CA" b="1" dirty="0"/>
              <a:t>how unlikely</a:t>
            </a:r>
            <a:r>
              <a:rPr lang="en-CA" dirty="0"/>
              <a:t> such a result would be if nothing actually changed.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68550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F804-6342-9ADB-BC21-07F1337D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Null and Alternative Hypotheses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4ED8B-2D28-CA45-6A73-6471E27119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100" indent="0">
              <a:buNone/>
            </a:pPr>
            <a:r>
              <a:rPr lang="en-CA" b="1" dirty="0"/>
              <a:t>Null Hypothesis (H₀):</a:t>
            </a:r>
            <a:br>
              <a:rPr lang="en-CA" b="1" dirty="0"/>
            </a:br>
            <a:r>
              <a:rPr lang="en-CA" dirty="0"/>
              <a:t>There is </a:t>
            </a:r>
            <a:r>
              <a:rPr lang="en-CA" i="1" dirty="0"/>
              <a:t>no real effect</a:t>
            </a:r>
            <a:r>
              <a:rPr lang="en-CA" dirty="0"/>
              <a:t> — any difference is due to chance.</a:t>
            </a:r>
            <a:br>
              <a:rPr lang="en-CA" dirty="0"/>
            </a:br>
            <a:r>
              <a:rPr lang="en-CA" dirty="0"/>
              <a:t>Example: μ₁ = μ₂</a:t>
            </a:r>
          </a:p>
          <a:p>
            <a:pPr marL="38100" indent="0">
              <a:buNone/>
            </a:pPr>
            <a:r>
              <a:rPr lang="en-CA" b="1" dirty="0"/>
              <a:t>Alternative Hypothesis (H₁ or Hₐ):</a:t>
            </a:r>
          </a:p>
          <a:p>
            <a:pPr marL="38100" indent="0">
              <a:buNone/>
            </a:pPr>
            <a:r>
              <a:rPr lang="en-CA" dirty="0"/>
              <a:t>There </a:t>
            </a:r>
            <a:r>
              <a:rPr lang="en-CA" i="1" dirty="0"/>
              <a:t>is</a:t>
            </a:r>
            <a:r>
              <a:rPr lang="en-CA" dirty="0"/>
              <a:t> a real effect or difference.</a:t>
            </a:r>
            <a:br>
              <a:rPr lang="en-CA" dirty="0"/>
            </a:br>
            <a:r>
              <a:rPr lang="en-CA" dirty="0"/>
              <a:t>Example: μ₁ ≠ μ₂</a:t>
            </a:r>
          </a:p>
          <a:p>
            <a:pPr marL="38100" indent="0">
              <a:buNone/>
            </a:pPr>
            <a:r>
              <a:rPr lang="en-CA" dirty="0"/>
              <a:t>Use data to decide whether to </a:t>
            </a:r>
            <a:r>
              <a:rPr lang="en-CA" b="1" dirty="0"/>
              <a:t>reject H₀</a:t>
            </a:r>
            <a:r>
              <a:rPr lang="en-CA" dirty="0"/>
              <a:t> in favor of H₁.</a:t>
            </a:r>
          </a:p>
          <a:p>
            <a:pPr marL="38100" indent="0">
              <a:buNone/>
            </a:pPr>
            <a:r>
              <a:rPr lang="en-CA" b="1" dirty="0"/>
              <a:t>We never “prove” H₁ —</a:t>
            </a:r>
            <a:br>
              <a:rPr lang="en-CA" dirty="0"/>
            </a:br>
            <a:r>
              <a:rPr lang="en-CA" dirty="0"/>
              <a:t>We just find evidence strong enough that H₀ is unlikely.</a:t>
            </a:r>
          </a:p>
          <a:p>
            <a:pPr marL="38100" indent="0">
              <a:buNone/>
            </a:pPr>
            <a:endParaRPr lang="en-CA" dirty="0"/>
          </a:p>
          <a:p>
            <a:pPr marL="38100" indent="0">
              <a:buNone/>
            </a:pPr>
            <a:endParaRPr lang="en-CA" dirty="0"/>
          </a:p>
          <a:p>
            <a:pPr marL="38100" indent="0">
              <a:buNone/>
            </a:pPr>
            <a:endParaRPr lang="en-CA" dirty="0"/>
          </a:p>
          <a:p>
            <a:pPr marL="3810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8689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9BE67-EBF9-C6A9-C6A2-592FF97C1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The p-Value: Measuring Significance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13AD9-6A18-45DD-3726-F92014A5B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100" indent="0">
              <a:buNone/>
            </a:pPr>
            <a:r>
              <a:rPr lang="en-CA" b="1" dirty="0"/>
              <a:t>What is the p-value?</a:t>
            </a:r>
            <a:endParaRPr lang="en-CA" dirty="0"/>
          </a:p>
          <a:p>
            <a:pPr marL="38100" indent="0">
              <a:buNone/>
            </a:pPr>
            <a:r>
              <a:rPr lang="en-CA" dirty="0"/>
              <a:t>The </a:t>
            </a:r>
            <a:r>
              <a:rPr lang="en-CA" b="1" dirty="0"/>
              <a:t>p-value</a:t>
            </a:r>
            <a:r>
              <a:rPr lang="en-CA" dirty="0"/>
              <a:t> is the probability of getting a result </a:t>
            </a:r>
            <a:r>
              <a:rPr lang="en-CA" b="1" dirty="0"/>
              <a:t>as extreme as, or more extreme than</a:t>
            </a:r>
            <a:r>
              <a:rPr lang="en-CA" dirty="0"/>
              <a:t> the one observed, </a:t>
            </a:r>
            <a:r>
              <a:rPr lang="en-CA" b="1" dirty="0"/>
              <a:t>if the null hypothesis (H₀) were true.</a:t>
            </a:r>
            <a:endParaRPr lang="en-CA" dirty="0"/>
          </a:p>
          <a:p>
            <a:pPr marL="38100" indent="0">
              <a:buNone/>
            </a:pPr>
            <a:r>
              <a:rPr lang="en-CA" b="1" dirty="0"/>
              <a:t>Why we use it</a:t>
            </a:r>
            <a:endParaRPr lang="en-CA" dirty="0"/>
          </a:p>
          <a:p>
            <a:pPr marL="38100" indent="0">
              <a:buNone/>
            </a:pPr>
            <a:r>
              <a:rPr lang="en-CA" dirty="0"/>
              <a:t>It tells us </a:t>
            </a:r>
            <a:r>
              <a:rPr lang="en-CA" b="1" dirty="0"/>
              <a:t>how surprising</a:t>
            </a:r>
            <a:r>
              <a:rPr lang="en-CA" dirty="0"/>
              <a:t> our result is under H₀.</a:t>
            </a:r>
          </a:p>
          <a:p>
            <a:pPr marL="38100" indent="0">
              <a:buNone/>
            </a:pPr>
            <a:r>
              <a:rPr lang="en-CA" b="1" dirty="0"/>
              <a:t>Smaller p-values</a:t>
            </a:r>
            <a:r>
              <a:rPr lang="en-CA" dirty="0"/>
              <a:t> → stronger evidence </a:t>
            </a:r>
            <a:r>
              <a:rPr lang="en-CA" i="1" dirty="0"/>
              <a:t>against</a:t>
            </a:r>
            <a:r>
              <a:rPr lang="en-CA" dirty="0"/>
              <a:t> H₀.</a:t>
            </a:r>
          </a:p>
          <a:p>
            <a:pPr marL="38100" indent="0">
              <a:buNone/>
            </a:pPr>
            <a:r>
              <a:rPr lang="en-CA" dirty="0"/>
              <a:t>Conventionally:</a:t>
            </a:r>
          </a:p>
          <a:p>
            <a:pPr lvl="1"/>
            <a:r>
              <a:rPr lang="en-CA" b="1" dirty="0"/>
              <a:t>p &lt; 0.05</a:t>
            </a:r>
            <a:r>
              <a:rPr lang="en-CA" dirty="0"/>
              <a:t> → statistically significant</a:t>
            </a:r>
          </a:p>
          <a:p>
            <a:pPr lvl="1"/>
            <a:r>
              <a:rPr lang="en-CA" b="1" dirty="0"/>
              <a:t>p &lt; 0.01</a:t>
            </a:r>
            <a:r>
              <a:rPr lang="en-CA" dirty="0"/>
              <a:t> → highly significant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13603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Population Means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The T-test evaluates whether the population means of two samples are different.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Sample the IQs of 20 men and 20 women.  Is one group smarter on average?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Certainly the sample means will differ, but is this difference significant?</a:t>
            </a:r>
            <a:endParaRPr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 in Distributions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It becomes easier to distinguish two distributions as the means move apart...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... or the variance decreases:</a:t>
            </a:r>
            <a:endParaRPr sz="2000" dirty="0"/>
          </a:p>
        </p:txBody>
      </p:sp>
      <p:pic>
        <p:nvPicPr>
          <p:cNvPr id="88" name="Google Shape;88;p16" descr="meanshift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1050" y="2423459"/>
            <a:ext cx="1533174" cy="1022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 descr="meanshift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8900" y="2373312"/>
            <a:ext cx="1533174" cy="102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 descr="meanshift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426" y="2331798"/>
            <a:ext cx="1533174" cy="1022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descr="ttest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4587" y="3757012"/>
            <a:ext cx="1286100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descr="ttest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98882" y="3711182"/>
            <a:ext cx="1286100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descr="ttest4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6500" y="3711182"/>
            <a:ext cx="1286100" cy="8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T-Test</a:t>
            </a:r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Two means differ significantly if:</a:t>
            </a:r>
            <a:endParaRPr dirty="0"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The mean difference is relatively large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The standard deviations are small enough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The samples are large enough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Welch’s t-statistic is: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where </a:t>
            </a:r>
            <a:r>
              <a:rPr lang="en" i="1" dirty="0"/>
              <a:t>s^2</a:t>
            </a:r>
            <a:r>
              <a:rPr lang="en" dirty="0"/>
              <a:t> is the sample variance.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Significance is looked up in a table.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Degree of Freedom:</a:t>
            </a:r>
          </a:p>
          <a:p>
            <a:r>
              <a:rPr lang="en-CA" dirty="0"/>
              <a:t>The </a:t>
            </a:r>
            <a:r>
              <a:rPr lang="en-CA" b="1" dirty="0"/>
              <a:t>degrees of freedom</a:t>
            </a:r>
            <a:r>
              <a:rPr lang="en-CA" dirty="0"/>
              <a:t> represent the amount of information we have to estimate variability.</a:t>
            </a:r>
          </a:p>
          <a:p>
            <a:r>
              <a:rPr lang="en-CA" dirty="0"/>
              <a:t>For two independent samples: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4460" y="1448425"/>
            <a:ext cx="181927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450" y="2222762"/>
            <a:ext cx="1559100" cy="69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B8648F-1B97-14EB-500D-DE2CA8D9D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321" y="4280787"/>
            <a:ext cx="2124371" cy="4477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57A4-A60C-5B1C-00DB-294BB10B8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A389B-A74C-2CE9-9E9F-D38B93BB5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8100" indent="0">
              <a:buNone/>
            </a:pPr>
            <a:r>
              <a:rPr lang="en-CA" b="1" dirty="0"/>
              <a:t>Scenario</a:t>
            </a:r>
          </a:p>
          <a:p>
            <a:pPr marL="38100" indent="0">
              <a:buNone/>
            </a:pPr>
            <a:r>
              <a:rPr lang="en-CA" dirty="0"/>
              <a:t>You want to know if a new studying technique improves exam performance.</a:t>
            </a:r>
            <a:br>
              <a:rPr lang="en-CA" dirty="0"/>
            </a:br>
            <a:r>
              <a:rPr lang="en-CA" dirty="0"/>
              <a:t>You test it on </a:t>
            </a:r>
            <a:r>
              <a:rPr lang="en-CA" b="1" dirty="0"/>
              <a:t>two small groups of students</a:t>
            </a:r>
            <a:r>
              <a:rPr lang="en-CA" dirty="0"/>
              <a:t>: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38100" indent="0">
              <a:buNone/>
            </a:pPr>
            <a:r>
              <a:rPr lang="en-CA" b="1" dirty="0"/>
              <a:t>State the Hypotheses</a:t>
            </a:r>
          </a:p>
          <a:p>
            <a:r>
              <a:rPr lang="en-CA" b="1" dirty="0"/>
              <a:t>H₀:</a:t>
            </a:r>
            <a:r>
              <a:rPr lang="en-CA" dirty="0"/>
              <a:t> No difference in mean scores (μ₁ = μ₂)</a:t>
            </a:r>
          </a:p>
          <a:p>
            <a:r>
              <a:rPr lang="en-CA" b="1" dirty="0"/>
              <a:t>H₁:</a:t>
            </a:r>
            <a:r>
              <a:rPr lang="en-CA" dirty="0"/>
              <a:t> There </a:t>
            </a:r>
            <a:r>
              <a:rPr lang="en-CA" i="1" dirty="0"/>
              <a:t>is</a:t>
            </a:r>
            <a:r>
              <a:rPr lang="en-CA" dirty="0"/>
              <a:t> a difference (μ₁ ≠ μ₂)</a:t>
            </a:r>
          </a:p>
          <a:p>
            <a:endParaRPr lang="en-CA" dirty="0"/>
          </a:p>
          <a:p>
            <a:endParaRPr lang="en-C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D7090F-5401-B6C7-79E4-18AF237B2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9086531"/>
              </p:ext>
            </p:extLst>
          </p:nvPr>
        </p:nvGraphicFramePr>
        <p:xfrm>
          <a:off x="800100" y="2171460"/>
          <a:ext cx="7543800" cy="8915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5449339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407001965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1754327703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39007965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Sample Size 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Mean (x̄)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Standard Deviation (s)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433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Traditional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660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New 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485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703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6F8CD-060D-A6E7-8B75-2F1DC7240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Compute the Test Statistic (Welch’s 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D1E63-0CA9-FFF9-19DD-6BEA8BBE5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  <a:p>
            <a:pPr marL="38100" indent="0">
              <a:buNone/>
            </a:pPr>
            <a:r>
              <a:rPr lang="en-CA" dirty="0"/>
              <a:t>We can ignore the sign and use </a:t>
            </a:r>
            <a:r>
              <a:rPr lang="en-CA" b="1" dirty="0"/>
              <a:t>t = 2.44</a:t>
            </a:r>
            <a:r>
              <a:rPr lang="en-CA" dirty="0"/>
              <a:t> </a:t>
            </a:r>
            <a:br>
              <a:rPr lang="en-CA" dirty="0"/>
            </a:br>
            <a:r>
              <a:rPr lang="en-CA" dirty="0"/>
              <a:t>because we’ll compare absolute values.</a:t>
            </a:r>
          </a:p>
          <a:p>
            <a:pPr marL="38100" indent="0">
              <a:buNone/>
            </a:pPr>
            <a:endParaRPr lang="en-CA" dirty="0"/>
          </a:p>
          <a:p>
            <a:pPr marL="38100" indent="0">
              <a:buNone/>
            </a:pPr>
            <a:endParaRPr lang="en-CA" dirty="0"/>
          </a:p>
          <a:p>
            <a:pPr marL="38100" indent="0">
              <a:buNone/>
            </a:pPr>
            <a:r>
              <a:rPr lang="en-CA" dirty="0"/>
              <a:t>Find the Degrees of Freedom (approximation)</a:t>
            </a:r>
          </a:p>
          <a:p>
            <a:pPr marL="38100" indent="0">
              <a:buNone/>
            </a:pP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44CBF-92C9-8257-E988-DA9503AD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612" y="1464940"/>
            <a:ext cx="4385142" cy="12132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5072B3-1261-6147-73E6-7EAE294F3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328" y="2681811"/>
            <a:ext cx="3772426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16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F079-E998-D657-C2DA-6D73CC113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Look up the t-critical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B646D-8DF3-8C1F-6C2C-DA400ECB4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“Now open a t-distribution table and find the </a:t>
            </a:r>
            <a:r>
              <a:rPr lang="en-CA" b="1" dirty="0"/>
              <a:t>critical t</a:t>
            </a:r>
            <a:r>
              <a:rPr lang="en-CA" dirty="0"/>
              <a:t> value for</a:t>
            </a:r>
            <a:br>
              <a:rPr lang="en-CA" dirty="0"/>
            </a:br>
            <a:r>
              <a:rPr lang="en-CA" dirty="0" err="1"/>
              <a:t>df</a:t>
            </a:r>
            <a:r>
              <a:rPr lang="en-CA" dirty="0"/>
              <a:t> = 18 and significance level </a:t>
            </a:r>
            <a:r>
              <a:rPr lang="en-CA" b="1" dirty="0"/>
              <a:t>α = 0.05 (two-tailed)</a:t>
            </a:r>
            <a:r>
              <a:rPr lang="en-CA" dirty="0"/>
              <a:t>.”</a:t>
            </a:r>
          </a:p>
          <a:p>
            <a:r>
              <a:rPr lang="en-CA" b="1" dirty="0"/>
              <a:t>t₀.₀₅(18) ≈ 2.10</a:t>
            </a:r>
          </a:p>
          <a:p>
            <a:endParaRPr lang="en-CA" b="1" dirty="0"/>
          </a:p>
          <a:p>
            <a:r>
              <a:rPr lang="en-CA" dirty="0"/>
              <a:t>Since 2.44 &gt; 2.10, </a:t>
            </a:r>
            <a:br>
              <a:rPr lang="en-CA" dirty="0"/>
            </a:br>
            <a:r>
              <a:rPr lang="en-CA" dirty="0"/>
              <a:t>the difference is significant at</a:t>
            </a:r>
            <a:br>
              <a:rPr lang="en-CA" dirty="0"/>
            </a:br>
            <a:r>
              <a:rPr lang="en-CA" dirty="0"/>
              <a:t> the 0.05 level.</a:t>
            </a:r>
          </a:p>
          <a:p>
            <a:r>
              <a:rPr lang="en-CA" dirty="0"/>
              <a:t>The new technique improved </a:t>
            </a:r>
            <a:br>
              <a:rPr lang="en-CA" dirty="0"/>
            </a:br>
            <a:r>
              <a:rPr lang="en-CA" dirty="0"/>
              <a:t>test scores enough that the </a:t>
            </a:r>
            <a:br>
              <a:rPr lang="en-CA" dirty="0"/>
            </a:br>
            <a:r>
              <a:rPr lang="en-CA" dirty="0"/>
              <a:t>difference is unlikely due to</a:t>
            </a:r>
            <a:br>
              <a:rPr lang="en-CA" dirty="0"/>
            </a:br>
            <a:r>
              <a:rPr lang="en-CA" dirty="0"/>
              <a:t> random variation.”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FE98AF-076D-747B-AA80-1811819E9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150" y="1813403"/>
            <a:ext cx="5214025" cy="286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52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Kolmogorov-Smirnov Test</a:t>
            </a:r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xfrm>
            <a:off x="457200" y="11187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This test measures whether two samples are drawn from same distribution by the maximum difference in their cdf.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The distributions differ if: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and 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at a significance of alpha.</a:t>
            </a:r>
            <a:endParaRPr sz="2000" dirty="0"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000" y="2458088"/>
            <a:ext cx="28575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 descr="D_{n,n'}=\sup_x |F_{1,n}(x)-F_{2,n'}(x)|,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8692" y="2645689"/>
            <a:ext cx="25241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 descr="D_{n,n'}&gt;c(\alpha)\sqrt{\frac{n + n'}{n n'}}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1917" y="3164218"/>
            <a:ext cx="173355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Normality Testing</a:t>
            </a:r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perform the KS-test where one distribution is sampled from the theoretical distribution:</a:t>
            </a:r>
            <a:endParaRPr/>
          </a:p>
        </p:txBody>
      </p:sp>
      <p:pic>
        <p:nvPicPr>
          <p:cNvPr id="117" name="Google Shape;117;p19" descr="ks-exa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1745" y="2230410"/>
            <a:ext cx="3405700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9" descr="ks-example-uni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6945" y="2230410"/>
            <a:ext cx="2920375" cy="194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    </a:t>
            </a:r>
            <a:endParaRPr/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/>
              <a:t>The Bonferroni Correction</a:t>
            </a:r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body" idx="1"/>
          </p:nvPr>
        </p:nvSpPr>
        <p:spPr>
          <a:xfrm>
            <a:off x="457200" y="11918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A statistical significance of 0.05 means there is a probability 1/20 this result came by chance.</a:t>
            </a:r>
            <a:endParaRPr sz="20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0000"/>
                </a:solidFill>
              </a:rPr>
              <a:t>Thus fishing expeditions which test millions of hypotheses must be held to higher standards!</a:t>
            </a:r>
            <a:endParaRPr sz="2000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 dirty="0"/>
              <a:t>In testing </a:t>
            </a:r>
            <a:r>
              <a:rPr lang="en" sz="2000" i="1" dirty="0"/>
              <a:t>n</a:t>
            </a:r>
            <a:r>
              <a:rPr lang="en" sz="2000" dirty="0"/>
              <a:t> hypotheses, one must rise to a level of         to be considered significant at the level of </a:t>
            </a:r>
            <a:r>
              <a:rPr lang="en" sz="2000" i="1" dirty="0"/>
              <a:t>alpha</a:t>
            </a:r>
            <a:r>
              <a:rPr lang="en" sz="2000" dirty="0"/>
              <a:t>.</a:t>
            </a:r>
            <a:endParaRPr sz="2000" dirty="0"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0720" y="2636520"/>
            <a:ext cx="419100" cy="250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 descr="spurious-correlation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430" y="126478"/>
            <a:ext cx="2578202" cy="10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Significance of Significance</a:t>
            </a:r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large enough sample sizes, extremely small differences can register as highly significant.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Significance measures the confidence there is a difference between distributions, not the </a:t>
            </a:r>
            <a:r>
              <a:rPr lang="en">
                <a:solidFill>
                  <a:srgbClr val="FF0000"/>
                </a:solidFill>
              </a:rPr>
              <a:t>effect size</a:t>
            </a:r>
            <a:r>
              <a:rPr lang="en"/>
              <a:t> or importance/magnitude of the difference.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Measures of Effect Size</a:t>
            </a:r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sz="2000" i="1" dirty="0">
                <a:solidFill>
                  <a:srgbClr val="FF0000"/>
                </a:solidFill>
              </a:rPr>
              <a:t>Pearson correlation coefficient:</a:t>
            </a:r>
            <a:r>
              <a:rPr lang="en" sz="2000" dirty="0"/>
              <a:t> small effects start at 0.2, medium effects at 0.5, large effects at 0.8</a:t>
            </a:r>
          </a:p>
          <a:p>
            <a:pPr marL="3810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sz="2000" dirty="0"/>
          </a:p>
          <a:p>
            <a:pPr lvl="0">
              <a:spcBef>
                <a:spcPts val="0"/>
              </a:spcBef>
            </a:pPr>
            <a:r>
              <a:rPr lang="en-CA" sz="2000" b="1" dirty="0"/>
              <a:t>Percentage of overlap between distributions:</a:t>
            </a:r>
            <a:r>
              <a:rPr lang="en-CA" sz="2000" dirty="0"/>
              <a:t> small effects ≈ 85% overlap (very similar), medium ≈ 67%, large ≈ 53% (more distinct distributions)</a:t>
            </a:r>
          </a:p>
          <a:p>
            <a:pPr lvl="0">
              <a:spcBef>
                <a:spcPts val="0"/>
              </a:spcBef>
            </a:pPr>
            <a:endParaRPr sz="2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2000" i="1" dirty="0">
                <a:solidFill>
                  <a:srgbClr val="FF0000"/>
                </a:solidFill>
              </a:rPr>
              <a:t>Cohen’s d</a:t>
            </a:r>
            <a:r>
              <a:rPr lang="en" sz="2000" dirty="0"/>
              <a:t>                          : small &gt;0.2, medium &gt; 0.5, large &gt; 0.8</a:t>
            </a:r>
            <a:endParaRPr sz="2000" dirty="0"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5108" y="3432567"/>
            <a:ext cx="1297627" cy="1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Significance Tests Can Work</a:t>
            </a:r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457200" y="121070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Statistical tests seem particularly opaque (e.g. look up numbers from table), but come from ideas like:</a:t>
            </a:r>
            <a:endParaRPr dirty="0"/>
          </a:p>
          <a:p>
            <a:pPr marL="457200" lvl="0" indent="-419100" algn="l" rtl="0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Probabilities of samples drawn from distributions with given mean and std. dev.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dirty="0"/>
              <a:t>Bayes theorem converts Pr(data|distribution) to Pr(distribution|data)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Categories Really Matter?</a:t>
            </a:r>
            <a:endParaRPr/>
          </a:p>
        </p:txBody>
      </p:sp>
      <p:sp>
        <p:nvSpPr>
          <p:cNvPr id="151" name="Google Shape;151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Simpson’s paradox example rested on students studying gym like they do algebra.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Chi squared tests</a:t>
            </a:r>
            <a:r>
              <a:rPr lang="en"/>
              <a:t> establishes if different population labels exhibit the same distribution.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52" name="Google Shape;152;p24" descr="Chi-Square Test | How to Calculate Chi-square using Formula with Exampl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8368" y="2490170"/>
            <a:ext cx="3167850" cy="74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 descr="The Chi-Square Test of Independence is a test used to determine if the proportions of categories in two group variables differ from each other.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366075"/>
            <a:ext cx="2541168" cy="15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4" descr="Chi-Square Table - Statistics By Jim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4720" y="2506007"/>
            <a:ext cx="2200975" cy="146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Chi Square Test</a:t>
            </a:r>
            <a:endParaRPr/>
          </a:p>
        </p:txBody>
      </p:sp>
      <p:sp>
        <p:nvSpPr>
          <p:cNvPr id="160" name="Google Shape;160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Given categorical variable observations from two populations, are the populations different?</a:t>
            </a:r>
            <a:endParaRPr dirty="0"/>
          </a:p>
          <a:p>
            <a:pPr marL="3810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endParaRPr lang="en" dirty="0"/>
          </a:p>
          <a:p>
            <a:pPr marL="3810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1- Build a contingency table:</a:t>
            </a:r>
            <a:endParaRPr dirty="0"/>
          </a:p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2- Compute test statistic:</a:t>
            </a:r>
          </a:p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lang="en" dirty="0"/>
          </a:p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lang="en" dirty="0"/>
          </a:p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dirty="0"/>
          </a:p>
          <a:p>
            <a:pPr marL="38100" lvl="0" indent="0" algn="l" rtl="0"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 dirty="0"/>
              <a:t>3- Evaluate against distribution.</a:t>
            </a:r>
            <a:endParaRPr dirty="0"/>
          </a:p>
        </p:txBody>
      </p:sp>
      <p:pic>
        <p:nvPicPr>
          <p:cNvPr id="161" name="Google Shape;161;p25" descr="PSPP for Beginner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715" y="1815225"/>
            <a:ext cx="3667125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 descr="Chi-Square Test | How to Calculate Chi-square using Formula with Exampl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785" y="2396490"/>
            <a:ext cx="2521341" cy="4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5" descr="Chi-Square Table - Statistics By Jim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99373" y="3199772"/>
            <a:ext cx="1871652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 with Chi Square Test</a:t>
            </a:r>
            <a:endParaRPr/>
          </a:p>
        </p:txBody>
      </p:sp>
      <p:sp>
        <p:nvSpPr>
          <p:cNvPr id="169" name="Google Shape;169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Degrees of Freedom</a:t>
            </a:r>
            <a:r>
              <a:rPr lang="en"/>
              <a:t>: more categories, higher expected sum of rations: use correct table.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Counts instead of fractions:</a:t>
            </a:r>
            <a:r>
              <a:rPr lang="en"/>
              <a:t> 100% easy to get with n=1. Demand &gt;10 counts per cell.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Significance level</a:t>
            </a:r>
            <a:r>
              <a:rPr lang="en"/>
              <a:t>: is 0.05 the threshold?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Sampling</a:t>
            </a:r>
            <a:r>
              <a:rPr lang="en"/>
              <a:t>: Assumes statistically random, independent samples.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Bootstrapping P-values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Traditional statistical tests evaluate whether two samples came from the same distribution.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Many have subtleties (e.g. one- vs. two-sided tests, distributional assumptions, etc.)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Permutation tests allow a more general, more computationally idiot-proof way to establish significance.</a:t>
            </a:r>
          </a:p>
          <a:p>
            <a:pPr marL="38100" indent="0">
              <a:buNone/>
            </a:pPr>
            <a:r>
              <a:rPr lang="en-CA" b="1" dirty="0"/>
              <a:t>Why it’s useful</a:t>
            </a:r>
          </a:p>
          <a:p>
            <a:r>
              <a:rPr lang="en-CA" dirty="0"/>
              <a:t>No assumption about normality or equal variance</a:t>
            </a:r>
          </a:p>
          <a:p>
            <a:r>
              <a:rPr lang="en-CA" dirty="0"/>
              <a:t>Works for almost any statistic (mean, median, correlation, etc.)</a:t>
            </a:r>
          </a:p>
          <a:p>
            <a:r>
              <a:rPr lang="en-CA" dirty="0"/>
              <a:t>Easy to implement computationally</a:t>
            </a:r>
          </a:p>
          <a:p>
            <a:r>
              <a:rPr lang="en-CA" dirty="0"/>
              <a:t>Gives an intuitive view of “how rare” the observed result is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Permutation Tests</a:t>
            </a:r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your hypothesis is true, then randomly shuffled data sets should not look like real data.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ranking of the real test statistic among the shuffled test statistics gives a p-value.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FF0000"/>
                </a:solidFill>
              </a:rPr>
              <a:t>You need statistic on your model you believe is interesting, e.g. correlation, std. error, or size.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Permutation Test (Gender Relevant?)</a:t>
            </a:r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7717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Heights here coded by bar length and color</a:t>
            </a:r>
            <a:endParaRPr sz="2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The random permutation (c/r) shows less height difference by gender than the original data (l).</a:t>
            </a:r>
            <a:endParaRPr sz="2400">
              <a:solidFill>
                <a:srgbClr val="FF0000"/>
              </a:solidFill>
            </a:endParaRPr>
          </a:p>
        </p:txBody>
      </p:sp>
      <p:pic>
        <p:nvPicPr>
          <p:cNvPr id="188" name="Google Shape;188;p29" descr="permutation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975" y="1200207"/>
            <a:ext cx="1971675" cy="3943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9" descr="permutation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0650" y="1200150"/>
            <a:ext cx="1971675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 descr="permutation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2325" y="1200150"/>
            <a:ext cx="1971675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 of a Permutation Test</a:t>
            </a:r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rank of the real data among the random permutations determines significance:</a:t>
            </a:r>
            <a:endParaRPr/>
          </a:p>
        </p:txBody>
      </p:sp>
      <p:pic>
        <p:nvPicPr>
          <p:cNvPr id="197" name="Google Shape;197;p30" descr="perm-true-ran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435" y="1707985"/>
            <a:ext cx="3920350" cy="24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 descr="perm-false-rank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7267" y="1967925"/>
            <a:ext cx="3171050" cy="219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Performing Permutation Tests</a:t>
            </a:r>
            <a:endParaRPr/>
          </a:p>
        </p:txBody>
      </p:sp>
      <p:sp>
        <p:nvSpPr>
          <p:cNvPr id="204" name="Google Shape;204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more permutations you try (at least 1000), the more impressive your significance can be.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Typically we permute the values of fields across records or time-points within a record.  Keep comparisons apples-to-apples.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your model shows decent performance trained on random data, you have a problem.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Permutation Test Caveat!</a:t>
            </a:r>
            <a:endParaRPr/>
          </a:p>
        </p:txBody>
      </p:sp>
      <p:sp>
        <p:nvSpPr>
          <p:cNvPr id="210" name="Google Shape;210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Permutation tests give you the probability of your data given your hypothesis.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</a:rPr>
              <a:t>This is not the same as the probability of your hypothesis given your data, which is the traditional goal of significance testing.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Constructing Random Permutations</a:t>
            </a:r>
            <a:endParaRPr/>
          </a:p>
        </p:txBody>
      </p:sp>
      <p:sp>
        <p:nvSpPr>
          <p:cNvPr id="216" name="Google Shape;216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Constructing truly random permutations is surprisingly subtle.  Which algorithm is right?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or: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17" name="Google Shape;217;p33" descr="rand-perm-goo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2220" y="1576705"/>
            <a:ext cx="44577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3" descr="rand-perm-ba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8882" y="3140425"/>
            <a:ext cx="4524375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Yes, there is a difference</a:t>
            </a:r>
            <a:endParaRPr/>
          </a:p>
        </p:txBody>
      </p:sp>
      <p:sp>
        <p:nvSpPr>
          <p:cNvPr id="224" name="Google Shape;224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Experiments constructing 1 million random permutations shows that algorithm 1 is uniform, but algorithm 2 is not.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/>
              <a:t>st. dev. 1 =      166.1</a:t>
            </a:r>
            <a:endParaRPr i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/>
              <a:t>st. dev. 2 = 20,932.9</a:t>
            </a:r>
            <a:endParaRPr i="1"/>
          </a:p>
        </p:txBody>
      </p:sp>
      <p:pic>
        <p:nvPicPr>
          <p:cNvPr id="225" name="Google Shape;225;p34" descr="algorithm-permuta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460" y="1940345"/>
            <a:ext cx="3803900" cy="253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Uniform?</a:t>
            </a:r>
            <a:endParaRPr/>
          </a:p>
        </p:txBody>
      </p:sp>
      <p:sp>
        <p:nvSpPr>
          <p:cNvPr id="231" name="Google Shape;231;p3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first algorithm picks a random choice for the first position, then leaves it alone and recurs. It generates random permutations.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The second algorithm gives subsequent elements a better chance to end up first. The distribution is not uniform.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FF"/>
                </a:solidFill>
              </a:rPr>
              <a:t>Moral: Random generation can be very subtle.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from Distributions</a:t>
            </a:r>
            <a:endParaRPr/>
          </a:p>
        </p:txBody>
      </p:sp>
      <p:sp>
        <p:nvSpPr>
          <p:cNvPr id="237" name="Google Shape;237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common task is repeatedly drawing random samples from a given probability distribution.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Give me an algorithm to draw uniformly random points from a circle</a:t>
            </a:r>
            <a:r>
              <a:rPr lang="en"/>
              <a:t>:</a:t>
            </a:r>
            <a:endParaRPr/>
          </a:p>
        </p:txBody>
      </p:sp>
      <p:pic>
        <p:nvPicPr>
          <p:cNvPr id="238" name="Google Shape;238;p36" descr="circlesamples-goo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9452" y="2652337"/>
            <a:ext cx="1822175" cy="182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6" descr="circlesamples-ba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6250" y="2571750"/>
            <a:ext cx="1822175" cy="18221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6"/>
          <p:cNvSpPr txBox="1"/>
          <p:nvPr/>
        </p:nvSpPr>
        <p:spPr>
          <a:xfrm>
            <a:off x="457200" y="3270689"/>
            <a:ext cx="3297900" cy="11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The problem is more subtle than it looks.</a:t>
            </a:r>
            <a:endParaRPr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Drawing Points from a Circle</a:t>
            </a:r>
            <a:endParaRPr/>
          </a:p>
        </p:txBody>
      </p:sp>
      <p:sp>
        <p:nvSpPr>
          <p:cNvPr id="246" name="Google Shape;246;p3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6868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point in a circle is described by a radius </a:t>
            </a:r>
            <a:r>
              <a:rPr lang="en" i="1"/>
              <a:t>r</a:t>
            </a:r>
            <a:r>
              <a:rPr lang="en"/>
              <a:t> and angle </a:t>
            </a:r>
            <a:r>
              <a:rPr lang="en" i="1"/>
              <a:t>a</a:t>
            </a:r>
            <a:r>
              <a:rPr lang="en"/>
              <a:t>, but drawing them uniformly at random picks too many points near the center.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The inner half circle is smaller than the outer half!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Independently sampling </a:t>
            </a:r>
            <a:r>
              <a:rPr lang="en" i="1"/>
              <a:t>x</a:t>
            </a:r>
            <a:r>
              <a:rPr lang="en"/>
              <a:t> and </a:t>
            </a:r>
            <a:r>
              <a:rPr lang="en" i="1"/>
              <a:t>y</a:t>
            </a:r>
            <a:r>
              <a:rPr lang="en"/>
              <a:t> give points uniform in the box, so discarding those outside the circle leaves a uniform distribution.</a:t>
            </a:r>
            <a:endParaRPr/>
          </a:p>
        </p:txBody>
      </p:sp>
      <p:pic>
        <p:nvPicPr>
          <p:cNvPr id="247" name="Google Shape;247;p37" descr="Estimating Pi using the Monte Carlo Method - 101 Computi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1675" y="0"/>
            <a:ext cx="1162325" cy="12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in One Dimension</a:t>
            </a:r>
            <a:endParaRPr/>
          </a:p>
        </p:txBody>
      </p:sp>
      <p:sp>
        <p:nvSpPr>
          <p:cNvPr id="253" name="Google Shape;253;p3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sample from any probability distribution, convert it to its cumulative distribution (cdf).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Selecting a probability </a:t>
            </a:r>
            <a:r>
              <a:rPr lang="en" i="1"/>
              <a:t>p</a:t>
            </a:r>
            <a:r>
              <a:rPr lang="en"/>
              <a:t> in </a:t>
            </a:r>
            <a:r>
              <a:rPr lang="en" i="1"/>
              <a:t>[0,1]</a:t>
            </a:r>
            <a:r>
              <a:rPr lang="en"/>
              <a:t> now maps to a value in the cdf:</a:t>
            </a:r>
            <a:endParaRPr/>
          </a:p>
        </p:txBody>
      </p:sp>
      <p:pic>
        <p:nvPicPr>
          <p:cNvPr id="254" name="Google Shape;254;p38" descr="pdf-cdf-goo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035" y="2123530"/>
            <a:ext cx="5762126" cy="19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AEBD-8ACA-1940-9581-140D6070B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Resources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DFCAC-1319-6DC5-6C70-195B01321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898" indent="0">
              <a:buNone/>
            </a:pPr>
            <a:endParaRPr lang="en-CA" dirty="0"/>
          </a:p>
          <a:p>
            <a:pPr marL="88898" indent="0">
              <a:buNone/>
            </a:pPr>
            <a:r>
              <a:rPr lang="en-CA" dirty="0"/>
              <a:t>I would like to thank </a:t>
            </a:r>
            <a:r>
              <a:rPr lang="en-CA" b="1" dirty="0"/>
              <a:t>Dr. Steven S. </a:t>
            </a:r>
            <a:r>
              <a:rPr lang="en-CA" b="1" dirty="0" err="1"/>
              <a:t>Skiena</a:t>
            </a:r>
            <a:r>
              <a:rPr lang="en-CA" dirty="0"/>
              <a:t>, </a:t>
            </a:r>
            <a:r>
              <a:rPr lang="en-CA" b="1" dirty="0"/>
              <a:t>Dr. Christian Kästner</a:t>
            </a:r>
            <a:r>
              <a:rPr lang="en-CA" dirty="0"/>
              <a:t>, and </a:t>
            </a:r>
            <a:r>
              <a:rPr lang="en-CA" b="1" dirty="0"/>
              <a:t>Chip Huyen</a:t>
            </a:r>
            <a:r>
              <a:rPr lang="en-CA" dirty="0"/>
              <a:t> for the valuable resources they have provided through their coursework in machine learning and data science. Their materials have been instrumental in shaping my teaching in these areas.</a:t>
            </a:r>
          </a:p>
          <a:p>
            <a:pPr lvl="0"/>
            <a:r>
              <a:rPr lang="en-CA" dirty="0"/>
              <a:t>The Data Science Design Manual, Steven S. </a:t>
            </a:r>
            <a:r>
              <a:rPr lang="en-CA" dirty="0" err="1"/>
              <a:t>Skiena</a:t>
            </a:r>
            <a:endParaRPr lang="en-CA" dirty="0"/>
          </a:p>
          <a:p>
            <a:pPr lvl="0"/>
            <a:r>
              <a:rPr lang="en-CA" dirty="0"/>
              <a:t>Learning From Data, by Yaser S. Abu-Mostafa, Malik </a:t>
            </a:r>
            <a:r>
              <a:rPr lang="en-CA" dirty="0" err="1"/>
              <a:t>Magdon</a:t>
            </a:r>
            <a:r>
              <a:rPr lang="en-CA" dirty="0"/>
              <a:t>-Ismail, Hsuan-Tien Lin</a:t>
            </a:r>
          </a:p>
          <a:p>
            <a:pPr lvl="0"/>
            <a:r>
              <a:rPr lang="en-CA" dirty="0"/>
              <a:t>Machine Learning in Production: From Models to Products by Christian Kästner</a:t>
            </a:r>
          </a:p>
          <a:p>
            <a:pPr lvl="0"/>
            <a:r>
              <a:rPr lang="en-CA" dirty="0"/>
              <a:t>Designing Machine Learning Systems, Chip Huyen</a:t>
            </a:r>
          </a:p>
          <a:p>
            <a:pPr marL="88898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616015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900</TotalTime>
  <Words>2934</Words>
  <Application>Microsoft Office PowerPoint</Application>
  <PresentationFormat>On-screen Show (16:9)</PresentationFormat>
  <Paragraphs>290</Paragraphs>
  <Slides>37</Slides>
  <Notes>35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Roboto</vt:lpstr>
      <vt:lpstr>Calibri</vt:lpstr>
      <vt:lpstr>Calibri Light</vt:lpstr>
      <vt:lpstr>Retrospect</vt:lpstr>
      <vt:lpstr>Statistical Significance</vt:lpstr>
      <vt:lpstr>Study Time vs. Exam Grades</vt:lpstr>
      <vt:lpstr>Simpson’s Paradox</vt:lpstr>
      <vt:lpstr>Talking to Statisticians</vt:lpstr>
      <vt:lpstr>When is an Observation Meaningful?</vt:lpstr>
      <vt:lpstr>Medical Statistics</vt:lpstr>
      <vt:lpstr>Why We Need Hypothesis Testing</vt:lpstr>
      <vt:lpstr>Null and Alternative Hypotheses</vt:lpstr>
      <vt:lpstr>The p-Value: Measuring Significance</vt:lpstr>
      <vt:lpstr>Comparing Population Means</vt:lpstr>
      <vt:lpstr>Differences in Distributions</vt:lpstr>
      <vt:lpstr>The T-Test</vt:lpstr>
      <vt:lpstr>Example </vt:lpstr>
      <vt:lpstr>Compute the Test Statistic (Welch’s t)</vt:lpstr>
      <vt:lpstr>Look up the t-critical value</vt:lpstr>
      <vt:lpstr>The Kolmogorov-Smirnov Test</vt:lpstr>
      <vt:lpstr>Normality Testing</vt:lpstr>
      <vt:lpstr>        The Bonferroni Correction</vt:lpstr>
      <vt:lpstr>The Significance of Significance</vt:lpstr>
      <vt:lpstr>Measures of Effect Size</vt:lpstr>
      <vt:lpstr>Why Significance Tests Can Work</vt:lpstr>
      <vt:lpstr>Do Categories Really Matter?</vt:lpstr>
      <vt:lpstr>The Chi Square Test</vt:lpstr>
      <vt:lpstr>Issues with Chi Square Test</vt:lpstr>
      <vt:lpstr>Bootstrapping P-values</vt:lpstr>
      <vt:lpstr>Permutation Tests</vt:lpstr>
      <vt:lpstr>Permutation Test (Gender Relevant?)</vt:lpstr>
      <vt:lpstr>Significance of a Permutation Test</vt:lpstr>
      <vt:lpstr>Performing Permutation Tests</vt:lpstr>
      <vt:lpstr>Permutation Test Caveat!</vt:lpstr>
      <vt:lpstr>Constructing Random Permutations</vt:lpstr>
      <vt:lpstr>Yes, there is a difference</vt:lpstr>
      <vt:lpstr>Why is it Uniform?</vt:lpstr>
      <vt:lpstr>Sampling from Distributions</vt:lpstr>
      <vt:lpstr>Drawing Points from a Circle</vt:lpstr>
      <vt:lpstr>Sampling in One Dimension</vt:lpstr>
      <vt:lpstr>Resources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Fatemeh Riahi</cp:lastModifiedBy>
  <cp:revision>1</cp:revision>
  <dcterms:modified xsi:type="dcterms:W3CDTF">2026-10-20T16:09:03Z</dcterms:modified>
</cp:coreProperties>
</file>